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docMetadata/LabelInfo.xml" ContentType="application/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6.xml" ContentType="application/vnd.openxmlformats-officedocument.theme+xml"/>
  <Override PartName="/ppt/theme/theme15.xml" ContentType="application/vnd.openxmlformats-officedocument.theme+xml"/>
  <Override PartName="/ppt/theme/theme5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9.png" ContentType="image/png"/>
  <Override PartName="/ppt/media/image13.png" ContentType="image/png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microsoft.com/office/2020/02/relationships/classificationlabels" Target="docMetadata/LabelInfo.xml"/><Relationship Id="rId8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</p:sldMasterIdLst>
  <p:notesMasterIdLst>
    <p:notesMasterId r:id="rId18"/>
  </p:notes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  <p:sldId id="270" r:id="rId33"/>
    <p:sldId id="271" r:id="rId3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notesMaster" Target="notesMasters/notesMaster1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3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dt" idx="3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PlaceHolder 5"/>
          <p:cNvSpPr>
            <a:spLocks noGrp="1"/>
          </p:cNvSpPr>
          <p:nvPr>
            <p:ph type="ftr" idx="3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PlaceHolder 6"/>
          <p:cNvSpPr>
            <a:spLocks noGrp="1"/>
          </p:cNvSpPr>
          <p:nvPr>
            <p:ph type="sldNum" idx="3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BD04A16-9D95-4210-96B0-DC57882CF0E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38DD3D6-68E6-4C47-845B-18430081907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91084A9-E769-46CF-83D6-06971698658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43F5894-2875-4A64-8FE8-10032403CBA5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C09417A-1957-4EAA-BBD3-2C7DC270692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A0C5FBA-E6FA-45F0-9FE7-760054B30DF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912B153-2602-48F1-ACAB-B42602B9CE7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267640" y="1408320"/>
            <a:ext cx="64000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0CFC2EE-2D07-4E98-868D-6936DE1D46D8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EE0F0A43-CF8D-48F5-A9A1-062D25C9FFD2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6F56CA-0100-4C12-B28D-335586FA189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B6F39F9-2824-451E-91BD-673A237F8D0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8F438C1-88E6-4121-A8DC-D860C66BB3B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CBD28DFB-9C74-4C98-A588-95DBBDD75CE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2267640" y="1408320"/>
            <a:ext cx="64000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30222D1A-E493-4816-B6B6-D02E32A4A8ED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two column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70402FC9-8920-4E8E-B44E-F0026F4D10A3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two column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A5A9198E-E2A7-412C-937A-1EEDB31EE991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 dark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8C5027B8-35DD-4662-9CFC-06D9B5D7EC81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hree content on th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87A6E6DA-6584-408F-991E-5CFC5F4B44B3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ntent on th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EE765715-B39C-47E2-85E8-07821C006BC9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ntent on the righ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4861B805-1245-4C1E-A758-14BCC4490A2F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6"/>
          <p:cNvGrpSpPr/>
          <p:nvPr/>
        </p:nvGrpSpPr>
        <p:grpSpPr>
          <a:xfrm>
            <a:off x="3979440" y="5801400"/>
            <a:ext cx="8222040" cy="360"/>
            <a:chOff x="3979440" y="5801400"/>
            <a:chExt cx="8222040" cy="360"/>
          </a:xfrm>
        </p:grpSpPr>
        <p:cxnSp>
          <p:nvCxnSpPr>
            <p:cNvPr id="1" name="Straight Connector 7"/>
            <p:cNvCxnSpPr/>
            <p:nvPr/>
          </p:nvCxnSpPr>
          <p:spPr>
            <a:xfrm>
              <a:off x="3979440" y="5801400"/>
              <a:ext cx="6054840" cy="720"/>
            </a:xfrm>
            <a:prstGeom prst="straightConnector1">
              <a:avLst/>
            </a:prstGeom>
            <a:ln w="57150">
              <a:solidFill>
                <a:srgbClr val="ffffff"/>
              </a:solidFill>
              <a:round/>
            </a:ln>
          </p:spPr>
        </p:cxnSp>
        <p:cxnSp>
          <p:nvCxnSpPr>
            <p:cNvPr id="2" name="Straight Connector 8"/>
            <p:cNvCxnSpPr/>
            <p:nvPr/>
          </p:nvCxnSpPr>
          <p:spPr>
            <a:xfrm>
              <a:off x="10029240" y="5801400"/>
              <a:ext cx="2172600" cy="720"/>
            </a:xfrm>
            <a:prstGeom prst="straightConnector1">
              <a:avLst/>
            </a:prstGeom>
            <a:ln w="57150">
              <a:solidFill>
                <a:srgbClr val="be937e"/>
              </a:solidFill>
              <a:round/>
            </a:ln>
          </p:spPr>
        </p:cxnSp>
      </p:grp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2267640" y="1408320"/>
            <a:ext cx="64000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3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8"/>
          <p:cNvGrpSpPr/>
          <p:nvPr/>
        </p:nvGrpSpPr>
        <p:grpSpPr>
          <a:xfrm>
            <a:off x="2400120" y="2535840"/>
            <a:ext cx="9801360" cy="1080"/>
            <a:chOff x="2400120" y="2535840"/>
            <a:chExt cx="9801360" cy="1080"/>
          </a:xfrm>
        </p:grpSpPr>
        <p:cxnSp>
          <p:nvCxnSpPr>
            <p:cNvPr id="8" name="Straight Connector 9"/>
            <p:cNvCxnSpPr/>
            <p:nvPr/>
          </p:nvCxnSpPr>
          <p:spPr>
            <a:xfrm>
              <a:off x="2400120" y="2535840"/>
              <a:ext cx="7392240" cy="720"/>
            </a:xfrm>
            <a:prstGeom prst="straightConnector1">
              <a:avLst/>
            </a:prstGeom>
            <a:ln w="57150">
              <a:solidFill>
                <a:srgbClr val="e7e6e6"/>
              </a:solidFill>
              <a:round/>
            </a:ln>
          </p:spPr>
        </p:cxnSp>
        <p:cxnSp>
          <p:nvCxnSpPr>
            <p:cNvPr id="9" name="Straight Connector 10"/>
            <p:cNvCxnSpPr/>
            <p:nvPr/>
          </p:nvCxnSpPr>
          <p:spPr>
            <a:xfrm>
              <a:off x="9789840" y="2536560"/>
              <a:ext cx="2412000" cy="720"/>
            </a:xfrm>
            <a:prstGeom prst="straightConnector1">
              <a:avLst/>
            </a:prstGeom>
            <a:ln w="57150">
              <a:solidFill>
                <a:srgbClr val="3b4546"/>
              </a:solidFill>
              <a:round/>
            </a:ln>
          </p:spPr>
        </p:cxnSp>
      </p:grpSp>
      <p:sp>
        <p:nvSpPr>
          <p:cNvPr id="10" name="PlaceHolder 1"/>
          <p:cNvSpPr>
            <a:spLocks noGrp="1"/>
          </p:cNvSpPr>
          <p:nvPr>
            <p:ph type="ftr" idx="1"/>
          </p:nvPr>
        </p:nvSpPr>
        <p:spPr>
          <a:xfrm>
            <a:off x="411480" y="301680"/>
            <a:ext cx="1828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Arial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2"/>
          </p:nvPr>
        </p:nvSpPr>
        <p:spPr>
          <a:xfrm>
            <a:off x="10122480" y="301680"/>
            <a:ext cx="16725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D184B98-3B5E-43D9-A3D2-C144AF46D6EB}" type="slidenum">
              <a:rPr b="0" lang="en-US" sz="1200" spc="-1" strike="noStrike">
                <a:solidFill>
                  <a:schemeClr val="dk2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3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5"/>
          <p:cNvGrpSpPr/>
          <p:nvPr/>
        </p:nvGrpSpPr>
        <p:grpSpPr>
          <a:xfrm>
            <a:off x="716760" y="2526840"/>
            <a:ext cx="10758600" cy="2160"/>
            <a:chOff x="716760" y="2526840"/>
            <a:chExt cx="10758600" cy="2160"/>
          </a:xfrm>
        </p:grpSpPr>
        <p:cxnSp>
          <p:nvCxnSpPr>
            <p:cNvPr id="15" name="Straight Connector 16"/>
            <p:cNvCxnSpPr/>
            <p:nvPr/>
          </p:nvCxnSpPr>
          <p:spPr>
            <a:xfrm>
              <a:off x="716760" y="2526840"/>
              <a:ext cx="6384960" cy="720"/>
            </a:xfrm>
            <a:prstGeom prst="straightConnector1">
              <a:avLst/>
            </a:prstGeom>
            <a:ln w="57150">
              <a:solidFill>
                <a:srgbClr val="ede9e6"/>
              </a:solidFill>
              <a:round/>
            </a:ln>
          </p:spPr>
        </p:cxnSp>
        <p:cxnSp>
          <p:nvCxnSpPr>
            <p:cNvPr id="16" name="Straight Connector 17"/>
            <p:cNvCxnSpPr/>
            <p:nvPr/>
          </p:nvCxnSpPr>
          <p:spPr>
            <a:xfrm>
              <a:off x="7101000" y="2528640"/>
              <a:ext cx="4374720" cy="720"/>
            </a:xfrm>
            <a:prstGeom prst="straightConnector1">
              <a:avLst/>
            </a:prstGeom>
            <a:ln w="57150">
              <a:solidFill>
                <a:srgbClr val="3b4546"/>
              </a:solidFill>
              <a:round/>
            </a:ln>
          </p:spPr>
        </p:cxnSp>
      </p:grpSp>
      <p:sp>
        <p:nvSpPr>
          <p:cNvPr id="17" name="PlaceHolder 1"/>
          <p:cNvSpPr>
            <a:spLocks noGrp="1"/>
          </p:cNvSpPr>
          <p:nvPr>
            <p:ph type="ftr" idx="3"/>
          </p:nvPr>
        </p:nvSpPr>
        <p:spPr>
          <a:xfrm>
            <a:off x="411480" y="301680"/>
            <a:ext cx="1828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Arial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sldNum" idx="4"/>
          </p:nvPr>
        </p:nvSpPr>
        <p:spPr>
          <a:xfrm>
            <a:off x="10122480" y="301680"/>
            <a:ext cx="16725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8709C74-795F-4FE9-BE4D-C107CB978C00}" type="slidenum">
              <a:rPr b="0" lang="en-US" sz="1200" spc="-1" strike="noStrike">
                <a:solidFill>
                  <a:schemeClr val="dk2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5"/>
          <p:cNvSpPr/>
          <p:nvPr/>
        </p:nvSpPr>
        <p:spPr>
          <a:xfrm>
            <a:off x="0" y="0"/>
            <a:ext cx="10019520" cy="68572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grpSp>
        <p:nvGrpSpPr>
          <p:cNvPr id="20" name="Group 6"/>
          <p:cNvGrpSpPr/>
          <p:nvPr/>
        </p:nvGrpSpPr>
        <p:grpSpPr>
          <a:xfrm>
            <a:off x="3979440" y="5799240"/>
            <a:ext cx="8212680" cy="360"/>
            <a:chOff x="3979440" y="5799240"/>
            <a:chExt cx="8212680" cy="360"/>
          </a:xfrm>
        </p:grpSpPr>
        <p:cxnSp>
          <p:nvCxnSpPr>
            <p:cNvPr id="21" name="Straight Connector 7"/>
            <p:cNvCxnSpPr/>
            <p:nvPr/>
          </p:nvCxnSpPr>
          <p:spPr>
            <a:xfrm>
              <a:off x="3979440" y="5799240"/>
              <a:ext cx="6054840" cy="720"/>
            </a:xfrm>
            <a:prstGeom prst="straightConnector1">
              <a:avLst/>
            </a:prstGeom>
            <a:ln w="57150">
              <a:solidFill>
                <a:srgbClr val="ffffff"/>
              </a:solidFill>
              <a:round/>
            </a:ln>
          </p:spPr>
        </p:cxnSp>
        <p:cxnSp>
          <p:nvCxnSpPr>
            <p:cNvPr id="22" name="Straight Connector 8"/>
            <p:cNvCxnSpPr/>
            <p:nvPr/>
          </p:nvCxnSpPr>
          <p:spPr>
            <a:xfrm>
              <a:off x="10020240" y="5799240"/>
              <a:ext cx="2172240" cy="720"/>
            </a:xfrm>
            <a:prstGeom prst="straightConnector1">
              <a:avLst/>
            </a:prstGeom>
            <a:ln w="57150">
              <a:solidFill>
                <a:srgbClr val="3b4546"/>
              </a:solidFill>
              <a:round/>
            </a:ln>
          </p:spPr>
        </p:cxn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ftr" idx="5"/>
          </p:nvPr>
        </p:nvSpPr>
        <p:spPr>
          <a:xfrm>
            <a:off x="411480" y="301680"/>
            <a:ext cx="1828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Arial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ldNum" idx="6"/>
          </p:nvPr>
        </p:nvSpPr>
        <p:spPr>
          <a:xfrm>
            <a:off x="10122480" y="301680"/>
            <a:ext cx="16725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A082167-0DC4-4CCA-A095-AD62DFAA107E}" type="slidenum">
              <a:rPr b="0" lang="en-US" sz="1200" spc="-1" strike="noStrike">
                <a:solidFill>
                  <a:schemeClr val="dk2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ftr" idx="8"/>
          </p:nvPr>
        </p:nvSpPr>
        <p:spPr>
          <a:xfrm>
            <a:off x="411480" y="301680"/>
            <a:ext cx="1828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Arial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9"/>
          </p:nvPr>
        </p:nvSpPr>
        <p:spPr>
          <a:xfrm>
            <a:off x="10122480" y="301680"/>
            <a:ext cx="16725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50AF1D5-60D6-4F29-8604-E3EAB52EEFB0}" type="slidenum">
              <a:rPr b="0" lang="en-US" sz="1200" spc="-1" strike="noStrike">
                <a:solidFill>
                  <a:schemeClr val="dk2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ftr" idx="11"/>
          </p:nvPr>
        </p:nvSpPr>
        <p:spPr>
          <a:xfrm>
            <a:off x="411480" y="301680"/>
            <a:ext cx="1828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Arial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ldNum" idx="12"/>
          </p:nvPr>
        </p:nvSpPr>
        <p:spPr>
          <a:xfrm>
            <a:off x="10122480" y="301680"/>
            <a:ext cx="16725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653041E-788E-4428-82E2-FC81F48A4ADA}" type="slidenum">
              <a:rPr b="0" lang="en-US" sz="1200" spc="-1" strike="noStrike">
                <a:solidFill>
                  <a:schemeClr val="dk2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4"/>
          </p:nvPr>
        </p:nvSpPr>
        <p:spPr>
          <a:xfrm>
            <a:off x="411480" y="301680"/>
            <a:ext cx="1828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Arial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15"/>
          </p:nvPr>
        </p:nvSpPr>
        <p:spPr>
          <a:xfrm>
            <a:off x="10122480" y="301680"/>
            <a:ext cx="16725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AE6DE21-1991-4599-B101-191AAA087558}" type="slidenum">
              <a:rPr b="0" lang="en-US" sz="1200" spc="-1" strike="noStrike">
                <a:solidFill>
                  <a:schemeClr val="dk2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3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6"/>
          <p:cNvGrpSpPr/>
          <p:nvPr/>
        </p:nvGrpSpPr>
        <p:grpSpPr>
          <a:xfrm>
            <a:off x="2400120" y="2535840"/>
            <a:ext cx="9801360" cy="1080"/>
            <a:chOff x="2400120" y="2535840"/>
            <a:chExt cx="9801360" cy="1080"/>
          </a:xfrm>
        </p:grpSpPr>
        <p:cxnSp>
          <p:nvCxnSpPr>
            <p:cNvPr id="36" name="Straight Connector 7"/>
            <p:cNvCxnSpPr/>
            <p:nvPr/>
          </p:nvCxnSpPr>
          <p:spPr>
            <a:xfrm>
              <a:off x="2400120" y="2535840"/>
              <a:ext cx="7392240" cy="720"/>
            </a:xfrm>
            <a:prstGeom prst="straightConnector1">
              <a:avLst/>
            </a:prstGeom>
            <a:ln w="57150">
              <a:solidFill>
                <a:srgbClr val="e7e6e6"/>
              </a:solidFill>
              <a:round/>
            </a:ln>
          </p:spPr>
        </p:cxnSp>
        <p:cxnSp>
          <p:nvCxnSpPr>
            <p:cNvPr id="37" name="Straight Connector 8"/>
            <p:cNvCxnSpPr/>
            <p:nvPr/>
          </p:nvCxnSpPr>
          <p:spPr>
            <a:xfrm>
              <a:off x="9789840" y="2536560"/>
              <a:ext cx="2412000" cy="720"/>
            </a:xfrm>
            <a:prstGeom prst="straightConnector1">
              <a:avLst/>
            </a:prstGeom>
            <a:ln w="57150">
              <a:solidFill>
                <a:srgbClr val="3b4546"/>
              </a:solidFill>
              <a:round/>
            </a:ln>
          </p:spPr>
        </p:cxnSp>
      </p:grp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2267640" y="1408320"/>
            <a:ext cx="64000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17"/>
          </p:nvPr>
        </p:nvSpPr>
        <p:spPr>
          <a:xfrm>
            <a:off x="411480" y="301680"/>
            <a:ext cx="1828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Arial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18"/>
          </p:nvPr>
        </p:nvSpPr>
        <p:spPr>
          <a:xfrm>
            <a:off x="10122480" y="301680"/>
            <a:ext cx="16725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22C37DB-70FE-4FA9-BE59-0D2E6DF26091}" type="slidenum">
              <a:rPr b="0" lang="en-US" sz="1200" spc="-1" strike="noStrike">
                <a:solidFill>
                  <a:schemeClr val="dk2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6"/>
          <p:cNvGrpSpPr/>
          <p:nvPr/>
        </p:nvGrpSpPr>
        <p:grpSpPr>
          <a:xfrm>
            <a:off x="3979440" y="5801400"/>
            <a:ext cx="8222040" cy="360"/>
            <a:chOff x="3979440" y="5801400"/>
            <a:chExt cx="8222040" cy="360"/>
          </a:xfrm>
        </p:grpSpPr>
        <p:cxnSp>
          <p:nvCxnSpPr>
            <p:cNvPr id="45" name="Straight Connector 7"/>
            <p:cNvCxnSpPr/>
            <p:nvPr/>
          </p:nvCxnSpPr>
          <p:spPr>
            <a:xfrm>
              <a:off x="3979440" y="5801400"/>
              <a:ext cx="6054840" cy="720"/>
            </a:xfrm>
            <a:prstGeom prst="straightConnector1">
              <a:avLst/>
            </a:prstGeom>
            <a:ln w="57150">
              <a:solidFill>
                <a:srgbClr val="ffffff"/>
              </a:solidFill>
              <a:round/>
            </a:ln>
          </p:spPr>
        </p:cxnSp>
        <p:cxnSp>
          <p:nvCxnSpPr>
            <p:cNvPr id="46" name="Straight Connector 8"/>
            <p:cNvCxnSpPr/>
            <p:nvPr/>
          </p:nvCxnSpPr>
          <p:spPr>
            <a:xfrm>
              <a:off x="10029240" y="5801400"/>
              <a:ext cx="2172600" cy="720"/>
            </a:xfrm>
            <a:prstGeom prst="straightConnector1">
              <a:avLst/>
            </a:prstGeom>
            <a:ln w="57150">
              <a:solidFill>
                <a:srgbClr val="be937e"/>
              </a:solidFill>
              <a:round/>
            </a:ln>
          </p:spPr>
        </p:cxn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5"/>
          <p:cNvSpPr/>
          <p:nvPr/>
        </p:nvSpPr>
        <p:spPr>
          <a:xfrm>
            <a:off x="0" y="722520"/>
            <a:ext cx="12191400" cy="541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cxnSp>
        <p:nvCxnSpPr>
          <p:cNvPr id="48" name="Straight Connector 6"/>
          <p:cNvCxnSpPr/>
          <p:nvPr/>
        </p:nvCxnSpPr>
        <p:spPr>
          <a:xfrm>
            <a:off x="4267080" y="2523600"/>
            <a:ext cx="7925400" cy="1440"/>
          </a:xfrm>
          <a:prstGeom prst="straightConnector1">
            <a:avLst/>
          </a:prstGeom>
          <a:ln w="57150">
            <a:solidFill>
              <a:srgbClr val="be937e"/>
            </a:solidFill>
            <a:round/>
          </a:ln>
        </p:spPr>
      </p:cxnSp>
      <p:cxnSp>
        <p:nvCxnSpPr>
          <p:cNvPr id="49" name="Straight Connector 7"/>
          <p:cNvCxnSpPr/>
          <p:nvPr/>
        </p:nvCxnSpPr>
        <p:spPr>
          <a:xfrm>
            <a:off x="723240" y="2523600"/>
            <a:ext cx="3544560" cy="720"/>
          </a:xfrm>
          <a:prstGeom prst="straightConnector1">
            <a:avLst/>
          </a:prstGeom>
          <a:ln w="57150">
            <a:solidFill>
              <a:srgbClr val="ede9e6"/>
            </a:solidFill>
            <a:round/>
          </a:ln>
        </p:spPr>
      </p:cxnSp>
      <p:sp>
        <p:nvSpPr>
          <p:cNvPr id="50" name="PlaceHolder 1"/>
          <p:cNvSpPr>
            <a:spLocks noGrp="1"/>
          </p:cNvSpPr>
          <p:nvPr>
            <p:ph type="ftr" idx="19"/>
          </p:nvPr>
        </p:nvSpPr>
        <p:spPr>
          <a:xfrm>
            <a:off x="411480" y="301680"/>
            <a:ext cx="1828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Arial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ldNum" idx="20"/>
          </p:nvPr>
        </p:nvSpPr>
        <p:spPr>
          <a:xfrm>
            <a:off x="10122480" y="301680"/>
            <a:ext cx="16725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972FBF9-0496-43E7-801E-8FDA03079A23}" type="slidenum">
              <a:rPr b="0" lang="en-US" sz="1200" spc="-1" strike="noStrike">
                <a:solidFill>
                  <a:schemeClr val="dk2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"/>
          <p:cNvSpPr/>
          <p:nvPr/>
        </p:nvSpPr>
        <p:spPr>
          <a:xfrm>
            <a:off x="0" y="722520"/>
            <a:ext cx="12191400" cy="5412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grpSp>
        <p:nvGrpSpPr>
          <p:cNvPr id="53" name="Group 12"/>
          <p:cNvGrpSpPr/>
          <p:nvPr/>
        </p:nvGrpSpPr>
        <p:grpSpPr>
          <a:xfrm>
            <a:off x="726840" y="2521440"/>
            <a:ext cx="11481120" cy="360"/>
            <a:chOff x="726840" y="2521440"/>
            <a:chExt cx="11481120" cy="360"/>
          </a:xfrm>
        </p:grpSpPr>
        <p:cxnSp>
          <p:nvCxnSpPr>
            <p:cNvPr id="54" name="Straight Connector 15"/>
            <p:cNvCxnSpPr/>
            <p:nvPr/>
          </p:nvCxnSpPr>
          <p:spPr>
            <a:xfrm flipH="1">
              <a:off x="7452360" y="2521440"/>
              <a:ext cx="4755960" cy="720"/>
            </a:xfrm>
            <a:prstGeom prst="straightConnector1">
              <a:avLst/>
            </a:prstGeom>
            <a:ln w="57150">
              <a:solidFill>
                <a:srgbClr val="d0cdc5"/>
              </a:solidFill>
              <a:round/>
            </a:ln>
          </p:spPr>
        </p:cxnSp>
        <p:cxnSp>
          <p:nvCxnSpPr>
            <p:cNvPr id="55" name="Straight Connector 16"/>
            <p:cNvCxnSpPr/>
            <p:nvPr/>
          </p:nvCxnSpPr>
          <p:spPr>
            <a:xfrm flipH="1">
              <a:off x="726840" y="2521440"/>
              <a:ext cx="6742800" cy="720"/>
            </a:xfrm>
            <a:prstGeom prst="straightConnector1">
              <a:avLst/>
            </a:prstGeom>
            <a:ln w="57150">
              <a:solidFill>
                <a:srgbClr val="be937e"/>
              </a:solidFill>
              <a:round/>
            </a:ln>
          </p:spPr>
        </p:cxnSp>
      </p:grpSp>
      <p:sp>
        <p:nvSpPr>
          <p:cNvPr id="56" name="PlaceHolder 1"/>
          <p:cNvSpPr>
            <a:spLocks noGrp="1"/>
          </p:cNvSpPr>
          <p:nvPr>
            <p:ph type="ftr" idx="21"/>
          </p:nvPr>
        </p:nvSpPr>
        <p:spPr>
          <a:xfrm>
            <a:off x="411480" y="301680"/>
            <a:ext cx="1828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Arial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ldNum" idx="22"/>
          </p:nvPr>
        </p:nvSpPr>
        <p:spPr>
          <a:xfrm>
            <a:off x="10122480" y="301680"/>
            <a:ext cx="16725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72EF526-AF3C-42D1-B062-C4E8CE417C21}" type="slidenum">
              <a:rPr b="0" lang="en-US" sz="1200" spc="-1" strike="noStrike">
                <a:solidFill>
                  <a:schemeClr val="dk2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17"/>
          <p:cNvSpPr/>
          <p:nvPr/>
        </p:nvSpPr>
        <p:spPr>
          <a:xfrm>
            <a:off x="0" y="0"/>
            <a:ext cx="12191400" cy="3047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grpSp>
        <p:nvGrpSpPr>
          <p:cNvPr id="61" name="Group 18"/>
          <p:cNvGrpSpPr/>
          <p:nvPr/>
        </p:nvGrpSpPr>
        <p:grpSpPr>
          <a:xfrm>
            <a:off x="11678400" y="1028520"/>
            <a:ext cx="360" cy="5829840"/>
            <a:chOff x="11678400" y="1028520"/>
            <a:chExt cx="360" cy="5829840"/>
          </a:xfrm>
        </p:grpSpPr>
        <p:cxnSp>
          <p:nvCxnSpPr>
            <p:cNvPr id="62" name="Straight Connector 19"/>
            <p:cNvCxnSpPr/>
            <p:nvPr/>
          </p:nvCxnSpPr>
          <p:spPr>
            <a:xfrm flipV="1">
              <a:off x="11678400" y="3047760"/>
              <a:ext cx="720" cy="3810960"/>
            </a:xfrm>
            <a:prstGeom prst="straightConnector1">
              <a:avLst/>
            </a:prstGeom>
            <a:ln w="44450">
              <a:solidFill>
                <a:srgbClr val="3b4546"/>
              </a:solidFill>
              <a:round/>
            </a:ln>
          </p:spPr>
        </p:cxnSp>
        <p:cxnSp>
          <p:nvCxnSpPr>
            <p:cNvPr id="63" name="Straight Connector 20"/>
            <p:cNvCxnSpPr/>
            <p:nvPr/>
          </p:nvCxnSpPr>
          <p:spPr>
            <a:xfrm flipV="1">
              <a:off x="11678400" y="1028520"/>
              <a:ext cx="720" cy="2019960"/>
            </a:xfrm>
            <a:prstGeom prst="straightConnector1">
              <a:avLst/>
            </a:prstGeom>
            <a:ln w="44450">
              <a:solidFill>
                <a:srgbClr val="ede9e6"/>
              </a:solidFill>
              <a:round/>
            </a:ln>
          </p:spPr>
        </p:cxnSp>
      </p:grpSp>
      <p:sp>
        <p:nvSpPr>
          <p:cNvPr id="64" name="PlaceHolder 1"/>
          <p:cNvSpPr>
            <a:spLocks noGrp="1"/>
          </p:cNvSpPr>
          <p:nvPr>
            <p:ph type="ftr" idx="23"/>
          </p:nvPr>
        </p:nvSpPr>
        <p:spPr>
          <a:xfrm>
            <a:off x="411480" y="301680"/>
            <a:ext cx="1828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accent5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accent5"/>
                </a:solidFill>
                <a:latin typeface="Arial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sldNum" idx="24"/>
          </p:nvPr>
        </p:nvSpPr>
        <p:spPr>
          <a:xfrm>
            <a:off x="10122480" y="301680"/>
            <a:ext cx="16725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accent5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44D350D-65F5-4169-BBE5-8ACAFC176668}" type="slidenum">
              <a:rPr b="0" lang="en-US" sz="1200" spc="-1" strike="noStrike">
                <a:solidFill>
                  <a:schemeClr val="accent5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17"/>
          <p:cNvSpPr/>
          <p:nvPr/>
        </p:nvSpPr>
        <p:spPr>
          <a:xfrm>
            <a:off x="8115480" y="0"/>
            <a:ext cx="4075920" cy="68572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2"/>
              </a:solidFill>
              <a:latin typeface="Arial"/>
            </a:endParaRPr>
          </a:p>
        </p:txBody>
      </p:sp>
      <p:grpSp>
        <p:nvGrpSpPr>
          <p:cNvPr id="69" name="Group 18"/>
          <p:cNvGrpSpPr/>
          <p:nvPr/>
        </p:nvGrpSpPr>
        <p:grpSpPr>
          <a:xfrm>
            <a:off x="6317640" y="4564800"/>
            <a:ext cx="5858640" cy="720"/>
            <a:chOff x="6317640" y="4564800"/>
            <a:chExt cx="5858640" cy="720"/>
          </a:xfrm>
        </p:grpSpPr>
        <p:cxnSp>
          <p:nvCxnSpPr>
            <p:cNvPr id="70" name="Straight Connector 19"/>
            <p:cNvCxnSpPr/>
            <p:nvPr/>
          </p:nvCxnSpPr>
          <p:spPr>
            <a:xfrm>
              <a:off x="6317640" y="4565160"/>
              <a:ext cx="1798200" cy="720"/>
            </a:xfrm>
            <a:prstGeom prst="straightConnector1">
              <a:avLst/>
            </a:prstGeom>
            <a:ln w="57150">
              <a:solidFill>
                <a:srgbClr val="3b4546"/>
              </a:solidFill>
              <a:round/>
            </a:ln>
          </p:spPr>
        </p:cxnSp>
        <p:cxnSp>
          <p:nvCxnSpPr>
            <p:cNvPr id="71" name="Straight Connector 20"/>
            <p:cNvCxnSpPr/>
            <p:nvPr/>
          </p:nvCxnSpPr>
          <p:spPr>
            <a:xfrm>
              <a:off x="8114760" y="4564800"/>
              <a:ext cx="4061880" cy="720"/>
            </a:xfrm>
            <a:prstGeom prst="straightConnector1">
              <a:avLst/>
            </a:prstGeom>
            <a:ln w="57150">
              <a:solidFill>
                <a:srgbClr val="ede9e6"/>
              </a:solidFill>
              <a:round/>
            </a:ln>
          </p:spPr>
        </p:cxnSp>
      </p:grpSp>
      <p:sp>
        <p:nvSpPr>
          <p:cNvPr id="72" name="PlaceHolder 1"/>
          <p:cNvSpPr>
            <a:spLocks noGrp="1"/>
          </p:cNvSpPr>
          <p:nvPr>
            <p:ph type="ftr" idx="25"/>
          </p:nvPr>
        </p:nvSpPr>
        <p:spPr>
          <a:xfrm>
            <a:off x="411480" y="301680"/>
            <a:ext cx="1828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Arial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ldNum" idx="26"/>
          </p:nvPr>
        </p:nvSpPr>
        <p:spPr>
          <a:xfrm>
            <a:off x="10122480" y="301680"/>
            <a:ext cx="16725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E3B5A79-27B0-455B-A83D-1E7FF59577D2}" type="slidenum">
              <a:rPr b="0" lang="en-US" sz="1200" spc="-1" strike="noStrike">
                <a:solidFill>
                  <a:schemeClr val="dk2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15"/>
          <p:cNvSpPr/>
          <p:nvPr/>
        </p:nvSpPr>
        <p:spPr>
          <a:xfrm>
            <a:off x="-12600" y="720"/>
            <a:ext cx="3060000" cy="68565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grpSp>
        <p:nvGrpSpPr>
          <p:cNvPr id="75" name="Group 16"/>
          <p:cNvGrpSpPr/>
          <p:nvPr/>
        </p:nvGrpSpPr>
        <p:grpSpPr>
          <a:xfrm>
            <a:off x="-11880" y="3044880"/>
            <a:ext cx="4279320" cy="720"/>
            <a:chOff x="-11880" y="3044880"/>
            <a:chExt cx="4279320" cy="720"/>
          </a:xfrm>
        </p:grpSpPr>
        <p:cxnSp>
          <p:nvCxnSpPr>
            <p:cNvPr id="76" name="Straight Connector 23"/>
            <p:cNvCxnSpPr/>
            <p:nvPr/>
          </p:nvCxnSpPr>
          <p:spPr>
            <a:xfrm>
              <a:off x="-11880" y="3044880"/>
              <a:ext cx="3061080" cy="720"/>
            </a:xfrm>
            <a:prstGeom prst="straightConnector1">
              <a:avLst/>
            </a:prstGeom>
            <a:ln w="57150">
              <a:solidFill>
                <a:srgbClr val="ede9e6"/>
              </a:solidFill>
              <a:round/>
            </a:ln>
          </p:spPr>
        </p:cxnSp>
        <p:cxnSp>
          <p:nvCxnSpPr>
            <p:cNvPr id="77" name="Straight Connector 24"/>
            <p:cNvCxnSpPr/>
            <p:nvPr/>
          </p:nvCxnSpPr>
          <p:spPr>
            <a:xfrm flipV="1">
              <a:off x="3050280" y="3044880"/>
              <a:ext cx="1217520" cy="1080"/>
            </a:xfrm>
            <a:prstGeom prst="straightConnector1">
              <a:avLst/>
            </a:prstGeom>
            <a:ln w="57150">
              <a:solidFill>
                <a:srgbClr val="3b4546"/>
              </a:solidFill>
              <a:round/>
            </a:ln>
          </p:spPr>
        </p:cxnSp>
      </p:grpSp>
      <p:sp>
        <p:nvSpPr>
          <p:cNvPr id="78" name="PlaceHolder 1"/>
          <p:cNvSpPr>
            <a:spLocks noGrp="1"/>
          </p:cNvSpPr>
          <p:nvPr>
            <p:ph type="ftr" idx="27"/>
          </p:nvPr>
        </p:nvSpPr>
        <p:spPr>
          <a:xfrm>
            <a:off x="411480" y="301680"/>
            <a:ext cx="1828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Arial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ldNum" idx="28"/>
          </p:nvPr>
        </p:nvSpPr>
        <p:spPr>
          <a:xfrm>
            <a:off x="10122480" y="301680"/>
            <a:ext cx="16725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3D4C4E8-760C-4EFC-B9B7-D2ED2547CF9F}" type="slidenum">
              <a:rPr b="0" lang="en-US" sz="1200" spc="-1" strike="noStrike">
                <a:solidFill>
                  <a:schemeClr val="dk2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15"/>
          <p:cNvSpPr/>
          <p:nvPr/>
        </p:nvSpPr>
        <p:spPr>
          <a:xfrm>
            <a:off x="3962520" y="720"/>
            <a:ext cx="8271000" cy="68565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2"/>
              </a:solidFill>
              <a:latin typeface="Arial"/>
            </a:endParaRPr>
          </a:p>
        </p:txBody>
      </p:sp>
      <p:grpSp>
        <p:nvGrpSpPr>
          <p:cNvPr id="83" name="Group 16"/>
          <p:cNvGrpSpPr/>
          <p:nvPr/>
        </p:nvGrpSpPr>
        <p:grpSpPr>
          <a:xfrm>
            <a:off x="-28080" y="2514600"/>
            <a:ext cx="5666760" cy="360"/>
            <a:chOff x="-28080" y="2514600"/>
            <a:chExt cx="5666760" cy="360"/>
          </a:xfrm>
        </p:grpSpPr>
        <p:cxnSp>
          <p:nvCxnSpPr>
            <p:cNvPr id="84" name="Straight Connector 23"/>
            <p:cNvCxnSpPr/>
            <p:nvPr/>
          </p:nvCxnSpPr>
          <p:spPr>
            <a:xfrm>
              <a:off x="-28080" y="2514600"/>
              <a:ext cx="3991680" cy="720"/>
            </a:xfrm>
            <a:prstGeom prst="straightConnector1">
              <a:avLst/>
            </a:prstGeom>
            <a:ln w="57150">
              <a:solidFill>
                <a:srgbClr val="be937e"/>
              </a:solidFill>
              <a:round/>
            </a:ln>
          </p:spPr>
        </p:cxnSp>
        <p:cxnSp>
          <p:nvCxnSpPr>
            <p:cNvPr id="85" name="Straight Connector 24"/>
            <p:cNvCxnSpPr/>
            <p:nvPr/>
          </p:nvCxnSpPr>
          <p:spPr>
            <a:xfrm>
              <a:off x="3961800" y="2514600"/>
              <a:ext cx="1677240" cy="720"/>
            </a:xfrm>
            <a:prstGeom prst="straightConnector1">
              <a:avLst/>
            </a:prstGeom>
            <a:ln w="57150">
              <a:solidFill>
                <a:srgbClr val="ede9e6"/>
              </a:solidFill>
              <a:round/>
            </a:ln>
          </p:spPr>
        </p:cxnSp>
      </p:grpSp>
      <p:sp>
        <p:nvSpPr>
          <p:cNvPr id="86" name="PlaceHolder 1"/>
          <p:cNvSpPr>
            <a:spLocks noGrp="1"/>
          </p:cNvSpPr>
          <p:nvPr>
            <p:ph type="ftr" idx="29"/>
          </p:nvPr>
        </p:nvSpPr>
        <p:spPr>
          <a:xfrm>
            <a:off x="411480" y="301680"/>
            <a:ext cx="1828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Arial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ldNum" idx="30"/>
          </p:nvPr>
        </p:nvSpPr>
        <p:spPr>
          <a:xfrm>
            <a:off x="10122480" y="301680"/>
            <a:ext cx="16725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lt1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687BF64-6BC4-4A03-9215-47B7AE5AAFE9}" type="slidenum">
              <a:rPr b="0" lang="en-US" sz="1200" spc="-1" strike="noStrike">
                <a:solidFill>
                  <a:schemeClr val="lt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1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1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1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16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16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2377080" y="194760"/>
            <a:ext cx="6994800" cy="334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4800" spc="-1" strike="noStrike" cap="all">
                <a:solidFill>
                  <a:schemeClr val="lt1"/>
                </a:solidFill>
                <a:latin typeface="Times New Roman"/>
              </a:rPr>
              <a:t>Silentvault – a password  based zero  knowledge file  server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7" name="Picture 3" descr=""/>
          <p:cNvPicPr/>
          <p:nvPr/>
        </p:nvPicPr>
        <p:blipFill>
          <a:blip r:embed="rId1"/>
          <a:stretch/>
        </p:blipFill>
        <p:spPr>
          <a:xfrm>
            <a:off x="9591120" y="75240"/>
            <a:ext cx="1978920" cy="2062800"/>
          </a:xfrm>
          <a:prstGeom prst="rect">
            <a:avLst/>
          </a:prstGeom>
          <a:ln w="0">
            <a:noFill/>
          </a:ln>
        </p:spPr>
      </p:pic>
      <p:pic>
        <p:nvPicPr>
          <p:cNvPr id="98" name="Picture 6" descr=""/>
          <p:cNvPicPr/>
          <p:nvPr/>
        </p:nvPicPr>
        <p:blipFill>
          <a:blip r:embed="rId2"/>
          <a:stretch/>
        </p:blipFill>
        <p:spPr>
          <a:xfrm>
            <a:off x="198000" y="75240"/>
            <a:ext cx="2307240" cy="2307240"/>
          </a:xfrm>
          <a:prstGeom prst="rect">
            <a:avLst/>
          </a:prstGeom>
          <a:ln w="0">
            <a:noFill/>
          </a:ln>
        </p:spPr>
      </p:pic>
      <p:sp>
        <p:nvSpPr>
          <p:cNvPr id="99" name="TextBox 7"/>
          <p:cNvSpPr/>
          <p:nvPr/>
        </p:nvSpPr>
        <p:spPr>
          <a:xfrm>
            <a:off x="8185680" y="4073040"/>
            <a:ext cx="3560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Times New Roman"/>
              </a:rPr>
              <a:t>Author: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Times New Roman"/>
              </a:rPr>
              <a:t>Std. Sgt. Codreanu Andrei-Daniel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198000" y="110880"/>
            <a:ext cx="6858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JMJ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>
            <a:lumMod val="9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2295000" y="1463040"/>
            <a:ext cx="7497360" cy="70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-1" strike="noStrike" cap="all">
                <a:solidFill>
                  <a:schemeClr val="dk2"/>
                </a:solidFill>
                <a:latin typeface="Arial"/>
              </a:rPr>
              <a:t>Table of contents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4"/>
          <p:cNvSpPr/>
          <p:nvPr/>
        </p:nvSpPr>
        <p:spPr>
          <a:xfrm>
            <a:off x="4026960" y="3147480"/>
            <a:ext cx="528660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99960" indent="-399960" algn="just" defTabSz="914400">
              <a:lnSpc>
                <a:spcPct val="100000"/>
              </a:lnSpc>
              <a:buClr>
                <a:srgbClr val="000000"/>
              </a:buClr>
              <a:buFont typeface="Arial"/>
              <a:buAutoNum type="romanLcPeriod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Introduction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99960" indent="-399960" algn="just" defTabSz="914400">
              <a:lnSpc>
                <a:spcPct val="100000"/>
              </a:lnSpc>
              <a:buClr>
                <a:srgbClr val="000000"/>
              </a:buClr>
              <a:buFont typeface="Arial"/>
              <a:buAutoNum type="romanLcPeriod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SilentVault’s architecture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99960" indent="-399960" algn="just" defTabSz="914400">
              <a:lnSpc>
                <a:spcPct val="100000"/>
              </a:lnSpc>
              <a:buClr>
                <a:srgbClr val="000000"/>
              </a:buClr>
              <a:buFont typeface="Arial"/>
              <a:buAutoNum type="romanLcPeriod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Comparison to classical authentication methods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99960" indent="-399960" algn="just" defTabSz="914400">
              <a:lnSpc>
                <a:spcPct val="100000"/>
              </a:lnSpc>
              <a:buClr>
                <a:srgbClr val="000000"/>
              </a:buClr>
              <a:buFont typeface="Arial"/>
              <a:buAutoNum type="romanLcPeriod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The math behind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99960" indent="-399960" algn="just" defTabSz="914400">
              <a:lnSpc>
                <a:spcPct val="100000"/>
              </a:lnSpc>
              <a:buClr>
                <a:srgbClr val="000000"/>
              </a:buClr>
              <a:buFont typeface="Arial"/>
              <a:buAutoNum type="romanLcPeriod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Wireshark-captured traffic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ftr" idx="34"/>
          </p:nvPr>
        </p:nvSpPr>
        <p:spPr>
          <a:xfrm>
            <a:off x="411480" y="301680"/>
            <a:ext cx="1828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Arial"/>
              </a:rPr>
              <a:t>SilentVault – A Password Based Zero Knowledge File Server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4" name="Picture 8" descr=""/>
          <p:cNvPicPr/>
          <p:nvPr/>
        </p:nvPicPr>
        <p:blipFill>
          <a:blip r:embed="rId1"/>
          <a:stretch/>
        </p:blipFill>
        <p:spPr>
          <a:xfrm>
            <a:off x="2240280" y="-8640"/>
            <a:ext cx="941760" cy="981720"/>
          </a:xfrm>
          <a:prstGeom prst="rect">
            <a:avLst/>
          </a:prstGeom>
          <a:ln w="0">
            <a:noFill/>
          </a:ln>
        </p:spPr>
      </p:pic>
      <p:pic>
        <p:nvPicPr>
          <p:cNvPr id="105" name="Picture 9" descr=""/>
          <p:cNvPicPr/>
          <p:nvPr/>
        </p:nvPicPr>
        <p:blipFill>
          <a:blip r:embed="rId2"/>
          <a:stretch/>
        </p:blipFill>
        <p:spPr>
          <a:xfrm>
            <a:off x="3111480" y="7200"/>
            <a:ext cx="1137240" cy="113724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D73867C-FCD0-4ADB-8D34-F532DFACDCBF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559440" y="1167840"/>
            <a:ext cx="10514880" cy="57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-1" strike="noStrike" cap="all">
                <a:solidFill>
                  <a:schemeClr val="dk2"/>
                </a:solidFill>
                <a:latin typeface="Arial"/>
              </a:rPr>
              <a:t>1. Introduction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ftr" idx="35"/>
          </p:nvPr>
        </p:nvSpPr>
        <p:spPr>
          <a:xfrm>
            <a:off x="411480" y="301680"/>
            <a:ext cx="1828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Arial"/>
              </a:rPr>
              <a:t>SilentVault – A Password Based Zero Knowledge File Server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8" name="Picture 3" descr=""/>
          <p:cNvPicPr/>
          <p:nvPr/>
        </p:nvPicPr>
        <p:blipFill>
          <a:blip r:embed="rId1"/>
          <a:stretch/>
        </p:blipFill>
        <p:spPr>
          <a:xfrm>
            <a:off x="2240280" y="-8640"/>
            <a:ext cx="941760" cy="981720"/>
          </a:xfrm>
          <a:prstGeom prst="rect">
            <a:avLst/>
          </a:prstGeom>
          <a:ln w="0">
            <a:noFill/>
          </a:ln>
        </p:spPr>
      </p:pic>
      <p:pic>
        <p:nvPicPr>
          <p:cNvPr id="109" name="Picture 6" descr=""/>
          <p:cNvPicPr/>
          <p:nvPr/>
        </p:nvPicPr>
        <p:blipFill>
          <a:blip r:embed="rId2"/>
          <a:stretch/>
        </p:blipFill>
        <p:spPr>
          <a:xfrm>
            <a:off x="3111480" y="7200"/>
            <a:ext cx="1137240" cy="1137240"/>
          </a:xfrm>
          <a:prstGeom prst="rect">
            <a:avLst/>
          </a:prstGeom>
          <a:ln w="0">
            <a:noFill/>
          </a:ln>
        </p:spPr>
      </p:pic>
      <p:sp>
        <p:nvSpPr>
          <p:cNvPr id="110" name="TextBox 9"/>
          <p:cNvSpPr/>
          <p:nvPr/>
        </p:nvSpPr>
        <p:spPr>
          <a:xfrm>
            <a:off x="1653120" y="2681640"/>
            <a:ext cx="9108000" cy="277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</a:rPr>
              <a:t>A file server is a client-server storage system where clients store their data ‘in the cloud’;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</a:rPr>
              <a:t>Clients’ data are considered sensitive information; thus, it needs to be protected from malicious entities;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</a:rPr>
              <a:t>From a Cryptographic POV, “Zero Knowledge” refers to information regarding each client that is available to the server, zero being the preferred value;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</a:rPr>
              <a:t>The server acts only as an ‘untrusted’ worker.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84F8C112-BC60-4D2C-81CC-53CB8AE587DC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3360" y="1463040"/>
            <a:ext cx="10514880" cy="57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-1" strike="noStrike" cap="all">
                <a:solidFill>
                  <a:schemeClr val="accent5"/>
                </a:solidFill>
                <a:latin typeface="Arial"/>
              </a:rPr>
              <a:t>2. Silentvault’s architecture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ftr" idx="36"/>
          </p:nvPr>
        </p:nvSpPr>
        <p:spPr>
          <a:xfrm>
            <a:off x="411480" y="301680"/>
            <a:ext cx="1828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accent5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accent5"/>
                </a:solidFill>
                <a:latin typeface="Arial"/>
              </a:rPr>
              <a:t>SilentVault – A Password Based Zero Knowledge File Server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3399120" y="3679560"/>
            <a:ext cx="4754160" cy="168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83320" indent="-283320" algn="just" defTabSz="914400">
              <a:lnSpc>
                <a:spcPct val="150000"/>
              </a:lnSpc>
              <a:buClr>
                <a:srgbClr val="3b4546"/>
              </a:buClr>
              <a:buFont typeface="Wingdings" charset="2"/>
              <a:buChar char=""/>
            </a:pPr>
            <a:r>
              <a:rPr b="0" lang="en-US" sz="1600" spc="-1" strike="noStrike">
                <a:solidFill>
                  <a:schemeClr val="dk2"/>
                </a:solidFill>
                <a:latin typeface="Times New Roman"/>
              </a:rPr>
              <a:t>Client module – responsible for authentication and file requests (</a:t>
            </a:r>
            <a:r>
              <a:rPr b="0" i="1" lang="en-US" sz="1600" spc="-1" strike="noStrike">
                <a:solidFill>
                  <a:schemeClr val="dk2"/>
                </a:solidFill>
                <a:latin typeface="Times New Roman"/>
              </a:rPr>
              <a:t>i.e. </a:t>
            </a:r>
            <a:r>
              <a:rPr b="0" lang="en-US" sz="1600" spc="-1" strike="noStrike">
                <a:solidFill>
                  <a:schemeClr val="dk2"/>
                </a:solidFill>
                <a:latin typeface="Times New Roman"/>
              </a:rPr>
              <a:t>upload, download, checking and deletion). Is considered a semi-reliable environment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83320" indent="-283320" algn="just" defTabSz="914400">
              <a:lnSpc>
                <a:spcPct val="150000"/>
              </a:lnSpc>
              <a:buClr>
                <a:srgbClr val="3b4546"/>
              </a:buClr>
              <a:buFont typeface="Wingdings" charset="2"/>
              <a:buChar char=""/>
            </a:pPr>
            <a:r>
              <a:rPr b="0" lang="en-US" sz="1600" spc="-1" strike="noStrike">
                <a:solidFill>
                  <a:schemeClr val="dk2"/>
                </a:solidFill>
                <a:latin typeface="Times New Roman"/>
              </a:rPr>
              <a:t>Server module – manages sessions and storage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83320" indent="-283320" algn="just" defTabSz="914400">
              <a:lnSpc>
                <a:spcPct val="150000"/>
              </a:lnSpc>
              <a:buClr>
                <a:srgbClr val="3b4546"/>
              </a:buClr>
              <a:buFont typeface="Wingdings" charset="2"/>
              <a:buChar char=""/>
            </a:pPr>
            <a:r>
              <a:rPr b="0" lang="en-US" sz="1600" spc="-1" strike="noStrike">
                <a:solidFill>
                  <a:schemeClr val="dk2"/>
                </a:solidFill>
                <a:latin typeface="Times New Roman"/>
              </a:rPr>
              <a:t>CryptoService – implements a Schnorr-like protocol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83320" indent="-283320" algn="just" defTabSz="914400">
              <a:lnSpc>
                <a:spcPct val="150000"/>
              </a:lnSpc>
              <a:buClr>
                <a:srgbClr val="3b4546"/>
              </a:buClr>
              <a:buFont typeface="Wingdings" charset="2"/>
              <a:buChar char=""/>
            </a:pPr>
            <a:r>
              <a:rPr b="0" lang="en-US" sz="1600" spc="-1" strike="noStrike">
                <a:solidFill>
                  <a:schemeClr val="dk2"/>
                </a:solidFill>
                <a:latin typeface="Times New Roman"/>
              </a:rPr>
              <a:t>Payload and resolver layers for protocol abstraction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83320" indent="-283320" algn="just" defTabSz="914400">
              <a:lnSpc>
                <a:spcPct val="150000"/>
              </a:lnSpc>
              <a:buClr>
                <a:srgbClr val="3b4546"/>
              </a:buClr>
              <a:buFont typeface="Wingdings" charset="2"/>
              <a:buChar char=""/>
            </a:pPr>
            <a:r>
              <a:rPr b="0" lang="en-US" sz="1600" spc="-1" strike="noStrike">
                <a:solidFill>
                  <a:schemeClr val="dk2"/>
                </a:solidFill>
                <a:latin typeface="Times New Roman"/>
              </a:rPr>
              <a:t>Communication is made over a secure TLS channel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" name="Picture 2" descr=""/>
          <p:cNvPicPr/>
          <p:nvPr/>
        </p:nvPicPr>
        <p:blipFill>
          <a:blip r:embed="rId1"/>
          <a:stretch/>
        </p:blipFill>
        <p:spPr>
          <a:xfrm>
            <a:off x="2240280" y="-8640"/>
            <a:ext cx="941760" cy="981720"/>
          </a:xfrm>
          <a:prstGeom prst="rect">
            <a:avLst/>
          </a:prstGeom>
          <a:ln w="0">
            <a:noFill/>
          </a:ln>
        </p:spPr>
      </p:pic>
      <p:pic>
        <p:nvPicPr>
          <p:cNvPr id="115" name="Picture 5" descr=""/>
          <p:cNvPicPr/>
          <p:nvPr/>
        </p:nvPicPr>
        <p:blipFill>
          <a:blip r:embed="rId2"/>
          <a:stretch/>
        </p:blipFill>
        <p:spPr>
          <a:xfrm>
            <a:off x="3111480" y="7200"/>
            <a:ext cx="1137240" cy="1137240"/>
          </a:xfrm>
          <a:prstGeom prst="rect">
            <a:avLst/>
          </a:prstGeom>
          <a:ln w="0">
            <a:noFill/>
          </a:ln>
        </p:spPr>
      </p:pic>
      <p:sp>
        <p:nvSpPr>
          <p:cNvPr id="116" name="TextBox 6"/>
          <p:cNvSpPr/>
          <p:nvPr/>
        </p:nvSpPr>
        <p:spPr>
          <a:xfrm>
            <a:off x="765000" y="3033360"/>
            <a:ext cx="10022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Times New Roman"/>
              </a:rPr>
              <a:t>SilentVault has been created only as a proof of concept for zero-knowledge password base authentication. Thus, the application’s architecture is minimal and main components include: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itle 1"/>
          <p:cNvSpPr/>
          <p:nvPr/>
        </p:nvSpPr>
        <p:spPr>
          <a:xfrm>
            <a:off x="756000" y="1615320"/>
            <a:ext cx="105148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80000"/>
              </a:lnSpc>
            </a:pPr>
            <a:r>
              <a:rPr b="0" lang="en-US" sz="2500" spc="-1" strike="noStrike" cap="all">
                <a:solidFill>
                  <a:schemeClr val="accent5"/>
                </a:solidFill>
                <a:latin typeface="Arial"/>
              </a:rPr>
              <a:t>Overview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372319DC-8727-4F74-8385-721CFA4CF669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03360" y="1463040"/>
            <a:ext cx="10514880" cy="57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-1" strike="noStrike" cap="all">
                <a:solidFill>
                  <a:schemeClr val="accent5"/>
                </a:solidFill>
                <a:latin typeface="Arial"/>
              </a:rPr>
              <a:t>2. Silentvault’s architecture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ftr" idx="37"/>
          </p:nvPr>
        </p:nvSpPr>
        <p:spPr>
          <a:xfrm>
            <a:off x="411480" y="301680"/>
            <a:ext cx="1828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accent5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accent5"/>
                </a:solidFill>
                <a:latin typeface="Arial"/>
              </a:rPr>
              <a:t>SilentVault – A Password Based Zero Knowledge File Server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20" name="Picture 2" descr=""/>
          <p:cNvPicPr/>
          <p:nvPr/>
        </p:nvPicPr>
        <p:blipFill>
          <a:blip r:embed="rId1"/>
          <a:stretch/>
        </p:blipFill>
        <p:spPr>
          <a:xfrm>
            <a:off x="2240280" y="-8640"/>
            <a:ext cx="941760" cy="981720"/>
          </a:xfrm>
          <a:prstGeom prst="rect">
            <a:avLst/>
          </a:prstGeom>
          <a:ln w="0">
            <a:noFill/>
          </a:ln>
        </p:spPr>
      </p:pic>
      <p:pic>
        <p:nvPicPr>
          <p:cNvPr id="121" name="Picture 5" descr=""/>
          <p:cNvPicPr/>
          <p:nvPr/>
        </p:nvPicPr>
        <p:blipFill>
          <a:blip r:embed="rId2"/>
          <a:stretch/>
        </p:blipFill>
        <p:spPr>
          <a:xfrm>
            <a:off x="3111480" y="7200"/>
            <a:ext cx="1137240" cy="1137240"/>
          </a:xfrm>
          <a:prstGeom prst="rect">
            <a:avLst/>
          </a:prstGeom>
          <a:ln w="0">
            <a:noFill/>
          </a:ln>
        </p:spPr>
      </p:pic>
      <p:sp>
        <p:nvSpPr>
          <p:cNvPr id="122" name="Title 1"/>
          <p:cNvSpPr/>
          <p:nvPr/>
        </p:nvSpPr>
        <p:spPr>
          <a:xfrm>
            <a:off x="756000" y="1615320"/>
            <a:ext cx="10514880" cy="5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80000"/>
              </a:lnSpc>
            </a:pPr>
            <a:r>
              <a:rPr b="0" lang="en-US" sz="2500" spc="-1" strike="noStrike" cap="all">
                <a:solidFill>
                  <a:schemeClr val="accent5"/>
                </a:solidFill>
                <a:latin typeface="Arial"/>
              </a:rPr>
              <a:t>Functionalities &amp;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algn="r" defTabSz="914400">
              <a:lnSpc>
                <a:spcPct val="80000"/>
              </a:lnSpc>
            </a:pPr>
            <a:r>
              <a:rPr b="0" lang="en-US" sz="2500" spc="-1" strike="noStrike" cap="all">
                <a:solidFill>
                  <a:schemeClr val="accent5"/>
                </a:solidFill>
                <a:latin typeface="Arial"/>
              </a:rPr>
              <a:t>responsibilities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Placeholder 3"/>
          <p:cNvSpPr/>
          <p:nvPr/>
        </p:nvSpPr>
        <p:spPr>
          <a:xfrm>
            <a:off x="734040" y="3429000"/>
            <a:ext cx="4754160" cy="168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316880" algn="just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2"/>
                </a:solidFill>
                <a:latin typeface="Times New Roman"/>
              </a:rPr>
              <a:t>Functionalities: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83320" indent="-283320" algn="just" defTabSz="914400">
              <a:lnSpc>
                <a:spcPct val="150000"/>
              </a:lnSpc>
              <a:buClr>
                <a:srgbClr val="3b4546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2"/>
                </a:solidFill>
                <a:latin typeface="Times New Roman"/>
              </a:rPr>
              <a:t>Clients can upload files to the server, download previously uploaded files, check a list of all their files on the server and demand the server to delete a file;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83320" indent="-283320" algn="just" defTabSz="914400">
              <a:lnSpc>
                <a:spcPct val="150000"/>
              </a:lnSpc>
              <a:buClr>
                <a:srgbClr val="3b4546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2"/>
                </a:solidFill>
                <a:latin typeface="Times New Roman"/>
              </a:rPr>
              <a:t>The Server manages users’ files and public data and implement a minimal CLI with logging capabilities.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Placeholder 3"/>
          <p:cNvSpPr/>
          <p:nvPr/>
        </p:nvSpPr>
        <p:spPr>
          <a:xfrm>
            <a:off x="6364080" y="3429000"/>
            <a:ext cx="4754160" cy="168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2"/>
                </a:solidFill>
                <a:latin typeface="Times New Roman"/>
              </a:rPr>
              <a:t>	</a:t>
            </a:r>
            <a:r>
              <a:rPr b="0" lang="en-US" sz="1600" spc="-1" strike="noStrike">
                <a:solidFill>
                  <a:schemeClr val="dk2"/>
                </a:solidFill>
                <a:latin typeface="Times New Roman"/>
              </a:rPr>
              <a:t>            </a:t>
            </a:r>
            <a:r>
              <a:rPr b="0" lang="en-US" sz="1600" spc="-1" strike="noStrike">
                <a:solidFill>
                  <a:schemeClr val="dk2"/>
                </a:solidFill>
                <a:latin typeface="Times New Roman"/>
              </a:rPr>
              <a:t>Responsibilities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83320" indent="-283320" algn="just" defTabSz="914400">
              <a:lnSpc>
                <a:spcPct val="150000"/>
              </a:lnSpc>
              <a:buClr>
                <a:srgbClr val="3b4546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2"/>
                </a:solidFill>
                <a:latin typeface="Times New Roman"/>
              </a:rPr>
              <a:t>Clients execute the mathematical equations for authentication;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83320" indent="-283320" algn="just" defTabSz="914400">
              <a:lnSpc>
                <a:spcPct val="150000"/>
              </a:lnSpc>
              <a:buClr>
                <a:srgbClr val="3b4546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2"/>
                </a:solidFill>
                <a:latin typeface="Times New Roman"/>
              </a:rPr>
              <a:t>Clients manage the encryption of the files about to be uploaded.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83320" indent="-283320" algn="just" defTabSz="914400">
              <a:lnSpc>
                <a:spcPct val="150000"/>
              </a:lnSpc>
              <a:buClr>
                <a:srgbClr val="3b4546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2"/>
                </a:solidFill>
                <a:latin typeface="Times New Roman"/>
              </a:rPr>
              <a:t>The Server acts as a ‘worker’ for the client. It cannot validate passwords or initiate authentications on behalf of any client.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73CF451D-F6F1-4467-823E-02A86983D915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506880" y="964800"/>
            <a:ext cx="10790640" cy="57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-1" strike="noStrike" cap="all">
                <a:solidFill>
                  <a:schemeClr val="dk2"/>
                </a:solidFill>
                <a:latin typeface="Arial"/>
              </a:rPr>
              <a:t>3. Comparison  to  classical authentication  methods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ftr" idx="38"/>
          </p:nvPr>
        </p:nvSpPr>
        <p:spPr>
          <a:xfrm>
            <a:off x="411480" y="301680"/>
            <a:ext cx="1828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Arial"/>
              </a:rPr>
              <a:t>SilentVault – A Password Based Zero Knowledge File Server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27" name="Picture 3" descr=""/>
          <p:cNvPicPr/>
          <p:nvPr/>
        </p:nvPicPr>
        <p:blipFill>
          <a:blip r:embed="rId1"/>
          <a:stretch/>
        </p:blipFill>
        <p:spPr>
          <a:xfrm>
            <a:off x="2240280" y="-8640"/>
            <a:ext cx="941760" cy="981720"/>
          </a:xfrm>
          <a:prstGeom prst="rect">
            <a:avLst/>
          </a:prstGeom>
          <a:ln w="0">
            <a:noFill/>
          </a:ln>
        </p:spPr>
      </p:pic>
      <p:pic>
        <p:nvPicPr>
          <p:cNvPr id="128" name="Picture 6" descr=""/>
          <p:cNvPicPr/>
          <p:nvPr/>
        </p:nvPicPr>
        <p:blipFill>
          <a:blip r:embed="rId2"/>
          <a:stretch/>
        </p:blipFill>
        <p:spPr>
          <a:xfrm>
            <a:off x="3111480" y="7200"/>
            <a:ext cx="1137240" cy="1137240"/>
          </a:xfrm>
          <a:prstGeom prst="rect">
            <a:avLst/>
          </a:prstGeom>
          <a:ln w="0">
            <a:noFill/>
          </a:ln>
        </p:spPr>
      </p:pic>
      <p:sp>
        <p:nvSpPr>
          <p:cNvPr id="129" name="TextBox 9"/>
          <p:cNvSpPr/>
          <p:nvPr/>
        </p:nvSpPr>
        <p:spPr>
          <a:xfrm>
            <a:off x="1653120" y="2681640"/>
            <a:ext cx="9108000" cy="246132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rial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92A6F45C-C408-42E5-AF81-615D646AB5DD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506880" y="964800"/>
            <a:ext cx="10790640" cy="57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-1" strike="noStrike" cap="all">
                <a:solidFill>
                  <a:schemeClr val="dk2"/>
                </a:solidFill>
                <a:latin typeface="Arial"/>
              </a:rPr>
              <a:t>3. Comparison  to  classical authentication  methods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ftr" idx="39"/>
          </p:nvPr>
        </p:nvSpPr>
        <p:spPr>
          <a:xfrm>
            <a:off x="411480" y="301680"/>
            <a:ext cx="1828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Arial"/>
              </a:rPr>
              <a:t>SilentVault – A Password Based Zero Knowledge File Server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32" name="Picture 3" descr=""/>
          <p:cNvPicPr/>
          <p:nvPr/>
        </p:nvPicPr>
        <p:blipFill>
          <a:blip r:embed="rId1"/>
          <a:stretch/>
        </p:blipFill>
        <p:spPr>
          <a:xfrm>
            <a:off x="2240280" y="-8640"/>
            <a:ext cx="941760" cy="981720"/>
          </a:xfrm>
          <a:prstGeom prst="rect">
            <a:avLst/>
          </a:prstGeom>
          <a:ln w="0">
            <a:noFill/>
          </a:ln>
        </p:spPr>
      </p:pic>
      <p:pic>
        <p:nvPicPr>
          <p:cNvPr id="133" name="Picture 6" descr=""/>
          <p:cNvPicPr/>
          <p:nvPr/>
        </p:nvPicPr>
        <p:blipFill>
          <a:blip r:embed="rId2"/>
          <a:stretch/>
        </p:blipFill>
        <p:spPr>
          <a:xfrm>
            <a:off x="3111480" y="7200"/>
            <a:ext cx="1137240" cy="1137240"/>
          </a:xfrm>
          <a:prstGeom prst="rect">
            <a:avLst/>
          </a:prstGeom>
          <a:ln w="0">
            <a:noFill/>
          </a:ln>
        </p:spPr>
      </p:pic>
      <p:sp>
        <p:nvSpPr>
          <p:cNvPr id="134" name="TextBox 9"/>
          <p:cNvSpPr/>
          <p:nvPr/>
        </p:nvSpPr>
        <p:spPr>
          <a:xfrm>
            <a:off x="1653120" y="2681640"/>
            <a:ext cx="9108000" cy="243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</a:rPr>
              <a:t>Zero Knowledge Approach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</a:rPr>
              <a:t>Only public values are stored – a compromised server reveals data with no practical value for authentication.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</a:rPr>
              <a:t>Authentication is achieved using a protocol in which a client proves their knowledge of the secret without revealing it.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</a:rPr>
              <a:t>Each authentication is unique and user validation cannot be verified offline.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</a:rPr>
              <a:t>Secret data cannot be harvested – reduces the risk of a chain reaction.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AEB67D18-4220-4212-8807-29BAE57E42C6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506880" y="964800"/>
            <a:ext cx="10790640" cy="57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-1" strike="noStrike" cap="all">
                <a:solidFill>
                  <a:schemeClr val="dk2"/>
                </a:solidFill>
                <a:latin typeface="Arial"/>
              </a:rPr>
              <a:t>3. Comparison  to  classical authentication  methods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ftr" idx="40"/>
          </p:nvPr>
        </p:nvSpPr>
        <p:spPr>
          <a:xfrm>
            <a:off x="411480" y="301680"/>
            <a:ext cx="1828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Arial"/>
              </a:rPr>
              <a:t>SilentVault – A Password Based Zero Knowledge File Server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37" name="Picture 3" descr=""/>
          <p:cNvPicPr/>
          <p:nvPr/>
        </p:nvPicPr>
        <p:blipFill>
          <a:blip r:embed="rId1"/>
          <a:stretch/>
        </p:blipFill>
        <p:spPr>
          <a:xfrm>
            <a:off x="2240280" y="-8640"/>
            <a:ext cx="941760" cy="981720"/>
          </a:xfrm>
          <a:prstGeom prst="rect">
            <a:avLst/>
          </a:prstGeom>
          <a:ln w="0">
            <a:noFill/>
          </a:ln>
        </p:spPr>
      </p:pic>
      <p:pic>
        <p:nvPicPr>
          <p:cNvPr id="138" name="Picture 6" descr=""/>
          <p:cNvPicPr/>
          <p:nvPr/>
        </p:nvPicPr>
        <p:blipFill>
          <a:blip r:embed="rId2"/>
          <a:stretch/>
        </p:blipFill>
        <p:spPr>
          <a:xfrm>
            <a:off x="3111480" y="7200"/>
            <a:ext cx="1137240" cy="113724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139" name="Table 2"/>
          <p:cNvGraphicFramePr/>
          <p:nvPr/>
        </p:nvGraphicFramePr>
        <p:xfrm>
          <a:off x="2143440" y="2277720"/>
          <a:ext cx="8126640" cy="3708000"/>
        </p:xfrm>
        <a:graphic>
          <a:graphicData uri="http://schemas.openxmlformats.org/drawingml/2006/table">
            <a:tbl>
              <a:tblPr/>
              <a:tblGrid>
                <a:gridCol w="2709000"/>
                <a:gridCol w="2709000"/>
                <a:gridCol w="270900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Arial"/>
                        </a:rPr>
                        <a:t>Property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Arial"/>
                        </a:rPr>
                        <a:t>Classical Auth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Arial"/>
                        </a:rPr>
                        <a:t>Zero Knowledge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Arial"/>
                        </a:rPr>
                        <a:t>Password Exposure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5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Arial"/>
                        </a:rPr>
                        <a:t>Indirect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5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Arial"/>
                        </a:rPr>
                        <a:t>None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5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Arial"/>
                        </a:rPr>
                        <a:t>Reusable Verifier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5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Arial"/>
                        </a:rPr>
                        <a:t>Yes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5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Arial"/>
                        </a:rPr>
                        <a:t>No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5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Arial"/>
                        </a:rPr>
                        <a:t>Offline Attack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5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Arial"/>
                        </a:rPr>
                        <a:t>Yes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5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Arial"/>
                        </a:rPr>
                        <a:t>No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5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Arial"/>
                        </a:rPr>
                        <a:t>Replay Attack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5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Arial"/>
                        </a:rPr>
                        <a:t>Possible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5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Arial"/>
                        </a:rPr>
                        <a:t>Impossible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5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Arial"/>
                        </a:rPr>
                        <a:t>Server Compromise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5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Arial"/>
                        </a:rPr>
                        <a:t>Critical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5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Arial"/>
                        </a:rPr>
                        <a:t>Limited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5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Arial"/>
                        </a:rPr>
                        <a:t>TLS Dependency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5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Arial"/>
                        </a:rPr>
                        <a:t>Yes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5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Arial"/>
                        </a:rPr>
                        <a:t>No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5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Arial"/>
                        </a:rPr>
                        <a:t>Complexity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5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Arial"/>
                        </a:rPr>
                        <a:t>Low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5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Arial"/>
                        </a:rPr>
                        <a:t>High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5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Arial"/>
                        </a:rPr>
                        <a:t>Message Count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5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Arial"/>
                        </a:rPr>
                        <a:t>Low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5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Arial"/>
                        </a:rPr>
                        <a:t>High (interactive)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5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Arial"/>
                        </a:rPr>
                        <a:t>Computational Cost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5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Arial"/>
                        </a:rPr>
                        <a:t>Low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5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Arial"/>
                        </a:rPr>
                        <a:t>High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5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PlaceHolder 3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367DA855-4946-4AEF-88A2-D76CFD1DAF7A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87840" y="1252800"/>
            <a:ext cx="5793480" cy="168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-1" strike="noStrike" cap="all">
                <a:solidFill>
                  <a:schemeClr val="dk2"/>
                </a:solidFill>
                <a:latin typeface="Arial"/>
              </a:rPr>
              <a:t>4. The math behind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ftr" idx="41"/>
          </p:nvPr>
        </p:nvSpPr>
        <p:spPr>
          <a:xfrm>
            <a:off x="411480" y="301680"/>
            <a:ext cx="1828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Arial"/>
              </a:rPr>
              <a:t>SilentVault – A Password Based Zero Knowledge File Server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42" name="Picture 6" descr=""/>
          <p:cNvPicPr/>
          <p:nvPr/>
        </p:nvPicPr>
        <p:blipFill>
          <a:blip r:embed="rId1"/>
          <a:stretch/>
        </p:blipFill>
        <p:spPr>
          <a:xfrm>
            <a:off x="2240280" y="-8640"/>
            <a:ext cx="941760" cy="981720"/>
          </a:xfrm>
          <a:prstGeom prst="rect">
            <a:avLst/>
          </a:prstGeom>
          <a:ln w="0">
            <a:noFill/>
          </a:ln>
        </p:spPr>
      </p:pic>
      <p:pic>
        <p:nvPicPr>
          <p:cNvPr id="143" name="Picture 7" descr=""/>
          <p:cNvPicPr/>
          <p:nvPr/>
        </p:nvPicPr>
        <p:blipFill>
          <a:blip r:embed="rId2"/>
          <a:stretch/>
        </p:blipFill>
        <p:spPr>
          <a:xfrm>
            <a:off x="3111480" y="7200"/>
            <a:ext cx="1137240" cy="1137240"/>
          </a:xfrm>
          <a:prstGeom prst="rect">
            <a:avLst/>
          </a:prstGeom>
          <a:ln w="0">
            <a:noFill/>
          </a:ln>
        </p:spPr>
      </p:pic>
      <p:sp>
        <p:nvSpPr>
          <p:cNvPr id="144" name="TextBox 16"/>
          <p:cNvSpPr/>
          <p:nvPr/>
        </p:nvSpPr>
        <p:spPr>
          <a:xfrm>
            <a:off x="4249440" y="560520"/>
            <a:ext cx="7314480" cy="237456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rial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2"/>
          <p:cNvSpPr/>
          <p:nvPr/>
        </p:nvSpPr>
        <p:spPr>
          <a:xfrm>
            <a:off x="4249440" y="2647440"/>
            <a:ext cx="7314480" cy="373536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rial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7CACD85B-B9E3-4744-8DFC-C796F4862887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87840" y="1252800"/>
            <a:ext cx="5793480" cy="168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-1" strike="noStrike" cap="all">
                <a:solidFill>
                  <a:schemeClr val="dk2"/>
                </a:solidFill>
                <a:latin typeface="Arial"/>
              </a:rPr>
              <a:t>4. The math behind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ftr" idx="42"/>
          </p:nvPr>
        </p:nvSpPr>
        <p:spPr>
          <a:xfrm>
            <a:off x="411480" y="301680"/>
            <a:ext cx="1828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Arial"/>
              </a:rPr>
              <a:t>SilentVault – A Password Based Zero Knowledge File Server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48" name="Picture 6" descr=""/>
          <p:cNvPicPr/>
          <p:nvPr/>
        </p:nvPicPr>
        <p:blipFill>
          <a:blip r:embed="rId1"/>
          <a:stretch/>
        </p:blipFill>
        <p:spPr>
          <a:xfrm>
            <a:off x="2240280" y="-8640"/>
            <a:ext cx="941760" cy="981720"/>
          </a:xfrm>
          <a:prstGeom prst="rect">
            <a:avLst/>
          </a:prstGeom>
          <a:ln w="0">
            <a:noFill/>
          </a:ln>
        </p:spPr>
      </p:pic>
      <p:pic>
        <p:nvPicPr>
          <p:cNvPr id="149" name="Picture 7" descr=""/>
          <p:cNvPicPr/>
          <p:nvPr/>
        </p:nvPicPr>
        <p:blipFill>
          <a:blip r:embed="rId2"/>
          <a:stretch/>
        </p:blipFill>
        <p:spPr>
          <a:xfrm>
            <a:off x="3111480" y="7200"/>
            <a:ext cx="1137240" cy="1137240"/>
          </a:xfrm>
          <a:prstGeom prst="rect">
            <a:avLst/>
          </a:prstGeom>
          <a:ln w="0">
            <a:noFill/>
          </a:ln>
        </p:spPr>
      </p:pic>
      <p:sp>
        <p:nvSpPr>
          <p:cNvPr id="150" name="TextBox 16"/>
          <p:cNvSpPr/>
          <p:nvPr/>
        </p:nvSpPr>
        <p:spPr>
          <a:xfrm>
            <a:off x="4249440" y="1488600"/>
            <a:ext cx="7314480" cy="424656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rial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itle 1"/>
          <p:cNvSpPr/>
          <p:nvPr/>
        </p:nvSpPr>
        <p:spPr>
          <a:xfrm>
            <a:off x="87840" y="3232080"/>
            <a:ext cx="4034880" cy="168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80000"/>
              </a:lnSpc>
            </a:pPr>
            <a:r>
              <a:rPr b="0" lang="en-US" sz="3500" spc="-1" strike="noStrike" cap="all">
                <a:solidFill>
                  <a:schemeClr val="dk2"/>
                </a:solidFill>
                <a:latin typeface="Arial"/>
              </a:rPr>
              <a:t>Security properties</a:t>
            </a: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264309BF-4865-4C73-A8C5-7DA0DD6B2DC2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87120" y="1346400"/>
            <a:ext cx="4845600" cy="168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-1" strike="noStrike" cap="all">
                <a:solidFill>
                  <a:schemeClr val="accent5">
                    <a:lumMod val="50000"/>
                  </a:schemeClr>
                </a:solidFill>
                <a:latin typeface="Arial"/>
              </a:rPr>
              <a:t>5. Wireshark captured traffic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ftr" idx="43"/>
          </p:nvPr>
        </p:nvSpPr>
        <p:spPr>
          <a:xfrm>
            <a:off x="411480" y="301680"/>
            <a:ext cx="1828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Arial"/>
              </a:rPr>
              <a:t>SilentVault – A Password Based Zero Knowledge File Server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54" name="Picture 2" descr=""/>
          <p:cNvPicPr/>
          <p:nvPr/>
        </p:nvPicPr>
        <p:blipFill>
          <a:blip r:embed="rId1"/>
          <a:stretch/>
        </p:blipFill>
        <p:spPr>
          <a:xfrm>
            <a:off x="2240280" y="-8640"/>
            <a:ext cx="941760" cy="981720"/>
          </a:xfrm>
          <a:prstGeom prst="rect">
            <a:avLst/>
          </a:prstGeom>
          <a:ln w="0">
            <a:noFill/>
          </a:ln>
        </p:spPr>
      </p:pic>
      <p:pic>
        <p:nvPicPr>
          <p:cNvPr id="155" name="Picture 3" descr=""/>
          <p:cNvPicPr/>
          <p:nvPr/>
        </p:nvPicPr>
        <p:blipFill>
          <a:blip r:embed="rId2"/>
          <a:stretch/>
        </p:blipFill>
        <p:spPr>
          <a:xfrm>
            <a:off x="3111480" y="7200"/>
            <a:ext cx="1137240" cy="1137240"/>
          </a:xfrm>
          <a:prstGeom prst="rect">
            <a:avLst/>
          </a:prstGeom>
          <a:ln w="0">
            <a:noFill/>
          </a:ln>
        </p:spPr>
      </p:pic>
      <p:pic>
        <p:nvPicPr>
          <p:cNvPr id="156" name="Picture 5" descr=""/>
          <p:cNvPicPr/>
          <p:nvPr/>
        </p:nvPicPr>
        <p:blipFill>
          <a:blip r:embed="rId3"/>
          <a:stretch/>
        </p:blipFill>
        <p:spPr>
          <a:xfrm>
            <a:off x="4848840" y="576000"/>
            <a:ext cx="6361920" cy="5914440"/>
          </a:xfrm>
          <a:prstGeom prst="rect">
            <a:avLst/>
          </a:prstGeom>
          <a:ln w="0">
            <a:noFill/>
          </a:ln>
        </p:spPr>
      </p:pic>
      <p:pic>
        <p:nvPicPr>
          <p:cNvPr id="157" name="Picture 9" descr=""/>
          <p:cNvPicPr/>
          <p:nvPr/>
        </p:nvPicPr>
        <p:blipFill>
          <a:blip r:embed="rId4"/>
          <a:stretch/>
        </p:blipFill>
        <p:spPr>
          <a:xfrm>
            <a:off x="690840" y="3446640"/>
            <a:ext cx="2571480" cy="280008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CCBE2C14-B967-4635-B779-13BC9AAA30B7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87120" y="1346400"/>
            <a:ext cx="4845600" cy="168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-1" strike="noStrike" cap="all">
                <a:solidFill>
                  <a:schemeClr val="accent5">
                    <a:lumMod val="50000"/>
                  </a:schemeClr>
                </a:solidFill>
                <a:latin typeface="Arial"/>
              </a:rPr>
              <a:t>5. Wireshark captured traffic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ftr" idx="44"/>
          </p:nvPr>
        </p:nvSpPr>
        <p:spPr>
          <a:xfrm>
            <a:off x="411480" y="301680"/>
            <a:ext cx="1828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Arial"/>
              </a:rPr>
              <a:t>SilentVault – A Password Based Zero Knowledge File Server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60" name="Picture 2" descr=""/>
          <p:cNvPicPr/>
          <p:nvPr/>
        </p:nvPicPr>
        <p:blipFill>
          <a:blip r:embed="rId1"/>
          <a:stretch/>
        </p:blipFill>
        <p:spPr>
          <a:xfrm>
            <a:off x="2240280" y="-8640"/>
            <a:ext cx="941760" cy="981720"/>
          </a:xfrm>
          <a:prstGeom prst="rect">
            <a:avLst/>
          </a:prstGeom>
          <a:ln w="0">
            <a:noFill/>
          </a:ln>
        </p:spPr>
      </p:pic>
      <p:pic>
        <p:nvPicPr>
          <p:cNvPr id="161" name="Picture 3" descr=""/>
          <p:cNvPicPr/>
          <p:nvPr/>
        </p:nvPicPr>
        <p:blipFill>
          <a:blip r:embed="rId2"/>
          <a:stretch/>
        </p:blipFill>
        <p:spPr>
          <a:xfrm>
            <a:off x="3111480" y="7200"/>
            <a:ext cx="1137240" cy="1137240"/>
          </a:xfrm>
          <a:prstGeom prst="rect">
            <a:avLst/>
          </a:prstGeom>
          <a:ln w="0">
            <a:noFill/>
          </a:ln>
        </p:spPr>
      </p:pic>
      <p:pic>
        <p:nvPicPr>
          <p:cNvPr id="162" name="Picture 9" descr=""/>
          <p:cNvPicPr/>
          <p:nvPr/>
        </p:nvPicPr>
        <p:blipFill>
          <a:blip r:embed="rId3"/>
          <a:stretch/>
        </p:blipFill>
        <p:spPr>
          <a:xfrm>
            <a:off x="690840" y="3446640"/>
            <a:ext cx="2571480" cy="2800080"/>
          </a:xfrm>
          <a:prstGeom prst="rect">
            <a:avLst/>
          </a:prstGeom>
          <a:ln w="0">
            <a:noFill/>
          </a:ln>
        </p:spPr>
      </p:pic>
      <p:pic>
        <p:nvPicPr>
          <p:cNvPr id="163" name="Picture 6" descr=""/>
          <p:cNvPicPr/>
          <p:nvPr/>
        </p:nvPicPr>
        <p:blipFill>
          <a:blip r:embed="rId4"/>
          <a:stretch/>
        </p:blipFill>
        <p:spPr>
          <a:xfrm>
            <a:off x="4655520" y="916560"/>
            <a:ext cx="6428520" cy="449496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6947663D-D9AF-4D6C-9146-88C76B03CFEB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87120" y="1346400"/>
            <a:ext cx="4845600" cy="168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-1" strike="noStrike" cap="all">
                <a:solidFill>
                  <a:schemeClr val="accent5">
                    <a:lumMod val="50000"/>
                  </a:schemeClr>
                </a:solidFill>
                <a:latin typeface="Arial"/>
              </a:rPr>
              <a:t>5. Wireshark captured traffic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ftr" idx="45"/>
          </p:nvPr>
        </p:nvSpPr>
        <p:spPr>
          <a:xfrm>
            <a:off x="411480" y="301680"/>
            <a:ext cx="1828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Arial"/>
              </a:rPr>
              <a:t>SilentVault – A Password Based Zero Knowledge File Server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66" name="Picture 2" descr=""/>
          <p:cNvPicPr/>
          <p:nvPr/>
        </p:nvPicPr>
        <p:blipFill>
          <a:blip r:embed="rId1"/>
          <a:stretch/>
        </p:blipFill>
        <p:spPr>
          <a:xfrm>
            <a:off x="2240280" y="-8640"/>
            <a:ext cx="941760" cy="981720"/>
          </a:xfrm>
          <a:prstGeom prst="rect">
            <a:avLst/>
          </a:prstGeom>
          <a:ln w="0">
            <a:noFill/>
          </a:ln>
        </p:spPr>
      </p:pic>
      <p:pic>
        <p:nvPicPr>
          <p:cNvPr id="167" name="Picture 3" descr=""/>
          <p:cNvPicPr/>
          <p:nvPr/>
        </p:nvPicPr>
        <p:blipFill>
          <a:blip r:embed="rId2"/>
          <a:stretch/>
        </p:blipFill>
        <p:spPr>
          <a:xfrm>
            <a:off x="3111480" y="7200"/>
            <a:ext cx="1137240" cy="1137240"/>
          </a:xfrm>
          <a:prstGeom prst="rect">
            <a:avLst/>
          </a:prstGeom>
          <a:ln w="0">
            <a:noFill/>
          </a:ln>
        </p:spPr>
      </p:pic>
      <p:pic>
        <p:nvPicPr>
          <p:cNvPr id="168" name="Picture 9" descr=""/>
          <p:cNvPicPr/>
          <p:nvPr/>
        </p:nvPicPr>
        <p:blipFill>
          <a:blip r:embed="rId3"/>
          <a:stretch/>
        </p:blipFill>
        <p:spPr>
          <a:xfrm>
            <a:off x="690840" y="3446640"/>
            <a:ext cx="2571480" cy="2800080"/>
          </a:xfrm>
          <a:prstGeom prst="rect">
            <a:avLst/>
          </a:prstGeom>
          <a:ln w="0">
            <a:noFill/>
          </a:ln>
        </p:spPr>
      </p:pic>
      <p:pic>
        <p:nvPicPr>
          <p:cNvPr id="169" name="Picture 14" descr=""/>
          <p:cNvPicPr/>
          <p:nvPr/>
        </p:nvPicPr>
        <p:blipFill>
          <a:blip r:embed="rId4"/>
          <a:stretch/>
        </p:blipFill>
        <p:spPr>
          <a:xfrm>
            <a:off x="5550480" y="1854360"/>
            <a:ext cx="4571280" cy="2761560"/>
          </a:xfrm>
          <a:prstGeom prst="rect">
            <a:avLst/>
          </a:prstGeom>
          <a:ln w="0">
            <a:noFill/>
          </a:ln>
        </p:spPr>
      </p:pic>
      <p:sp>
        <p:nvSpPr>
          <p:cNvPr id="170" name="TextBox 19"/>
          <p:cNvSpPr/>
          <p:nvPr/>
        </p:nvSpPr>
        <p:spPr>
          <a:xfrm>
            <a:off x="6162120" y="1145160"/>
            <a:ext cx="3560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Times New Roman"/>
              </a:rPr>
              <a:t>Payload Header for sending salt and public to server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11EC6199-3143-487E-8846-54DFA4FEF17B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87120" y="1346400"/>
            <a:ext cx="4845600" cy="168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-1" strike="noStrike" cap="all">
                <a:solidFill>
                  <a:schemeClr val="accent5">
                    <a:lumMod val="50000"/>
                  </a:schemeClr>
                </a:solidFill>
                <a:latin typeface="Arial"/>
              </a:rPr>
              <a:t>5. Wireshark captured traffic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ftr" idx="46"/>
          </p:nvPr>
        </p:nvSpPr>
        <p:spPr>
          <a:xfrm>
            <a:off x="411480" y="301680"/>
            <a:ext cx="1828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Arial"/>
              </a:rPr>
              <a:t>SilentVault – A Password Based Zero Knowledge File Server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73" name="Picture 2" descr=""/>
          <p:cNvPicPr/>
          <p:nvPr/>
        </p:nvPicPr>
        <p:blipFill>
          <a:blip r:embed="rId1"/>
          <a:stretch/>
        </p:blipFill>
        <p:spPr>
          <a:xfrm>
            <a:off x="2240280" y="-8640"/>
            <a:ext cx="941760" cy="981720"/>
          </a:xfrm>
          <a:prstGeom prst="rect">
            <a:avLst/>
          </a:prstGeom>
          <a:ln w="0">
            <a:noFill/>
          </a:ln>
        </p:spPr>
      </p:pic>
      <p:pic>
        <p:nvPicPr>
          <p:cNvPr id="174" name="Picture 3" descr=""/>
          <p:cNvPicPr/>
          <p:nvPr/>
        </p:nvPicPr>
        <p:blipFill>
          <a:blip r:embed="rId2"/>
          <a:stretch/>
        </p:blipFill>
        <p:spPr>
          <a:xfrm>
            <a:off x="3111480" y="7200"/>
            <a:ext cx="1137240" cy="1137240"/>
          </a:xfrm>
          <a:prstGeom prst="rect">
            <a:avLst/>
          </a:prstGeom>
          <a:ln w="0">
            <a:noFill/>
          </a:ln>
        </p:spPr>
      </p:pic>
      <p:pic>
        <p:nvPicPr>
          <p:cNvPr id="175" name="Picture 9" descr=""/>
          <p:cNvPicPr/>
          <p:nvPr/>
        </p:nvPicPr>
        <p:blipFill>
          <a:blip r:embed="rId3"/>
          <a:stretch/>
        </p:blipFill>
        <p:spPr>
          <a:xfrm>
            <a:off x="690840" y="3446640"/>
            <a:ext cx="2571480" cy="2800080"/>
          </a:xfrm>
          <a:prstGeom prst="rect">
            <a:avLst/>
          </a:prstGeom>
          <a:ln w="0">
            <a:noFill/>
          </a:ln>
        </p:spPr>
      </p:pic>
      <p:pic>
        <p:nvPicPr>
          <p:cNvPr id="176" name="Picture 18" descr=""/>
          <p:cNvPicPr/>
          <p:nvPr/>
        </p:nvPicPr>
        <p:blipFill>
          <a:blip r:embed="rId4"/>
          <a:stretch/>
        </p:blipFill>
        <p:spPr>
          <a:xfrm>
            <a:off x="5797440" y="2220840"/>
            <a:ext cx="4571280" cy="1999440"/>
          </a:xfrm>
          <a:prstGeom prst="rect">
            <a:avLst/>
          </a:prstGeom>
          <a:ln w="0">
            <a:noFill/>
          </a:ln>
        </p:spPr>
      </p:pic>
      <p:sp>
        <p:nvSpPr>
          <p:cNvPr id="177" name="TextBox 5"/>
          <p:cNvSpPr/>
          <p:nvPr/>
        </p:nvSpPr>
        <p:spPr>
          <a:xfrm>
            <a:off x="6365520" y="1346400"/>
            <a:ext cx="3560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Times New Roman"/>
              </a:rPr>
              <a:t>Payload Header for getting a challenge from the server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A59D0721-B9FB-42BD-9351-D045FF8F9BD9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87120" y="1346400"/>
            <a:ext cx="4845600" cy="168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-1" strike="noStrike" cap="all">
                <a:solidFill>
                  <a:schemeClr val="accent5">
                    <a:lumMod val="50000"/>
                  </a:schemeClr>
                </a:solidFill>
                <a:latin typeface="Arial"/>
              </a:rPr>
              <a:t>5. Wireshark captured traffic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ftr" idx="47"/>
          </p:nvPr>
        </p:nvSpPr>
        <p:spPr>
          <a:xfrm>
            <a:off x="411480" y="301680"/>
            <a:ext cx="1828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2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2"/>
                </a:solidFill>
                <a:latin typeface="Arial"/>
              </a:rPr>
              <a:t>SilentVault – A Password Based Zero Knowledge File Server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80" name="Picture 2" descr=""/>
          <p:cNvPicPr/>
          <p:nvPr/>
        </p:nvPicPr>
        <p:blipFill>
          <a:blip r:embed="rId1"/>
          <a:stretch/>
        </p:blipFill>
        <p:spPr>
          <a:xfrm>
            <a:off x="2240280" y="-8640"/>
            <a:ext cx="941760" cy="981720"/>
          </a:xfrm>
          <a:prstGeom prst="rect">
            <a:avLst/>
          </a:prstGeom>
          <a:ln w="0">
            <a:noFill/>
          </a:ln>
        </p:spPr>
      </p:pic>
      <p:pic>
        <p:nvPicPr>
          <p:cNvPr id="181" name="Picture 3" descr=""/>
          <p:cNvPicPr/>
          <p:nvPr/>
        </p:nvPicPr>
        <p:blipFill>
          <a:blip r:embed="rId2"/>
          <a:stretch/>
        </p:blipFill>
        <p:spPr>
          <a:xfrm>
            <a:off x="3111480" y="7200"/>
            <a:ext cx="1137240" cy="1137240"/>
          </a:xfrm>
          <a:prstGeom prst="rect">
            <a:avLst/>
          </a:prstGeom>
          <a:ln w="0">
            <a:noFill/>
          </a:ln>
        </p:spPr>
      </p:pic>
      <p:pic>
        <p:nvPicPr>
          <p:cNvPr id="182" name="Picture 9" descr=""/>
          <p:cNvPicPr/>
          <p:nvPr/>
        </p:nvPicPr>
        <p:blipFill>
          <a:blip r:embed="rId3"/>
          <a:stretch/>
        </p:blipFill>
        <p:spPr>
          <a:xfrm>
            <a:off x="690840" y="3446640"/>
            <a:ext cx="2571480" cy="2800080"/>
          </a:xfrm>
          <a:prstGeom prst="rect">
            <a:avLst/>
          </a:prstGeom>
          <a:ln w="0">
            <a:noFill/>
          </a:ln>
        </p:spPr>
      </p:pic>
      <p:sp>
        <p:nvSpPr>
          <p:cNvPr id="183" name="TextBox 5"/>
          <p:cNvSpPr/>
          <p:nvPr/>
        </p:nvSpPr>
        <p:spPr>
          <a:xfrm>
            <a:off x="6179400" y="498600"/>
            <a:ext cx="3560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Times New Roman"/>
              </a:rPr>
              <a:t>Payload Header for sending the challenge response to the server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4" name="Picture 6" descr=""/>
          <p:cNvPicPr/>
          <p:nvPr/>
        </p:nvPicPr>
        <p:blipFill>
          <a:blip r:embed="rId4"/>
          <a:stretch/>
        </p:blipFill>
        <p:spPr>
          <a:xfrm>
            <a:off x="5626440" y="1271160"/>
            <a:ext cx="4666680" cy="447588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C662AD10-E83D-43CD-B9C2-4CD5B2108C8B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Picture 3" descr=""/>
          <p:cNvPicPr/>
          <p:nvPr/>
        </p:nvPicPr>
        <p:blipFill>
          <a:blip r:embed="rId1"/>
          <a:stretch/>
        </p:blipFill>
        <p:spPr>
          <a:xfrm>
            <a:off x="9591120" y="75240"/>
            <a:ext cx="1978920" cy="2062800"/>
          </a:xfrm>
          <a:prstGeom prst="rect">
            <a:avLst/>
          </a:prstGeom>
          <a:ln w="0">
            <a:noFill/>
          </a:ln>
        </p:spPr>
      </p:pic>
      <p:pic>
        <p:nvPicPr>
          <p:cNvPr id="186" name="Picture 6" descr=""/>
          <p:cNvPicPr/>
          <p:nvPr/>
        </p:nvPicPr>
        <p:blipFill>
          <a:blip r:embed="rId2"/>
          <a:stretch/>
        </p:blipFill>
        <p:spPr>
          <a:xfrm>
            <a:off x="198000" y="75240"/>
            <a:ext cx="2307240" cy="2307240"/>
          </a:xfrm>
          <a:prstGeom prst="rect">
            <a:avLst/>
          </a:prstGeom>
          <a:ln w="0">
            <a:noFill/>
          </a:ln>
        </p:spPr>
      </p:pic>
      <p:sp>
        <p:nvSpPr>
          <p:cNvPr id="187" name="TextBox 4"/>
          <p:cNvSpPr/>
          <p:nvPr/>
        </p:nvSpPr>
        <p:spPr>
          <a:xfrm>
            <a:off x="2209680" y="4775400"/>
            <a:ext cx="90554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pc="-1" strike="noStrike">
                <a:solidFill>
                  <a:schemeClr val="lt1"/>
                </a:solidFill>
                <a:latin typeface="Times New Roman"/>
              </a:rPr>
              <a:t>https://www.github.com/RexGloriae/SilentVault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5841360" y="1889280"/>
            <a:ext cx="5807880" cy="288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3600" spc="-1" strike="noStrike" cap="all">
                <a:solidFill>
                  <a:schemeClr val="lt1"/>
                </a:solidFill>
                <a:latin typeface="Times New Roman"/>
              </a:rPr>
              <a:t>Silentvault – </a:t>
            </a:r>
            <a:br>
              <a:rPr sz="3600"/>
            </a:br>
            <a:r>
              <a:rPr b="0" lang="en-US" sz="3600" spc="-1" strike="noStrike" cap="all">
                <a:solidFill>
                  <a:schemeClr val="lt1"/>
                </a:solidFill>
                <a:latin typeface="Times New Roman"/>
              </a:rPr>
              <a:t>a password  based</a:t>
            </a:r>
            <a:br>
              <a:rPr sz="3600"/>
            </a:br>
            <a:r>
              <a:rPr b="0" lang="en-US" sz="3600" spc="-1" strike="noStrike" cap="all">
                <a:solidFill>
                  <a:schemeClr val="lt1"/>
                </a:solidFill>
                <a:latin typeface="Times New Roman"/>
              </a:rPr>
              <a:t>zero  knowledge</a:t>
            </a:r>
            <a:br>
              <a:rPr sz="3600"/>
            </a:br>
            <a:r>
              <a:rPr b="0" lang="en-US" sz="3600" spc="-1" strike="noStrike" cap="all">
                <a:solidFill>
                  <a:schemeClr val="lt1"/>
                </a:solidFill>
                <a:latin typeface="Times New Roman"/>
              </a:rPr>
              <a:t>file  server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9" name="" descr=""/>
          <p:cNvPicPr/>
          <p:nvPr/>
        </p:nvPicPr>
        <p:blipFill>
          <a:blip r:embed="rId3"/>
          <a:stretch/>
        </p:blipFill>
        <p:spPr>
          <a:xfrm>
            <a:off x="2190960" y="685800"/>
            <a:ext cx="3523680" cy="3523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783CE7D-BFC6-4030-A335-E7F88DB664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11F98F7-6576-47F1-AD63-56E26C33974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25B4CAA5-BE7A-46AB-97ED-63B24C46A3A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251</TotalTime>
  <Application>LibreOffice/24.2.7.2$Linux_X86_64 LibreOffice_project/420$Build-2</Application>
  <AppVersion>15.0000</AppVersion>
  <Words>1085</Words>
  <Paragraphs>144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2022-06-28T06:29:45Z</dcterms:created>
  <dc:creator>Andrei Daniel</dc:creator>
  <dc:description/>
  <dc:language>en-US</dc:language>
  <cp:lastModifiedBy/>
  <dcterms:modified xsi:type="dcterms:W3CDTF">2026-04-21T10:18:50Z</dcterms:modified>
  <cp:revision>22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Notes">
    <vt:i4>6</vt:i4>
  </property>
  <property fmtid="{D5CDD505-2E9C-101B-9397-08002B2CF9AE}" pid="4" name="PresentationFormat">
    <vt:lpwstr>Widescreen</vt:lpwstr>
  </property>
  <property fmtid="{D5CDD505-2E9C-101B-9397-08002B2CF9AE}" pid="5" name="Slides">
    <vt:i4>16</vt:i4>
  </property>
</Properties>
</file>