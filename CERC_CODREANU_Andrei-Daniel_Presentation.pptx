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1"/>
  </p:notesMasterIdLst>
  <p:handoutMasterIdLst>
    <p:handoutMasterId r:id="rId22"/>
  </p:handoutMasterIdLst>
  <p:sldIdLst>
    <p:sldId id="273" r:id="rId5"/>
    <p:sldId id="282" r:id="rId6"/>
    <p:sldId id="277" r:id="rId7"/>
    <p:sldId id="281" r:id="rId8"/>
    <p:sldId id="295" r:id="rId9"/>
    <p:sldId id="296" r:id="rId10"/>
    <p:sldId id="297" r:id="rId11"/>
    <p:sldId id="298" r:id="rId12"/>
    <p:sldId id="280" r:id="rId13"/>
    <p:sldId id="299" r:id="rId14"/>
    <p:sldId id="279" r:id="rId15"/>
    <p:sldId id="303" r:id="rId16"/>
    <p:sldId id="300" r:id="rId17"/>
    <p:sldId id="301" r:id="rId18"/>
    <p:sldId id="302" r:id="rId19"/>
    <p:sldId id="292" r:id="rId20"/>
  </p:sldIdLst>
  <p:sldSz cx="12192000" cy="6858000"/>
  <p:notesSz cx="6858000" cy="9144000"/>
  <p:defaultTextStyle>
    <a:defPPr>
      <a:defRPr lang="en-P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orient="horz" pos="1224" userDrawn="1">
          <p15:clr>
            <a:srgbClr val="A4A3A4"/>
          </p15:clr>
        </p15:guide>
        <p15:guide id="3" pos="7368" userDrawn="1">
          <p15:clr>
            <a:srgbClr val="A4A3A4"/>
          </p15:clr>
        </p15:guide>
        <p15:guide id="4" pos="312" userDrawn="1">
          <p15:clr>
            <a:srgbClr val="A4A3A4"/>
          </p15:clr>
        </p15:guide>
        <p15:guide id="6" orient="horz" pos="2856" userDrawn="1">
          <p15:clr>
            <a:srgbClr val="A4A3A4"/>
          </p15:clr>
        </p15:guide>
        <p15:guide id="7" pos="5928" userDrawn="1">
          <p15:clr>
            <a:srgbClr val="A4A3A4"/>
          </p15:clr>
        </p15:guide>
        <p15:guide id="8" pos="6168" userDrawn="1">
          <p15:clr>
            <a:srgbClr val="A4A3A4"/>
          </p15:clr>
        </p15:guide>
        <p15:guide id="9" pos="1512" userDrawn="1">
          <p15:clr>
            <a:srgbClr val="A4A3A4"/>
          </p15:clr>
        </p15:guide>
        <p15:guide id="10" orient="horz" pos="264" userDrawn="1">
          <p15:clr>
            <a:srgbClr val="A4A3A4"/>
          </p15:clr>
        </p15:guide>
        <p15:guide id="11" pos="2496" userDrawn="1">
          <p15:clr>
            <a:srgbClr val="A4A3A4"/>
          </p15:clr>
        </p15:guide>
        <p15:guide id="12" pos="2688" userDrawn="1">
          <p15:clr>
            <a:srgbClr val="A4A3A4"/>
          </p15:clr>
        </p15:guide>
        <p15:guide id="13" pos="4536" userDrawn="1">
          <p15:clr>
            <a:srgbClr val="A4A3A4"/>
          </p15:clr>
        </p15:guide>
        <p15:guide id="14" pos="4008" userDrawn="1">
          <p15:clr>
            <a:srgbClr val="A4A3A4"/>
          </p15:clr>
        </p15:guide>
        <p15:guide id="15" pos="4944" userDrawn="1">
          <p15:clr>
            <a:srgbClr val="A4A3A4"/>
          </p15:clr>
        </p15:guide>
        <p15:guide id="16" pos="5136" userDrawn="1">
          <p15:clr>
            <a:srgbClr val="A4A3A4"/>
          </p15:clr>
        </p15:guide>
        <p15:guide id="17" orient="horz" pos="1584" userDrawn="1">
          <p15:clr>
            <a:srgbClr val="A4A3A4"/>
          </p15:clr>
        </p15:guide>
        <p15:guide id="18" orient="horz" pos="2736" userDrawn="1">
          <p15:clr>
            <a:srgbClr val="A4A3A4"/>
          </p15:clr>
        </p15:guide>
        <p15:guide id="19" orient="horz" pos="3648" userDrawn="1">
          <p15:clr>
            <a:srgbClr val="A4A3A4"/>
          </p15:clr>
        </p15:guide>
        <p15:guide id="20" orient="horz" pos="864" userDrawn="1">
          <p15:clr>
            <a:srgbClr val="A4A3A4"/>
          </p15:clr>
        </p15:guide>
        <p15:guide id="21" orient="horz" pos="3984" userDrawn="1">
          <p15:clr>
            <a:srgbClr val="A4A3A4"/>
          </p15:clr>
        </p15:guide>
        <p15:guide id="22" pos="456" userDrawn="1">
          <p15:clr>
            <a:srgbClr val="A4A3A4"/>
          </p15:clr>
        </p15:guide>
        <p15:guide id="23" pos="7248" userDrawn="1">
          <p15:clr>
            <a:srgbClr val="A4A3A4"/>
          </p15:clr>
        </p15:guide>
        <p15:guide id="24" orient="horz" pos="1920" userDrawn="1">
          <p15:clr>
            <a:srgbClr val="A4A3A4"/>
          </p15:clr>
        </p15:guide>
        <p15:guide id="25" orient="horz" pos="2256" userDrawn="1">
          <p15:clr>
            <a:srgbClr val="A4A3A4"/>
          </p15:clr>
        </p15:guide>
        <p15:guide id="26" pos="7176" userDrawn="1">
          <p15:clr>
            <a:srgbClr val="A4A3A4"/>
          </p15:clr>
        </p15:guide>
        <p15:guide id="27" orient="horz" pos="1704" userDrawn="1">
          <p15:clr>
            <a:srgbClr val="A4A3A4"/>
          </p15:clr>
        </p15:guide>
        <p15:guide id="28" pos="4176" userDrawn="1">
          <p15:clr>
            <a:srgbClr val="A4A3A4"/>
          </p15:clr>
        </p15:guide>
        <p15:guide id="29" orient="horz" pos="2592" userDrawn="1">
          <p15:clr>
            <a:srgbClr val="A4A3A4"/>
          </p15:clr>
        </p15:guide>
        <p15:guide id="30" pos="6912" userDrawn="1">
          <p15:clr>
            <a:srgbClr val="A4A3A4"/>
          </p15:clr>
        </p15:guide>
        <p15:guide id="31" pos="3552"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D8BEB2"/>
    <a:srgbClr val="753F2D"/>
    <a:srgbClr val="5E3324"/>
    <a:srgbClr val="8A4C34"/>
    <a:srgbClr val="815550"/>
    <a:srgbClr val="A3573E"/>
    <a:srgbClr val="E7E6E6"/>
    <a:srgbClr val="C28D6D"/>
    <a:srgbClr val="D2986F"/>
    <a:srgbClr val="333B3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782"/>
    <p:restoredTop sz="96327"/>
  </p:normalViewPr>
  <p:slideViewPr>
    <p:cSldViewPr snapToGrid="0">
      <p:cViewPr varScale="1">
        <p:scale>
          <a:sx n="109" d="100"/>
          <a:sy n="109" d="100"/>
        </p:scale>
        <p:origin x="570" y="108"/>
      </p:cViewPr>
      <p:guideLst>
        <p:guide orient="horz" pos="1224"/>
        <p:guide pos="7368"/>
        <p:guide pos="312"/>
        <p:guide orient="horz" pos="2856"/>
        <p:guide pos="5928"/>
        <p:guide pos="6168"/>
        <p:guide pos="1512"/>
        <p:guide orient="horz" pos="264"/>
        <p:guide pos="2496"/>
        <p:guide pos="2688"/>
        <p:guide pos="4536"/>
        <p:guide pos="4008"/>
        <p:guide pos="4944"/>
        <p:guide pos="5136"/>
        <p:guide orient="horz" pos="1584"/>
        <p:guide orient="horz" pos="2736"/>
        <p:guide orient="horz" pos="3648"/>
        <p:guide orient="horz" pos="864"/>
        <p:guide orient="horz" pos="3984"/>
        <p:guide pos="456"/>
        <p:guide pos="7248"/>
        <p:guide orient="horz" pos="1920"/>
        <p:guide orient="horz" pos="2256"/>
        <p:guide pos="7176"/>
        <p:guide orient="horz" pos="1704"/>
        <p:guide pos="4176"/>
        <p:guide orient="horz" pos="2592"/>
        <p:guide pos="6912"/>
        <p:guide pos="3552"/>
      </p:guideLst>
    </p:cSldViewPr>
  </p:slideViewPr>
  <p:notesTextViewPr>
    <p:cViewPr>
      <p:scale>
        <a:sx n="1" d="1"/>
        <a:sy n="1" d="1"/>
      </p:scale>
      <p:origin x="0" y="0"/>
    </p:cViewPr>
  </p:notesTextViewPr>
  <p:notesViewPr>
    <p:cSldViewPr snapToGrid="0">
      <p:cViewPr varScale="1">
        <p:scale>
          <a:sx n="58" d="100"/>
          <a:sy n="58" d="100"/>
        </p:scale>
        <p:origin x="2371" y="67"/>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8B30D67-EB7C-4323-A6AB-20071C4FCC2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CB26DD94-0E47-FE33-5C0F-9E497B99BEF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3433F7E-3633-4FA3-974D-CA21FB24834F}" type="datetimeFigureOut">
              <a:rPr lang="en-US" smtClean="0"/>
              <a:t>08-Apr-26</a:t>
            </a:fld>
            <a:endParaRPr lang="en-US"/>
          </a:p>
        </p:txBody>
      </p:sp>
      <p:sp>
        <p:nvSpPr>
          <p:cNvPr id="4" name="Footer Placeholder 3">
            <a:extLst>
              <a:ext uri="{FF2B5EF4-FFF2-40B4-BE49-F238E27FC236}">
                <a16:creationId xmlns:a16="http://schemas.microsoft.com/office/drawing/2014/main" id="{B9636FF0-1B83-FCD7-197D-6F6CBEA8FE0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AA88305-7C09-5A95-A84B-C7CEA8D00FA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6482836-E43C-41FF-A11B-3D8AB6E68FC7}" type="slidenum">
              <a:rPr lang="en-US" smtClean="0"/>
              <a:t>‹#›</a:t>
            </a:fld>
            <a:endParaRPr lang="en-US"/>
          </a:p>
        </p:txBody>
      </p:sp>
    </p:spTree>
    <p:extLst>
      <p:ext uri="{BB962C8B-B14F-4D97-AF65-F5344CB8AC3E}">
        <p14:creationId xmlns:p14="http://schemas.microsoft.com/office/powerpoint/2010/main" val="38009817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945F7B4-7442-4021-9F1E-8BC3C363C892}" type="datetimeFigureOut">
              <a:rPr lang="en-US" noProof="0" smtClean="0"/>
              <a:t>08-Apr-26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CDE012-9E2E-4477-8B5C-4E7D4E9BCBA6}" type="slidenum">
              <a:rPr lang="en-US" noProof="0" smtClean="0"/>
              <a:t>‹#›</a:t>
            </a:fld>
            <a:endParaRPr lang="en-US" noProof="0" dirty="0"/>
          </a:p>
        </p:txBody>
      </p:sp>
    </p:spTree>
    <p:extLst>
      <p:ext uri="{BB962C8B-B14F-4D97-AF65-F5344CB8AC3E}">
        <p14:creationId xmlns:p14="http://schemas.microsoft.com/office/powerpoint/2010/main" val="7393859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CDE012-9E2E-4477-8B5C-4E7D4E9BCBA6}" type="slidenum">
              <a:rPr lang="en-US" smtClean="0"/>
              <a:t>1</a:t>
            </a:fld>
            <a:endParaRPr lang="en-US"/>
          </a:p>
        </p:txBody>
      </p:sp>
    </p:spTree>
    <p:extLst>
      <p:ext uri="{BB962C8B-B14F-4D97-AF65-F5344CB8AC3E}">
        <p14:creationId xmlns:p14="http://schemas.microsoft.com/office/powerpoint/2010/main" val="14981925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ECDE012-9E2E-4477-8B5C-4E7D4E9BCBA6}" type="slidenum">
              <a:rPr lang="en-US" noProof="0" smtClean="0"/>
              <a:t>3</a:t>
            </a:fld>
            <a:endParaRPr lang="en-US" noProof="0"/>
          </a:p>
        </p:txBody>
      </p:sp>
    </p:spTree>
    <p:extLst>
      <p:ext uri="{BB962C8B-B14F-4D97-AF65-F5344CB8AC3E}">
        <p14:creationId xmlns:p14="http://schemas.microsoft.com/office/powerpoint/2010/main" val="16731309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24A615-C814-776A-3AB1-02ACCD80FD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7CC48-9347-9A0B-DC69-E47FB865F9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C990EE-4D45-FC09-856D-A7E567B9D52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F3F6803-F36A-87B1-3EF9-678C9BACDEE0}"/>
              </a:ext>
            </a:extLst>
          </p:cNvPr>
          <p:cNvSpPr>
            <a:spLocks noGrp="1"/>
          </p:cNvSpPr>
          <p:nvPr>
            <p:ph type="sldNum" sz="quarter" idx="5"/>
          </p:nvPr>
        </p:nvSpPr>
        <p:spPr/>
        <p:txBody>
          <a:bodyPr/>
          <a:lstStyle/>
          <a:p>
            <a:fld id="{DECDE012-9E2E-4477-8B5C-4E7D4E9BCBA6}" type="slidenum">
              <a:rPr lang="en-US" noProof="0" smtClean="0"/>
              <a:t>6</a:t>
            </a:fld>
            <a:endParaRPr lang="en-US" noProof="0"/>
          </a:p>
        </p:txBody>
      </p:sp>
    </p:spTree>
    <p:extLst>
      <p:ext uri="{BB962C8B-B14F-4D97-AF65-F5344CB8AC3E}">
        <p14:creationId xmlns:p14="http://schemas.microsoft.com/office/powerpoint/2010/main" val="40403747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00EB57-4D96-B369-ECF4-4E53C5793D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BF3EAB-3EE7-688B-AD38-FFC86ED5CE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E35A95-D816-834B-7666-64F7CE68EA6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1DC0DD6-6039-D31D-0205-8523EA5461F4}"/>
              </a:ext>
            </a:extLst>
          </p:cNvPr>
          <p:cNvSpPr>
            <a:spLocks noGrp="1"/>
          </p:cNvSpPr>
          <p:nvPr>
            <p:ph type="sldNum" sz="quarter" idx="5"/>
          </p:nvPr>
        </p:nvSpPr>
        <p:spPr/>
        <p:txBody>
          <a:bodyPr/>
          <a:lstStyle/>
          <a:p>
            <a:fld id="{DECDE012-9E2E-4477-8B5C-4E7D4E9BCBA6}" type="slidenum">
              <a:rPr lang="en-US" noProof="0" smtClean="0"/>
              <a:t>7</a:t>
            </a:fld>
            <a:endParaRPr lang="en-US" noProof="0"/>
          </a:p>
        </p:txBody>
      </p:sp>
    </p:spTree>
    <p:extLst>
      <p:ext uri="{BB962C8B-B14F-4D97-AF65-F5344CB8AC3E}">
        <p14:creationId xmlns:p14="http://schemas.microsoft.com/office/powerpoint/2010/main" val="26470641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A9255-4AE8-FED0-B0C5-DF39F54C94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27E013-4499-4E6C-979A-2160D1A406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9C2BC8-BF1C-55AE-19C8-9277DC7A6C3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E51FB01-1974-8A09-52E5-05054ABCDB04}"/>
              </a:ext>
            </a:extLst>
          </p:cNvPr>
          <p:cNvSpPr>
            <a:spLocks noGrp="1"/>
          </p:cNvSpPr>
          <p:nvPr>
            <p:ph type="sldNum" sz="quarter" idx="5"/>
          </p:nvPr>
        </p:nvSpPr>
        <p:spPr/>
        <p:txBody>
          <a:bodyPr/>
          <a:lstStyle/>
          <a:p>
            <a:fld id="{DECDE012-9E2E-4477-8B5C-4E7D4E9BCBA6}" type="slidenum">
              <a:rPr lang="en-US" noProof="0" smtClean="0"/>
              <a:t>8</a:t>
            </a:fld>
            <a:endParaRPr lang="en-US" noProof="0"/>
          </a:p>
        </p:txBody>
      </p:sp>
    </p:spTree>
    <p:extLst>
      <p:ext uri="{BB962C8B-B14F-4D97-AF65-F5344CB8AC3E}">
        <p14:creationId xmlns:p14="http://schemas.microsoft.com/office/powerpoint/2010/main" val="26043342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4247F4-4CCD-4AFE-61C3-459D3676D2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B47720-91CF-65CB-36C1-E243FC6E51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51D37D-36CE-D339-F9F9-12545A893BE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B157C6-ED36-B246-F8B1-3F4FEAD45046}"/>
              </a:ext>
            </a:extLst>
          </p:cNvPr>
          <p:cNvSpPr>
            <a:spLocks noGrp="1"/>
          </p:cNvSpPr>
          <p:nvPr>
            <p:ph type="sldNum" sz="quarter" idx="5"/>
          </p:nvPr>
        </p:nvSpPr>
        <p:spPr/>
        <p:txBody>
          <a:bodyPr/>
          <a:lstStyle/>
          <a:p>
            <a:fld id="{DECDE012-9E2E-4477-8B5C-4E7D4E9BCBA6}" type="slidenum">
              <a:rPr lang="en-US" smtClean="0"/>
              <a:t>16</a:t>
            </a:fld>
            <a:endParaRPr lang="en-US"/>
          </a:p>
        </p:txBody>
      </p:sp>
    </p:spTree>
    <p:extLst>
      <p:ext uri="{BB962C8B-B14F-4D97-AF65-F5344CB8AC3E}">
        <p14:creationId xmlns:p14="http://schemas.microsoft.com/office/powerpoint/2010/main" val="14111925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6B8029-33F3-9414-AD10-00871D91AA5D}"/>
              </a:ext>
            </a:extLst>
          </p:cNvPr>
          <p:cNvSpPr>
            <a:spLocks noGrp="1"/>
          </p:cNvSpPr>
          <p:nvPr>
            <p:ph type="ctrTitle"/>
          </p:nvPr>
        </p:nvSpPr>
        <p:spPr>
          <a:xfrm>
            <a:off x="2267712" y="1408176"/>
            <a:ext cx="6400800" cy="2387600"/>
          </a:xfrm>
        </p:spPr>
        <p:txBody>
          <a:bodyPr anchor="t">
            <a:normAutofit/>
          </a:bodyPr>
          <a:lstStyle>
            <a:lvl1pPr algn="l">
              <a:lnSpc>
                <a:spcPct val="80000"/>
              </a:lnSpc>
              <a:defRPr sz="7200" cap="all" baseline="0">
                <a:solidFill>
                  <a:schemeClr val="bg1"/>
                </a:solidFill>
              </a:defRPr>
            </a:lvl1pPr>
          </a:lstStyle>
          <a:p>
            <a:r>
              <a:rPr lang="en-US" dirty="0"/>
              <a:t>Click to edit Master title style</a:t>
            </a:r>
            <a:endParaRPr lang="en-PK" dirty="0"/>
          </a:p>
        </p:txBody>
      </p:sp>
      <p:sp>
        <p:nvSpPr>
          <p:cNvPr id="3" name="Subtitle 2">
            <a:extLst>
              <a:ext uri="{FF2B5EF4-FFF2-40B4-BE49-F238E27FC236}">
                <a16:creationId xmlns:a16="http://schemas.microsoft.com/office/drawing/2014/main" id="{4F32B008-64B6-378D-9C5D-DCC8DFEBC69E}"/>
              </a:ext>
            </a:extLst>
          </p:cNvPr>
          <p:cNvSpPr>
            <a:spLocks noGrp="1"/>
          </p:cNvSpPr>
          <p:nvPr>
            <p:ph type="subTitle" idx="1"/>
          </p:nvPr>
        </p:nvSpPr>
        <p:spPr>
          <a:xfrm>
            <a:off x="3867912" y="5047488"/>
            <a:ext cx="5486400" cy="384048"/>
          </a:xfrm>
        </p:spPr>
        <p:txBody>
          <a:bodyPr/>
          <a:lstStyle>
            <a:lvl1pPr marL="0" indent="0" algn="l">
              <a:lnSpc>
                <a:spcPct val="80000"/>
              </a:lnSpc>
              <a:spcBef>
                <a:spcPts val="0"/>
              </a:spcBef>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PK"/>
          </a:p>
        </p:txBody>
      </p:sp>
      <p:grpSp>
        <p:nvGrpSpPr>
          <p:cNvPr id="7" name="Group 6">
            <a:extLst>
              <a:ext uri="{FF2B5EF4-FFF2-40B4-BE49-F238E27FC236}">
                <a16:creationId xmlns:a16="http://schemas.microsoft.com/office/drawing/2014/main" id="{15444BA9-47A2-8EBA-F11F-AF833CBC1FB6}"/>
              </a:ext>
            </a:extLst>
          </p:cNvPr>
          <p:cNvGrpSpPr/>
          <p:nvPr userDrawn="1"/>
        </p:nvGrpSpPr>
        <p:grpSpPr>
          <a:xfrm>
            <a:off x="3979533" y="5801746"/>
            <a:ext cx="8221703" cy="0"/>
            <a:chOff x="3733800" y="5539861"/>
            <a:chExt cx="8221703" cy="0"/>
          </a:xfrm>
        </p:grpSpPr>
        <p:cxnSp>
          <p:nvCxnSpPr>
            <p:cNvPr id="8" name="Straight Connector 7">
              <a:extLst>
                <a:ext uri="{FF2B5EF4-FFF2-40B4-BE49-F238E27FC236}">
                  <a16:creationId xmlns:a16="http://schemas.microsoft.com/office/drawing/2014/main" id="{F7C7E957-5A54-C6BB-DBCA-B0A579E99122}"/>
                </a:ext>
              </a:extLst>
            </p:cNvPr>
            <p:cNvCxnSpPr>
              <a:cxnSpLocks/>
            </p:cNvCxnSpPr>
            <p:nvPr/>
          </p:nvCxnSpPr>
          <p:spPr>
            <a:xfrm>
              <a:off x="3733800" y="5539861"/>
              <a:ext cx="6054153" cy="0"/>
            </a:xfrm>
            <a:prstGeom prst="line">
              <a:avLst/>
            </a:prstGeom>
            <a:ln w="571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75792F5-3B57-83E5-2E85-1B67A64BF570}"/>
                </a:ext>
              </a:extLst>
            </p:cNvPr>
            <p:cNvCxnSpPr>
              <a:cxnSpLocks/>
            </p:cNvCxnSpPr>
            <p:nvPr/>
          </p:nvCxnSpPr>
          <p:spPr>
            <a:xfrm>
              <a:off x="9783803" y="5539861"/>
              <a:ext cx="2171700" cy="0"/>
            </a:xfrm>
            <a:prstGeom prst="line">
              <a:avLst/>
            </a:prstGeom>
            <a:ln w="5715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3806385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accent3">
            <a:lumMod val="60000"/>
            <a:lumOff val="4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703BBE-23DC-E951-32B6-0E91B8089184}"/>
              </a:ext>
            </a:extLst>
          </p:cNvPr>
          <p:cNvSpPr>
            <a:spLocks noGrp="1"/>
          </p:cNvSpPr>
          <p:nvPr>
            <p:ph type="title"/>
          </p:nvPr>
        </p:nvSpPr>
        <p:spPr>
          <a:xfrm>
            <a:off x="2295144" y="1463040"/>
            <a:ext cx="7498080" cy="704088"/>
          </a:xfrm>
        </p:spPr>
        <p:txBody>
          <a:bodyPr/>
          <a:lstStyle>
            <a:lvl1pPr>
              <a:defRPr sz="5000"/>
            </a:lvl1pPr>
          </a:lstStyle>
          <a:p>
            <a:r>
              <a:rPr lang="en-US" dirty="0"/>
              <a:t>Click to edit Master title style</a:t>
            </a:r>
            <a:endParaRPr lang="en-PK" dirty="0"/>
          </a:p>
        </p:txBody>
      </p:sp>
      <p:sp>
        <p:nvSpPr>
          <p:cNvPr id="3" name="Content Placeholder 2">
            <a:extLst>
              <a:ext uri="{FF2B5EF4-FFF2-40B4-BE49-F238E27FC236}">
                <a16:creationId xmlns:a16="http://schemas.microsoft.com/office/drawing/2014/main" id="{4110836A-7452-872A-28D0-081C1338DC63}"/>
              </a:ext>
            </a:extLst>
          </p:cNvPr>
          <p:cNvSpPr>
            <a:spLocks noGrp="1"/>
          </p:cNvSpPr>
          <p:nvPr>
            <p:ph idx="1"/>
          </p:nvPr>
        </p:nvSpPr>
        <p:spPr>
          <a:xfrm>
            <a:off x="2322576" y="2953512"/>
            <a:ext cx="7470648" cy="3296563"/>
          </a:xfrm>
        </p:spPr>
        <p:txBody>
          <a:bodyPr/>
          <a:lstStyle>
            <a:lvl1pPr marL="0" indent="0">
              <a:lnSpc>
                <a:spcPct val="100000"/>
              </a:lnSpc>
              <a:spcBef>
                <a:spcPts val="0"/>
              </a:spcBef>
              <a:spcAft>
                <a:spcPts val="1500"/>
              </a:spcAft>
              <a:buNone/>
              <a:defRPr sz="2200" b="1"/>
            </a:lvl1pPr>
            <a:lvl2pPr marL="0" indent="0">
              <a:lnSpc>
                <a:spcPct val="100000"/>
              </a:lnSpc>
              <a:spcBef>
                <a:spcPts val="0"/>
              </a:spcBef>
              <a:buNone/>
              <a:defRPr sz="1600" i="1"/>
            </a:lvl2pPr>
          </a:lstStyle>
          <a:p>
            <a:pPr lvl="0"/>
            <a:r>
              <a:rPr lang="en-US" dirty="0"/>
              <a:t>Click to edit Master text styles</a:t>
            </a:r>
          </a:p>
          <a:p>
            <a:pPr lvl="1"/>
            <a:r>
              <a:rPr lang="en-US" dirty="0"/>
              <a:t>Second level</a:t>
            </a:r>
          </a:p>
          <a:p>
            <a:pPr lvl="2"/>
            <a:endParaRPr lang="en-PK" dirty="0"/>
          </a:p>
        </p:txBody>
      </p:sp>
      <p:sp>
        <p:nvSpPr>
          <p:cNvPr id="5" name="Footer Placeholder 4">
            <a:extLst>
              <a:ext uri="{FF2B5EF4-FFF2-40B4-BE49-F238E27FC236}">
                <a16:creationId xmlns:a16="http://schemas.microsoft.com/office/drawing/2014/main" id="{35E39F35-2573-69E0-B17D-B4B0F85CE77B}"/>
              </a:ext>
            </a:extLst>
          </p:cNvPr>
          <p:cNvSpPr>
            <a:spLocks noGrp="1"/>
          </p:cNvSpPr>
          <p:nvPr>
            <p:ph type="ftr" sz="quarter" idx="11"/>
          </p:nvPr>
        </p:nvSpPr>
        <p:spPr/>
        <p:txBody>
          <a:bodyPr/>
          <a:lstStyle/>
          <a:p>
            <a:r>
              <a:rPr lang="en-US"/>
              <a:t>An implementation of a true random number generator</a:t>
            </a:r>
            <a:endParaRPr lang="en-PK"/>
          </a:p>
        </p:txBody>
      </p:sp>
      <p:sp>
        <p:nvSpPr>
          <p:cNvPr id="6" name="Slide Number Placeholder 5">
            <a:extLst>
              <a:ext uri="{FF2B5EF4-FFF2-40B4-BE49-F238E27FC236}">
                <a16:creationId xmlns:a16="http://schemas.microsoft.com/office/drawing/2014/main" id="{35B5CE41-241D-72CD-1C8F-006A477B5301}"/>
              </a:ext>
            </a:extLst>
          </p:cNvPr>
          <p:cNvSpPr>
            <a:spLocks noGrp="1"/>
          </p:cNvSpPr>
          <p:nvPr>
            <p:ph type="sldNum" sz="quarter" idx="12"/>
          </p:nvPr>
        </p:nvSpPr>
        <p:spPr/>
        <p:txBody>
          <a:bodyPr/>
          <a:lstStyle/>
          <a:p>
            <a:fld id="{5BFCF61C-3B18-4C03-8326-CC3B32D710C9}" type="slidenum">
              <a:rPr lang="en-US" noProof="0" smtClean="0"/>
              <a:t>‹#›</a:t>
            </a:fld>
            <a:endParaRPr lang="en-US" noProof="0"/>
          </a:p>
        </p:txBody>
      </p:sp>
      <p:grpSp>
        <p:nvGrpSpPr>
          <p:cNvPr id="7" name="Group 6">
            <a:extLst>
              <a:ext uri="{FF2B5EF4-FFF2-40B4-BE49-F238E27FC236}">
                <a16:creationId xmlns:a16="http://schemas.microsoft.com/office/drawing/2014/main" id="{52789DD7-8E5F-BCF6-7A1E-0AC33BD880AC}"/>
              </a:ext>
            </a:extLst>
          </p:cNvPr>
          <p:cNvGrpSpPr/>
          <p:nvPr userDrawn="1"/>
        </p:nvGrpSpPr>
        <p:grpSpPr>
          <a:xfrm>
            <a:off x="2400300" y="2535841"/>
            <a:ext cx="9801127" cy="821"/>
            <a:chOff x="2286319" y="5546299"/>
            <a:chExt cx="9801127" cy="903"/>
          </a:xfrm>
        </p:grpSpPr>
        <p:cxnSp>
          <p:nvCxnSpPr>
            <p:cNvPr id="8" name="Straight Connector 7">
              <a:extLst>
                <a:ext uri="{FF2B5EF4-FFF2-40B4-BE49-F238E27FC236}">
                  <a16:creationId xmlns:a16="http://schemas.microsoft.com/office/drawing/2014/main" id="{D610F86C-F479-AC03-216E-DD60112AC854}"/>
                </a:ext>
              </a:extLst>
            </p:cNvPr>
            <p:cNvCxnSpPr>
              <a:cxnSpLocks/>
            </p:cNvCxnSpPr>
            <p:nvPr/>
          </p:nvCxnSpPr>
          <p:spPr>
            <a:xfrm>
              <a:off x="2286319" y="5546299"/>
              <a:ext cx="7391400" cy="0"/>
            </a:xfrm>
            <a:prstGeom prst="line">
              <a:avLst/>
            </a:prstGeom>
            <a:ln w="571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A02E8F6-3623-48C2-4F02-9472E2977FB8}"/>
                </a:ext>
              </a:extLst>
            </p:cNvPr>
            <p:cNvCxnSpPr>
              <a:cxnSpLocks/>
            </p:cNvCxnSpPr>
            <p:nvPr/>
          </p:nvCxnSpPr>
          <p:spPr>
            <a:xfrm>
              <a:off x="9676016" y="5547202"/>
              <a:ext cx="2411430" cy="0"/>
            </a:xfrm>
            <a:prstGeom prst="line">
              <a:avLst/>
            </a:prstGeom>
            <a:ln w="57150">
              <a:solidFill>
                <a:schemeClr val="tx2"/>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682694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F39D39-DAD0-D550-D3C7-42F702A78C3A}"/>
              </a:ext>
            </a:extLst>
          </p:cNvPr>
          <p:cNvSpPr>
            <a:spLocks noGrp="1"/>
          </p:cNvSpPr>
          <p:nvPr>
            <p:ph type="title"/>
          </p:nvPr>
        </p:nvSpPr>
        <p:spPr>
          <a:xfrm>
            <a:off x="4056992" y="1709738"/>
            <a:ext cx="7290458" cy="2852737"/>
          </a:xfrm>
        </p:spPr>
        <p:txBody>
          <a:bodyPr anchor="b"/>
          <a:lstStyle>
            <a:lvl1pPr>
              <a:defRPr sz="6000">
                <a:solidFill>
                  <a:schemeClr val="bg1"/>
                </a:solidFill>
              </a:defRPr>
            </a:lvl1pPr>
          </a:lstStyle>
          <a:p>
            <a:r>
              <a:rPr lang="en-US" dirty="0"/>
              <a:t>Click to edit Master title style</a:t>
            </a:r>
            <a:endParaRPr lang="en-PK" dirty="0"/>
          </a:p>
        </p:txBody>
      </p:sp>
      <p:sp>
        <p:nvSpPr>
          <p:cNvPr id="3" name="Text Placeholder 2">
            <a:extLst>
              <a:ext uri="{FF2B5EF4-FFF2-40B4-BE49-F238E27FC236}">
                <a16:creationId xmlns:a16="http://schemas.microsoft.com/office/drawing/2014/main" id="{8E054DFA-4C17-2AA0-0E19-8D452B73AA20}"/>
              </a:ext>
            </a:extLst>
          </p:cNvPr>
          <p:cNvSpPr>
            <a:spLocks noGrp="1"/>
          </p:cNvSpPr>
          <p:nvPr>
            <p:ph type="body" idx="1"/>
          </p:nvPr>
        </p:nvSpPr>
        <p:spPr>
          <a:xfrm>
            <a:off x="4056992" y="4589463"/>
            <a:ext cx="7290457" cy="1500187"/>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grpSp>
        <p:nvGrpSpPr>
          <p:cNvPr id="7" name="Group 6">
            <a:extLst>
              <a:ext uri="{FF2B5EF4-FFF2-40B4-BE49-F238E27FC236}">
                <a16:creationId xmlns:a16="http://schemas.microsoft.com/office/drawing/2014/main" id="{AF8D5DED-A875-4BFE-015E-C29679EC468C}"/>
              </a:ext>
            </a:extLst>
          </p:cNvPr>
          <p:cNvGrpSpPr/>
          <p:nvPr userDrawn="1"/>
        </p:nvGrpSpPr>
        <p:grpSpPr>
          <a:xfrm>
            <a:off x="3979533" y="5801746"/>
            <a:ext cx="8221703" cy="0"/>
            <a:chOff x="3733800" y="5539861"/>
            <a:chExt cx="8221703" cy="0"/>
          </a:xfrm>
        </p:grpSpPr>
        <p:cxnSp>
          <p:nvCxnSpPr>
            <p:cNvPr id="8" name="Straight Connector 7">
              <a:extLst>
                <a:ext uri="{FF2B5EF4-FFF2-40B4-BE49-F238E27FC236}">
                  <a16:creationId xmlns:a16="http://schemas.microsoft.com/office/drawing/2014/main" id="{4ED54A14-B37E-AA5D-2F7D-4530DEF3C347}"/>
                </a:ext>
              </a:extLst>
            </p:cNvPr>
            <p:cNvCxnSpPr>
              <a:cxnSpLocks/>
            </p:cNvCxnSpPr>
            <p:nvPr/>
          </p:nvCxnSpPr>
          <p:spPr>
            <a:xfrm>
              <a:off x="3733800" y="5539861"/>
              <a:ext cx="6054153" cy="0"/>
            </a:xfrm>
            <a:prstGeom prst="line">
              <a:avLst/>
            </a:prstGeom>
            <a:ln w="571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611F7DB-0F8D-8E5A-0137-AD5E5B20C351}"/>
                </a:ext>
              </a:extLst>
            </p:cNvPr>
            <p:cNvCxnSpPr>
              <a:cxnSpLocks/>
            </p:cNvCxnSpPr>
            <p:nvPr/>
          </p:nvCxnSpPr>
          <p:spPr>
            <a:xfrm>
              <a:off x="9783803" y="5539861"/>
              <a:ext cx="2171700" cy="0"/>
            </a:xfrm>
            <a:prstGeom prst="line">
              <a:avLst/>
            </a:prstGeom>
            <a:ln w="5715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422719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two column dark">
    <p:bg>
      <p:bgPr>
        <a:solidFill>
          <a:schemeClr val="accent5"/>
        </a:solidFill>
        <a:effectLst/>
      </p:bgPr>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BA0C7E2C-83B2-58E9-DE90-AB1857F1A170}"/>
              </a:ext>
            </a:extLst>
          </p:cNvPr>
          <p:cNvSpPr>
            <a:spLocks noGrp="1"/>
          </p:cNvSpPr>
          <p:nvPr>
            <p:ph type="ftr" sz="quarter" idx="11"/>
          </p:nvPr>
        </p:nvSpPr>
        <p:spPr/>
        <p:txBody>
          <a:bodyPr/>
          <a:lstStyle/>
          <a:p>
            <a:r>
              <a:rPr lang="en-US" noProof="0"/>
              <a:t>An implementation of a true random number generator</a:t>
            </a:r>
          </a:p>
        </p:txBody>
      </p:sp>
      <p:sp>
        <p:nvSpPr>
          <p:cNvPr id="5" name="Slide Number Placeholder 4">
            <a:extLst>
              <a:ext uri="{FF2B5EF4-FFF2-40B4-BE49-F238E27FC236}">
                <a16:creationId xmlns:a16="http://schemas.microsoft.com/office/drawing/2014/main" id="{F487B4A1-AE7C-A6CC-7143-5EC918D662F7}"/>
              </a:ext>
            </a:extLst>
          </p:cNvPr>
          <p:cNvSpPr>
            <a:spLocks noGrp="1"/>
          </p:cNvSpPr>
          <p:nvPr>
            <p:ph type="sldNum" sz="quarter" idx="12"/>
          </p:nvPr>
        </p:nvSpPr>
        <p:spPr/>
        <p:txBody>
          <a:bodyPr/>
          <a:lstStyle/>
          <a:p>
            <a:fld id="{5BFCF61C-3B18-4C03-8326-CC3B32D710C9}" type="slidenum">
              <a:rPr lang="en-US" noProof="0" smtClean="0"/>
              <a:pPr/>
              <a:t>‹#›</a:t>
            </a:fld>
            <a:endParaRPr lang="en-US" noProof="0"/>
          </a:p>
        </p:txBody>
      </p:sp>
      <p:sp>
        <p:nvSpPr>
          <p:cNvPr id="6" name="Rectangle 5">
            <a:extLst>
              <a:ext uri="{FF2B5EF4-FFF2-40B4-BE49-F238E27FC236}">
                <a16:creationId xmlns:a16="http://schemas.microsoft.com/office/drawing/2014/main" id="{D62C33EA-A741-FA13-451C-6F35902CBDD0}"/>
              </a:ext>
            </a:extLst>
          </p:cNvPr>
          <p:cNvSpPr/>
          <p:nvPr userDrawn="1"/>
        </p:nvSpPr>
        <p:spPr>
          <a:xfrm>
            <a:off x="0" y="722376"/>
            <a:ext cx="12192000" cy="54132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p>
        </p:txBody>
      </p:sp>
      <p:cxnSp>
        <p:nvCxnSpPr>
          <p:cNvPr id="7" name="Straight Connector 6">
            <a:extLst>
              <a:ext uri="{FF2B5EF4-FFF2-40B4-BE49-F238E27FC236}">
                <a16:creationId xmlns:a16="http://schemas.microsoft.com/office/drawing/2014/main" id="{01882412-D2D4-9CF0-CD39-2EAE79B8A310}"/>
              </a:ext>
            </a:extLst>
          </p:cNvPr>
          <p:cNvCxnSpPr>
            <a:cxnSpLocks/>
          </p:cNvCxnSpPr>
          <p:nvPr userDrawn="1"/>
        </p:nvCxnSpPr>
        <p:spPr>
          <a:xfrm>
            <a:off x="4267200" y="2523744"/>
            <a:ext cx="7924800" cy="883"/>
          </a:xfrm>
          <a:prstGeom prst="line">
            <a:avLst/>
          </a:prstGeom>
          <a:ln w="5715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229B6F2-011B-853F-5BA1-FA1722B6E1C8}"/>
              </a:ext>
            </a:extLst>
          </p:cNvPr>
          <p:cNvCxnSpPr>
            <a:cxnSpLocks/>
          </p:cNvCxnSpPr>
          <p:nvPr userDrawn="1"/>
        </p:nvCxnSpPr>
        <p:spPr>
          <a:xfrm>
            <a:off x="723384" y="2523744"/>
            <a:ext cx="3543816" cy="0"/>
          </a:xfrm>
          <a:prstGeom prst="line">
            <a:avLst/>
          </a:prstGeom>
          <a:ln w="57150">
            <a:solidFill>
              <a:schemeClr val="accent5"/>
            </a:solidFill>
          </a:ln>
        </p:spPr>
        <p:style>
          <a:lnRef idx="1">
            <a:schemeClr val="accent1"/>
          </a:lnRef>
          <a:fillRef idx="0">
            <a:schemeClr val="accent1"/>
          </a:fillRef>
          <a:effectRef idx="0">
            <a:schemeClr val="accent1"/>
          </a:effectRef>
          <a:fontRef idx="minor">
            <a:schemeClr val="tx1"/>
          </a:fontRef>
        </p:style>
      </p:cxnSp>
      <p:sp>
        <p:nvSpPr>
          <p:cNvPr id="9" name="Title 8">
            <a:extLst>
              <a:ext uri="{FF2B5EF4-FFF2-40B4-BE49-F238E27FC236}">
                <a16:creationId xmlns:a16="http://schemas.microsoft.com/office/drawing/2014/main" id="{A78715BA-7A66-D464-AAEF-141988B8718B}"/>
              </a:ext>
            </a:extLst>
          </p:cNvPr>
          <p:cNvSpPr>
            <a:spLocks noGrp="1"/>
          </p:cNvSpPr>
          <p:nvPr>
            <p:ph type="title"/>
          </p:nvPr>
        </p:nvSpPr>
        <p:spPr>
          <a:xfrm>
            <a:off x="603504" y="1463040"/>
            <a:ext cx="10515600" cy="575321"/>
          </a:xfrm>
        </p:spPr>
        <p:txBody>
          <a:bodyPr/>
          <a:lstStyle>
            <a:lvl1pPr>
              <a:defRPr sz="5000">
                <a:solidFill>
                  <a:schemeClr val="bg1"/>
                </a:solidFill>
              </a:defRPr>
            </a:lvl1pPr>
          </a:lstStyle>
          <a:p>
            <a:r>
              <a:rPr lang="en-US" noProof="0"/>
              <a:t>Click to edit Master title style</a:t>
            </a:r>
          </a:p>
        </p:txBody>
      </p:sp>
      <p:sp>
        <p:nvSpPr>
          <p:cNvPr id="11" name="Text Placeholder 10">
            <a:extLst>
              <a:ext uri="{FF2B5EF4-FFF2-40B4-BE49-F238E27FC236}">
                <a16:creationId xmlns:a16="http://schemas.microsoft.com/office/drawing/2014/main" id="{3D0BF4BF-3C7C-C67F-B6EE-805EC95EF8CA}"/>
              </a:ext>
            </a:extLst>
          </p:cNvPr>
          <p:cNvSpPr>
            <a:spLocks noGrp="1"/>
          </p:cNvSpPr>
          <p:nvPr>
            <p:ph type="body" sz="quarter" idx="13"/>
          </p:nvPr>
        </p:nvSpPr>
        <p:spPr>
          <a:xfrm>
            <a:off x="649224" y="2971800"/>
            <a:ext cx="4828032" cy="490538"/>
          </a:xfrm>
        </p:spPr>
        <p:txBody>
          <a:bodyPr/>
          <a:lstStyle>
            <a:lvl1pPr marL="0" indent="0">
              <a:lnSpc>
                <a:spcPct val="100000"/>
              </a:lnSpc>
              <a:spcBef>
                <a:spcPts val="0"/>
              </a:spcBef>
              <a:buNone/>
              <a:defRPr sz="2200" b="1">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12" name="Text Placeholder 10">
            <a:extLst>
              <a:ext uri="{FF2B5EF4-FFF2-40B4-BE49-F238E27FC236}">
                <a16:creationId xmlns:a16="http://schemas.microsoft.com/office/drawing/2014/main" id="{BA37E40B-957E-C00E-3B34-1B67D341A771}"/>
              </a:ext>
            </a:extLst>
          </p:cNvPr>
          <p:cNvSpPr>
            <a:spLocks noGrp="1"/>
          </p:cNvSpPr>
          <p:nvPr>
            <p:ph type="body" sz="quarter" idx="14"/>
          </p:nvPr>
        </p:nvSpPr>
        <p:spPr>
          <a:xfrm>
            <a:off x="6236208" y="2971800"/>
            <a:ext cx="4828032" cy="490538"/>
          </a:xfrm>
        </p:spPr>
        <p:txBody>
          <a:bodyPr/>
          <a:lstStyle>
            <a:lvl1pPr marL="0" indent="0">
              <a:lnSpc>
                <a:spcPct val="100000"/>
              </a:lnSpc>
              <a:spcBef>
                <a:spcPts val="0"/>
              </a:spcBef>
              <a:buNone/>
              <a:defRPr sz="2200" b="1">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14" name="Text Placeholder 13">
            <a:extLst>
              <a:ext uri="{FF2B5EF4-FFF2-40B4-BE49-F238E27FC236}">
                <a16:creationId xmlns:a16="http://schemas.microsoft.com/office/drawing/2014/main" id="{EF15CD76-2DD5-DB8A-37D3-6098A50870D0}"/>
              </a:ext>
            </a:extLst>
          </p:cNvPr>
          <p:cNvSpPr>
            <a:spLocks noGrp="1"/>
          </p:cNvSpPr>
          <p:nvPr>
            <p:ph type="body" sz="quarter" idx="15"/>
          </p:nvPr>
        </p:nvSpPr>
        <p:spPr>
          <a:xfrm>
            <a:off x="365760" y="3401568"/>
            <a:ext cx="5111496" cy="1682750"/>
          </a:xfrm>
        </p:spPr>
        <p:txBody>
          <a:bodyPr/>
          <a:lstStyle>
            <a:lvl1pPr marL="283464" indent="-283464">
              <a:lnSpc>
                <a:spcPct val="150000"/>
              </a:lnSpc>
              <a:spcBef>
                <a:spcPts val="0"/>
              </a:spcBef>
              <a:defRPr sz="1600">
                <a:solidFill>
                  <a:schemeClr val="bg1"/>
                </a:solidFill>
              </a:defRPr>
            </a:lvl1pPr>
            <a:lvl2pPr indent="-283464">
              <a:lnSpc>
                <a:spcPct val="150000"/>
              </a:lnSpc>
              <a:spcBef>
                <a:spcPts val="0"/>
              </a:spcBef>
              <a:defRPr sz="1600">
                <a:solidFill>
                  <a:schemeClr val="bg1"/>
                </a:solidFill>
              </a:defRPr>
            </a:lvl2pPr>
            <a:lvl3pPr indent="-283464">
              <a:lnSpc>
                <a:spcPct val="150000"/>
              </a:lnSpc>
              <a:spcBef>
                <a:spcPts val="0"/>
              </a:spcBef>
              <a:defRPr sz="1600">
                <a:solidFill>
                  <a:schemeClr val="bg1"/>
                </a:solidFill>
              </a:defRPr>
            </a:lvl3pPr>
            <a:lvl4pPr indent="-283464">
              <a:lnSpc>
                <a:spcPct val="150000"/>
              </a:lnSpc>
              <a:spcBef>
                <a:spcPts val="0"/>
              </a:spcBef>
              <a:defRPr sz="1600">
                <a:solidFill>
                  <a:schemeClr val="bg1"/>
                </a:solidFill>
              </a:defRPr>
            </a:lvl4pPr>
            <a:lvl5pPr indent="-283464">
              <a:lnSpc>
                <a:spcPct val="150000"/>
              </a:lnSpc>
              <a:spcBef>
                <a:spcPts val="0"/>
              </a:spcBef>
              <a:defRPr sz="16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5" name="Text Placeholder 13">
            <a:extLst>
              <a:ext uri="{FF2B5EF4-FFF2-40B4-BE49-F238E27FC236}">
                <a16:creationId xmlns:a16="http://schemas.microsoft.com/office/drawing/2014/main" id="{57A044E0-660B-4002-E13C-F00498E49782}"/>
              </a:ext>
            </a:extLst>
          </p:cNvPr>
          <p:cNvSpPr>
            <a:spLocks noGrp="1"/>
          </p:cNvSpPr>
          <p:nvPr>
            <p:ph type="body" sz="quarter" idx="16"/>
          </p:nvPr>
        </p:nvSpPr>
        <p:spPr>
          <a:xfrm>
            <a:off x="5943600" y="3401568"/>
            <a:ext cx="5111496" cy="1682750"/>
          </a:xfrm>
        </p:spPr>
        <p:txBody>
          <a:bodyPr/>
          <a:lstStyle>
            <a:lvl1pPr marL="283464" indent="-283464">
              <a:lnSpc>
                <a:spcPct val="150000"/>
              </a:lnSpc>
              <a:spcBef>
                <a:spcPts val="0"/>
              </a:spcBef>
              <a:defRPr sz="1600">
                <a:solidFill>
                  <a:schemeClr val="bg1"/>
                </a:solidFill>
              </a:defRPr>
            </a:lvl1pPr>
            <a:lvl2pPr indent="-283464">
              <a:lnSpc>
                <a:spcPct val="150000"/>
              </a:lnSpc>
              <a:spcBef>
                <a:spcPts val="0"/>
              </a:spcBef>
              <a:defRPr sz="1600">
                <a:solidFill>
                  <a:schemeClr val="bg1"/>
                </a:solidFill>
              </a:defRPr>
            </a:lvl2pPr>
            <a:lvl3pPr indent="-283464">
              <a:lnSpc>
                <a:spcPct val="150000"/>
              </a:lnSpc>
              <a:spcBef>
                <a:spcPts val="0"/>
              </a:spcBef>
              <a:defRPr sz="1600">
                <a:solidFill>
                  <a:schemeClr val="bg1"/>
                </a:solidFill>
              </a:defRPr>
            </a:lvl3pPr>
            <a:lvl4pPr indent="-283464">
              <a:lnSpc>
                <a:spcPct val="150000"/>
              </a:lnSpc>
              <a:spcBef>
                <a:spcPts val="0"/>
              </a:spcBef>
              <a:defRPr sz="1600">
                <a:solidFill>
                  <a:schemeClr val="bg1"/>
                </a:solidFill>
              </a:defRPr>
            </a:lvl4pPr>
            <a:lvl5pPr indent="-283464">
              <a:lnSpc>
                <a:spcPct val="150000"/>
              </a:lnSpc>
              <a:spcBef>
                <a:spcPts val="0"/>
              </a:spcBef>
              <a:defRPr sz="16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22896112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two column light">
    <p:bg>
      <p:bgPr>
        <a:solidFill>
          <a:schemeClr val="accent6"/>
        </a:solidFill>
        <a:effectLst/>
      </p:bgPr>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BA0C7E2C-83B2-58E9-DE90-AB1857F1A170}"/>
              </a:ext>
            </a:extLst>
          </p:cNvPr>
          <p:cNvSpPr>
            <a:spLocks noGrp="1"/>
          </p:cNvSpPr>
          <p:nvPr>
            <p:ph type="ftr" sz="quarter" idx="11"/>
          </p:nvPr>
        </p:nvSpPr>
        <p:spPr/>
        <p:txBody>
          <a:bodyPr/>
          <a:lstStyle/>
          <a:p>
            <a:r>
              <a:rPr lang="en-US" noProof="0"/>
              <a:t>An implementation of a true random number generator</a:t>
            </a:r>
          </a:p>
        </p:txBody>
      </p:sp>
      <p:sp>
        <p:nvSpPr>
          <p:cNvPr id="5" name="Slide Number Placeholder 4">
            <a:extLst>
              <a:ext uri="{FF2B5EF4-FFF2-40B4-BE49-F238E27FC236}">
                <a16:creationId xmlns:a16="http://schemas.microsoft.com/office/drawing/2014/main" id="{F487B4A1-AE7C-A6CC-7143-5EC918D662F7}"/>
              </a:ext>
            </a:extLst>
          </p:cNvPr>
          <p:cNvSpPr>
            <a:spLocks noGrp="1"/>
          </p:cNvSpPr>
          <p:nvPr>
            <p:ph type="sldNum" sz="quarter" idx="12"/>
          </p:nvPr>
        </p:nvSpPr>
        <p:spPr/>
        <p:txBody>
          <a:bodyPr/>
          <a:lstStyle/>
          <a:p>
            <a:fld id="{5BFCF61C-3B18-4C03-8326-CC3B32D710C9}" type="slidenum">
              <a:rPr lang="en-US" noProof="0" smtClean="0"/>
              <a:pPr/>
              <a:t>‹#›</a:t>
            </a:fld>
            <a:endParaRPr lang="en-US" noProof="0"/>
          </a:p>
        </p:txBody>
      </p:sp>
      <p:sp>
        <p:nvSpPr>
          <p:cNvPr id="6" name="Rectangle 5">
            <a:extLst>
              <a:ext uri="{FF2B5EF4-FFF2-40B4-BE49-F238E27FC236}">
                <a16:creationId xmlns:a16="http://schemas.microsoft.com/office/drawing/2014/main" id="{D62C33EA-A741-FA13-451C-6F35902CBDD0}"/>
              </a:ext>
            </a:extLst>
          </p:cNvPr>
          <p:cNvSpPr/>
          <p:nvPr userDrawn="1"/>
        </p:nvSpPr>
        <p:spPr>
          <a:xfrm>
            <a:off x="0" y="722376"/>
            <a:ext cx="12192000" cy="541324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9" name="Title 8">
            <a:extLst>
              <a:ext uri="{FF2B5EF4-FFF2-40B4-BE49-F238E27FC236}">
                <a16:creationId xmlns:a16="http://schemas.microsoft.com/office/drawing/2014/main" id="{A78715BA-7A66-D464-AAEF-141988B8718B}"/>
              </a:ext>
            </a:extLst>
          </p:cNvPr>
          <p:cNvSpPr>
            <a:spLocks noGrp="1"/>
          </p:cNvSpPr>
          <p:nvPr>
            <p:ph type="title"/>
          </p:nvPr>
        </p:nvSpPr>
        <p:spPr>
          <a:xfrm>
            <a:off x="603504" y="1463040"/>
            <a:ext cx="10515600" cy="575321"/>
          </a:xfrm>
        </p:spPr>
        <p:txBody>
          <a:bodyPr/>
          <a:lstStyle>
            <a:lvl1pPr>
              <a:defRPr sz="5000">
                <a:solidFill>
                  <a:schemeClr val="tx2"/>
                </a:solidFill>
              </a:defRPr>
            </a:lvl1pPr>
          </a:lstStyle>
          <a:p>
            <a:r>
              <a:rPr lang="en-US" noProof="0"/>
              <a:t>Click to edit Master title style</a:t>
            </a:r>
          </a:p>
        </p:txBody>
      </p:sp>
      <p:sp>
        <p:nvSpPr>
          <p:cNvPr id="11" name="Text Placeholder 10">
            <a:extLst>
              <a:ext uri="{FF2B5EF4-FFF2-40B4-BE49-F238E27FC236}">
                <a16:creationId xmlns:a16="http://schemas.microsoft.com/office/drawing/2014/main" id="{3D0BF4BF-3C7C-C67F-B6EE-805EC95EF8CA}"/>
              </a:ext>
            </a:extLst>
          </p:cNvPr>
          <p:cNvSpPr>
            <a:spLocks noGrp="1"/>
          </p:cNvSpPr>
          <p:nvPr>
            <p:ph type="body" sz="quarter" idx="13"/>
          </p:nvPr>
        </p:nvSpPr>
        <p:spPr>
          <a:xfrm>
            <a:off x="649224" y="2971800"/>
            <a:ext cx="4828032" cy="490538"/>
          </a:xfrm>
        </p:spPr>
        <p:txBody>
          <a:bodyPr/>
          <a:lstStyle>
            <a:lvl1pPr marL="0" indent="0">
              <a:lnSpc>
                <a:spcPct val="100000"/>
              </a:lnSpc>
              <a:spcBef>
                <a:spcPts val="0"/>
              </a:spcBef>
              <a:buNone/>
              <a:defRPr sz="2200" b="1">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12" name="Text Placeholder 10">
            <a:extLst>
              <a:ext uri="{FF2B5EF4-FFF2-40B4-BE49-F238E27FC236}">
                <a16:creationId xmlns:a16="http://schemas.microsoft.com/office/drawing/2014/main" id="{BA37E40B-957E-C00E-3B34-1B67D341A771}"/>
              </a:ext>
            </a:extLst>
          </p:cNvPr>
          <p:cNvSpPr>
            <a:spLocks noGrp="1"/>
          </p:cNvSpPr>
          <p:nvPr>
            <p:ph type="body" sz="quarter" idx="14"/>
          </p:nvPr>
        </p:nvSpPr>
        <p:spPr>
          <a:xfrm>
            <a:off x="6236208" y="2971800"/>
            <a:ext cx="4828032" cy="490538"/>
          </a:xfrm>
        </p:spPr>
        <p:txBody>
          <a:bodyPr/>
          <a:lstStyle>
            <a:lvl1pPr marL="0" indent="0">
              <a:lnSpc>
                <a:spcPct val="100000"/>
              </a:lnSpc>
              <a:spcBef>
                <a:spcPts val="0"/>
              </a:spcBef>
              <a:buNone/>
              <a:defRPr sz="2200" b="1">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14" name="Text Placeholder 13">
            <a:extLst>
              <a:ext uri="{FF2B5EF4-FFF2-40B4-BE49-F238E27FC236}">
                <a16:creationId xmlns:a16="http://schemas.microsoft.com/office/drawing/2014/main" id="{EF15CD76-2DD5-DB8A-37D3-6098A50870D0}"/>
              </a:ext>
            </a:extLst>
          </p:cNvPr>
          <p:cNvSpPr>
            <a:spLocks noGrp="1"/>
          </p:cNvSpPr>
          <p:nvPr>
            <p:ph type="body" sz="quarter" idx="15"/>
          </p:nvPr>
        </p:nvSpPr>
        <p:spPr>
          <a:xfrm>
            <a:off x="365760" y="3401568"/>
            <a:ext cx="4754880" cy="1682750"/>
          </a:xfrm>
        </p:spPr>
        <p:txBody>
          <a:bodyPr/>
          <a:lstStyle>
            <a:lvl1pPr marL="283464" indent="-283464">
              <a:lnSpc>
                <a:spcPct val="150000"/>
              </a:lnSpc>
              <a:spcBef>
                <a:spcPts val="0"/>
              </a:spcBef>
              <a:defRPr sz="1600">
                <a:solidFill>
                  <a:schemeClr val="tx2"/>
                </a:solidFill>
              </a:defRPr>
            </a:lvl1pPr>
            <a:lvl2pPr indent="-283464">
              <a:lnSpc>
                <a:spcPct val="150000"/>
              </a:lnSpc>
              <a:spcBef>
                <a:spcPts val="0"/>
              </a:spcBef>
              <a:defRPr sz="1600">
                <a:solidFill>
                  <a:schemeClr val="tx2"/>
                </a:solidFill>
              </a:defRPr>
            </a:lvl2pPr>
            <a:lvl3pPr indent="-283464">
              <a:lnSpc>
                <a:spcPct val="150000"/>
              </a:lnSpc>
              <a:spcBef>
                <a:spcPts val="0"/>
              </a:spcBef>
              <a:defRPr sz="1600">
                <a:solidFill>
                  <a:schemeClr val="tx2"/>
                </a:solidFill>
              </a:defRPr>
            </a:lvl3pPr>
            <a:lvl4pPr indent="-283464">
              <a:lnSpc>
                <a:spcPct val="150000"/>
              </a:lnSpc>
              <a:spcBef>
                <a:spcPts val="0"/>
              </a:spcBef>
              <a:defRPr sz="1600">
                <a:solidFill>
                  <a:schemeClr val="tx2"/>
                </a:solidFill>
              </a:defRPr>
            </a:lvl4pPr>
            <a:lvl5pPr indent="-283464">
              <a:lnSpc>
                <a:spcPct val="150000"/>
              </a:lnSpc>
              <a:spcBef>
                <a:spcPts val="0"/>
              </a:spcBef>
              <a:defRPr sz="1600">
                <a:solidFill>
                  <a:schemeClr val="tx2"/>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5" name="Text Placeholder 13">
            <a:extLst>
              <a:ext uri="{FF2B5EF4-FFF2-40B4-BE49-F238E27FC236}">
                <a16:creationId xmlns:a16="http://schemas.microsoft.com/office/drawing/2014/main" id="{57A044E0-660B-4002-E13C-F00498E49782}"/>
              </a:ext>
            </a:extLst>
          </p:cNvPr>
          <p:cNvSpPr>
            <a:spLocks noGrp="1"/>
          </p:cNvSpPr>
          <p:nvPr>
            <p:ph type="body" sz="quarter" idx="16"/>
          </p:nvPr>
        </p:nvSpPr>
        <p:spPr>
          <a:xfrm>
            <a:off x="5943600" y="3401568"/>
            <a:ext cx="4754880" cy="1682750"/>
          </a:xfrm>
        </p:spPr>
        <p:txBody>
          <a:bodyPr/>
          <a:lstStyle>
            <a:lvl1pPr marL="283464" indent="-283464">
              <a:lnSpc>
                <a:spcPct val="150000"/>
              </a:lnSpc>
              <a:spcBef>
                <a:spcPts val="0"/>
              </a:spcBef>
              <a:defRPr sz="1600">
                <a:solidFill>
                  <a:schemeClr val="tx2"/>
                </a:solidFill>
              </a:defRPr>
            </a:lvl1pPr>
            <a:lvl2pPr indent="-283464">
              <a:lnSpc>
                <a:spcPct val="150000"/>
              </a:lnSpc>
              <a:spcBef>
                <a:spcPts val="0"/>
              </a:spcBef>
              <a:defRPr sz="1600">
                <a:solidFill>
                  <a:schemeClr val="tx2"/>
                </a:solidFill>
              </a:defRPr>
            </a:lvl2pPr>
            <a:lvl3pPr indent="-283464">
              <a:lnSpc>
                <a:spcPct val="150000"/>
              </a:lnSpc>
              <a:spcBef>
                <a:spcPts val="0"/>
              </a:spcBef>
              <a:defRPr sz="1600">
                <a:solidFill>
                  <a:schemeClr val="tx2"/>
                </a:solidFill>
              </a:defRPr>
            </a:lvl3pPr>
            <a:lvl4pPr indent="-283464">
              <a:lnSpc>
                <a:spcPct val="150000"/>
              </a:lnSpc>
              <a:spcBef>
                <a:spcPts val="0"/>
              </a:spcBef>
              <a:defRPr sz="1600">
                <a:solidFill>
                  <a:schemeClr val="tx2"/>
                </a:solidFill>
              </a:defRPr>
            </a:lvl4pPr>
            <a:lvl5pPr indent="-283464">
              <a:lnSpc>
                <a:spcPct val="150000"/>
              </a:lnSpc>
              <a:spcBef>
                <a:spcPts val="0"/>
              </a:spcBef>
              <a:defRPr sz="1600">
                <a:solidFill>
                  <a:schemeClr val="tx2"/>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grpSp>
        <p:nvGrpSpPr>
          <p:cNvPr id="13" name="Group 12">
            <a:extLst>
              <a:ext uri="{FF2B5EF4-FFF2-40B4-BE49-F238E27FC236}">
                <a16:creationId xmlns:a16="http://schemas.microsoft.com/office/drawing/2014/main" id="{4ED40495-D9DB-AA87-4474-68DA5D8CA88C}"/>
              </a:ext>
            </a:extLst>
          </p:cNvPr>
          <p:cNvGrpSpPr/>
          <p:nvPr userDrawn="1"/>
        </p:nvGrpSpPr>
        <p:grpSpPr>
          <a:xfrm rot="10800000">
            <a:off x="726958" y="2521655"/>
            <a:ext cx="11480808" cy="1"/>
            <a:chOff x="2077471" y="5539116"/>
            <a:chExt cx="11480808" cy="1"/>
          </a:xfrm>
        </p:grpSpPr>
        <p:cxnSp>
          <p:nvCxnSpPr>
            <p:cNvPr id="16" name="Straight Connector 15">
              <a:extLst>
                <a:ext uri="{FF2B5EF4-FFF2-40B4-BE49-F238E27FC236}">
                  <a16:creationId xmlns:a16="http://schemas.microsoft.com/office/drawing/2014/main" id="{A15A6649-BE77-6F3F-DF74-0045E0AC6025}"/>
                </a:ext>
              </a:extLst>
            </p:cNvPr>
            <p:cNvCxnSpPr>
              <a:cxnSpLocks/>
            </p:cNvCxnSpPr>
            <p:nvPr/>
          </p:nvCxnSpPr>
          <p:spPr>
            <a:xfrm>
              <a:off x="2077471" y="5539116"/>
              <a:ext cx="4755396" cy="0"/>
            </a:xfrm>
            <a:prstGeom prst="line">
              <a:avLst/>
            </a:prstGeom>
            <a:ln w="5715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BEF33DD1-C51F-9BE1-2F97-D4025B3E653D}"/>
                </a:ext>
              </a:extLst>
            </p:cNvPr>
            <p:cNvCxnSpPr>
              <a:cxnSpLocks/>
            </p:cNvCxnSpPr>
            <p:nvPr/>
          </p:nvCxnSpPr>
          <p:spPr>
            <a:xfrm>
              <a:off x="6816103" y="5539117"/>
              <a:ext cx="6742176" cy="0"/>
            </a:xfrm>
            <a:prstGeom prst="line">
              <a:avLst/>
            </a:prstGeom>
            <a:ln w="5715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058746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dark band">
    <p:bg>
      <p:bgPr>
        <a:solidFill>
          <a:schemeClr val="accent5"/>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6966E69F-7113-AC99-F7E1-A44B7D64DEF3}"/>
              </a:ext>
            </a:extLst>
          </p:cNvPr>
          <p:cNvSpPr/>
          <p:nvPr userDrawn="1"/>
        </p:nvSpPr>
        <p:spPr>
          <a:xfrm>
            <a:off x="0" y="0"/>
            <a:ext cx="12192000" cy="304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P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noProof="0"/>
          </a:p>
        </p:txBody>
      </p:sp>
      <p:sp>
        <p:nvSpPr>
          <p:cNvPr id="4" name="Footer Placeholder 3">
            <a:extLst>
              <a:ext uri="{FF2B5EF4-FFF2-40B4-BE49-F238E27FC236}">
                <a16:creationId xmlns:a16="http://schemas.microsoft.com/office/drawing/2014/main" id="{BA0C7E2C-83B2-58E9-DE90-AB1857F1A170}"/>
              </a:ext>
            </a:extLst>
          </p:cNvPr>
          <p:cNvSpPr>
            <a:spLocks noGrp="1"/>
          </p:cNvSpPr>
          <p:nvPr>
            <p:ph type="ftr" sz="quarter" idx="11"/>
          </p:nvPr>
        </p:nvSpPr>
        <p:spPr/>
        <p:txBody>
          <a:bodyPr/>
          <a:lstStyle>
            <a:lvl1pPr>
              <a:defRPr>
                <a:solidFill>
                  <a:schemeClr val="accent5"/>
                </a:solidFill>
              </a:defRPr>
            </a:lvl1pPr>
          </a:lstStyle>
          <a:p>
            <a:r>
              <a:rPr lang="en-US" noProof="0"/>
              <a:t>An implementation of a true random number generator</a:t>
            </a:r>
          </a:p>
        </p:txBody>
      </p:sp>
      <p:sp>
        <p:nvSpPr>
          <p:cNvPr id="5" name="Slide Number Placeholder 4">
            <a:extLst>
              <a:ext uri="{FF2B5EF4-FFF2-40B4-BE49-F238E27FC236}">
                <a16:creationId xmlns:a16="http://schemas.microsoft.com/office/drawing/2014/main" id="{F487B4A1-AE7C-A6CC-7143-5EC918D662F7}"/>
              </a:ext>
            </a:extLst>
          </p:cNvPr>
          <p:cNvSpPr>
            <a:spLocks noGrp="1"/>
          </p:cNvSpPr>
          <p:nvPr>
            <p:ph type="sldNum" sz="quarter" idx="12"/>
          </p:nvPr>
        </p:nvSpPr>
        <p:spPr/>
        <p:txBody>
          <a:bodyPr/>
          <a:lstStyle>
            <a:lvl1pPr>
              <a:defRPr>
                <a:solidFill>
                  <a:schemeClr val="accent5"/>
                </a:solidFill>
              </a:defRPr>
            </a:lvl1pPr>
          </a:lstStyle>
          <a:p>
            <a:fld id="{5BFCF61C-3B18-4C03-8326-CC3B32D710C9}" type="slidenum">
              <a:rPr lang="en-US" noProof="0" smtClean="0"/>
              <a:pPr/>
              <a:t>‹#›</a:t>
            </a:fld>
            <a:endParaRPr lang="en-US" noProof="0"/>
          </a:p>
        </p:txBody>
      </p:sp>
      <p:sp>
        <p:nvSpPr>
          <p:cNvPr id="9" name="Title 8">
            <a:extLst>
              <a:ext uri="{FF2B5EF4-FFF2-40B4-BE49-F238E27FC236}">
                <a16:creationId xmlns:a16="http://schemas.microsoft.com/office/drawing/2014/main" id="{A78715BA-7A66-D464-AAEF-141988B8718B}"/>
              </a:ext>
            </a:extLst>
          </p:cNvPr>
          <p:cNvSpPr>
            <a:spLocks noGrp="1"/>
          </p:cNvSpPr>
          <p:nvPr>
            <p:ph type="title"/>
          </p:nvPr>
        </p:nvSpPr>
        <p:spPr>
          <a:xfrm>
            <a:off x="603504" y="1463040"/>
            <a:ext cx="10515600" cy="575321"/>
          </a:xfrm>
        </p:spPr>
        <p:txBody>
          <a:bodyPr/>
          <a:lstStyle>
            <a:lvl1pPr>
              <a:defRPr sz="5000">
                <a:solidFill>
                  <a:schemeClr val="accent5"/>
                </a:solidFill>
              </a:defRPr>
            </a:lvl1pPr>
          </a:lstStyle>
          <a:p>
            <a:r>
              <a:rPr lang="en-US" noProof="0"/>
              <a:t>Click to edit Master title style</a:t>
            </a:r>
          </a:p>
        </p:txBody>
      </p:sp>
      <p:sp>
        <p:nvSpPr>
          <p:cNvPr id="11" name="Text Placeholder 10">
            <a:extLst>
              <a:ext uri="{FF2B5EF4-FFF2-40B4-BE49-F238E27FC236}">
                <a16:creationId xmlns:a16="http://schemas.microsoft.com/office/drawing/2014/main" id="{3D0BF4BF-3C7C-C67F-B6EE-805EC95EF8CA}"/>
              </a:ext>
            </a:extLst>
          </p:cNvPr>
          <p:cNvSpPr>
            <a:spLocks noGrp="1"/>
          </p:cNvSpPr>
          <p:nvPr>
            <p:ph type="body" sz="quarter" idx="13"/>
          </p:nvPr>
        </p:nvSpPr>
        <p:spPr>
          <a:xfrm>
            <a:off x="649224" y="3483864"/>
            <a:ext cx="4828032" cy="490538"/>
          </a:xfrm>
        </p:spPr>
        <p:txBody>
          <a:bodyPr/>
          <a:lstStyle>
            <a:lvl1pPr marL="0" indent="0">
              <a:lnSpc>
                <a:spcPct val="100000"/>
              </a:lnSpc>
              <a:spcBef>
                <a:spcPts val="0"/>
              </a:spcBef>
              <a:buNone/>
              <a:defRPr sz="2200" b="1">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14" name="Text Placeholder 13">
            <a:extLst>
              <a:ext uri="{FF2B5EF4-FFF2-40B4-BE49-F238E27FC236}">
                <a16:creationId xmlns:a16="http://schemas.microsoft.com/office/drawing/2014/main" id="{EF15CD76-2DD5-DB8A-37D3-6098A50870D0}"/>
              </a:ext>
            </a:extLst>
          </p:cNvPr>
          <p:cNvSpPr>
            <a:spLocks noGrp="1"/>
          </p:cNvSpPr>
          <p:nvPr>
            <p:ph type="body" sz="quarter" idx="15"/>
          </p:nvPr>
        </p:nvSpPr>
        <p:spPr>
          <a:xfrm>
            <a:off x="365760" y="3931920"/>
            <a:ext cx="4754880" cy="1682750"/>
          </a:xfrm>
        </p:spPr>
        <p:txBody>
          <a:bodyPr/>
          <a:lstStyle>
            <a:lvl1pPr marL="283464" indent="-283464">
              <a:lnSpc>
                <a:spcPct val="150000"/>
              </a:lnSpc>
              <a:spcBef>
                <a:spcPts val="0"/>
              </a:spcBef>
              <a:defRPr sz="1600">
                <a:solidFill>
                  <a:schemeClr val="tx2"/>
                </a:solidFill>
              </a:defRPr>
            </a:lvl1pPr>
            <a:lvl2pPr indent="-283464">
              <a:lnSpc>
                <a:spcPct val="150000"/>
              </a:lnSpc>
              <a:spcBef>
                <a:spcPts val="0"/>
              </a:spcBef>
              <a:defRPr sz="1600">
                <a:solidFill>
                  <a:schemeClr val="tx2"/>
                </a:solidFill>
              </a:defRPr>
            </a:lvl2pPr>
            <a:lvl3pPr indent="-283464">
              <a:lnSpc>
                <a:spcPct val="150000"/>
              </a:lnSpc>
              <a:spcBef>
                <a:spcPts val="0"/>
              </a:spcBef>
              <a:defRPr sz="1600">
                <a:solidFill>
                  <a:schemeClr val="tx2"/>
                </a:solidFill>
              </a:defRPr>
            </a:lvl3pPr>
            <a:lvl4pPr indent="-283464">
              <a:lnSpc>
                <a:spcPct val="150000"/>
              </a:lnSpc>
              <a:spcBef>
                <a:spcPts val="0"/>
              </a:spcBef>
              <a:defRPr sz="1600">
                <a:solidFill>
                  <a:schemeClr val="tx2"/>
                </a:solidFill>
              </a:defRPr>
            </a:lvl4pPr>
            <a:lvl5pPr indent="-283464">
              <a:lnSpc>
                <a:spcPct val="150000"/>
              </a:lnSpc>
              <a:spcBef>
                <a:spcPts val="0"/>
              </a:spcBef>
              <a:defRPr sz="1600">
                <a:solidFill>
                  <a:schemeClr val="tx2"/>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5" name="Text Placeholder 13">
            <a:extLst>
              <a:ext uri="{FF2B5EF4-FFF2-40B4-BE49-F238E27FC236}">
                <a16:creationId xmlns:a16="http://schemas.microsoft.com/office/drawing/2014/main" id="{57A044E0-660B-4002-E13C-F00498E49782}"/>
              </a:ext>
            </a:extLst>
          </p:cNvPr>
          <p:cNvSpPr>
            <a:spLocks noGrp="1"/>
          </p:cNvSpPr>
          <p:nvPr>
            <p:ph type="body" sz="quarter" idx="16"/>
          </p:nvPr>
        </p:nvSpPr>
        <p:spPr>
          <a:xfrm>
            <a:off x="5943600" y="3931920"/>
            <a:ext cx="4754880" cy="1682750"/>
          </a:xfrm>
        </p:spPr>
        <p:txBody>
          <a:bodyPr/>
          <a:lstStyle>
            <a:lvl1pPr marL="283464" indent="-283464">
              <a:lnSpc>
                <a:spcPct val="150000"/>
              </a:lnSpc>
              <a:spcBef>
                <a:spcPts val="0"/>
              </a:spcBef>
              <a:defRPr sz="1600">
                <a:solidFill>
                  <a:schemeClr val="tx2"/>
                </a:solidFill>
              </a:defRPr>
            </a:lvl1pPr>
            <a:lvl2pPr indent="-283464">
              <a:lnSpc>
                <a:spcPct val="150000"/>
              </a:lnSpc>
              <a:spcBef>
                <a:spcPts val="0"/>
              </a:spcBef>
              <a:defRPr sz="1600">
                <a:solidFill>
                  <a:schemeClr val="tx2"/>
                </a:solidFill>
              </a:defRPr>
            </a:lvl2pPr>
            <a:lvl3pPr indent="-283464">
              <a:lnSpc>
                <a:spcPct val="150000"/>
              </a:lnSpc>
              <a:spcBef>
                <a:spcPts val="0"/>
              </a:spcBef>
              <a:defRPr sz="1600">
                <a:solidFill>
                  <a:schemeClr val="tx2"/>
                </a:solidFill>
              </a:defRPr>
            </a:lvl3pPr>
            <a:lvl4pPr indent="-283464">
              <a:lnSpc>
                <a:spcPct val="150000"/>
              </a:lnSpc>
              <a:spcBef>
                <a:spcPts val="0"/>
              </a:spcBef>
              <a:defRPr sz="1600">
                <a:solidFill>
                  <a:schemeClr val="tx2"/>
                </a:solidFill>
              </a:defRPr>
            </a:lvl4pPr>
            <a:lvl5pPr indent="-283464">
              <a:lnSpc>
                <a:spcPct val="150000"/>
              </a:lnSpc>
              <a:spcBef>
                <a:spcPts val="0"/>
              </a:spcBef>
              <a:defRPr sz="1600">
                <a:solidFill>
                  <a:schemeClr val="tx2"/>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grpSp>
        <p:nvGrpSpPr>
          <p:cNvPr id="19" name="Group 18">
            <a:extLst>
              <a:ext uri="{FF2B5EF4-FFF2-40B4-BE49-F238E27FC236}">
                <a16:creationId xmlns:a16="http://schemas.microsoft.com/office/drawing/2014/main" id="{FF8CCEDA-D691-A48A-BAAF-D004EBE38E55}"/>
              </a:ext>
            </a:extLst>
          </p:cNvPr>
          <p:cNvGrpSpPr/>
          <p:nvPr userDrawn="1"/>
        </p:nvGrpSpPr>
        <p:grpSpPr>
          <a:xfrm rot="16200000" flipV="1">
            <a:off x="8764091" y="3943349"/>
            <a:ext cx="5829301" cy="0"/>
            <a:chOff x="2287349" y="55407920"/>
            <a:chExt cx="11160369" cy="0"/>
          </a:xfrm>
        </p:grpSpPr>
        <p:cxnSp>
          <p:nvCxnSpPr>
            <p:cNvPr id="20" name="Straight Connector 19">
              <a:extLst>
                <a:ext uri="{FF2B5EF4-FFF2-40B4-BE49-F238E27FC236}">
                  <a16:creationId xmlns:a16="http://schemas.microsoft.com/office/drawing/2014/main" id="{5605A0EB-A31A-D2D4-5671-D1F763493E1F}"/>
                </a:ext>
              </a:extLst>
            </p:cNvPr>
            <p:cNvCxnSpPr>
              <a:cxnSpLocks/>
            </p:cNvCxnSpPr>
            <p:nvPr/>
          </p:nvCxnSpPr>
          <p:spPr>
            <a:xfrm rot="16200000">
              <a:off x="5934529" y="51760740"/>
              <a:ext cx="0" cy="7294360"/>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EFEFE03D-E00E-B4FD-6765-44E55D5FA212}"/>
                </a:ext>
              </a:extLst>
            </p:cNvPr>
            <p:cNvCxnSpPr>
              <a:cxnSpLocks/>
            </p:cNvCxnSpPr>
            <p:nvPr/>
          </p:nvCxnSpPr>
          <p:spPr>
            <a:xfrm rot="16200000">
              <a:off x="11514714" y="53474916"/>
              <a:ext cx="0" cy="3866008"/>
            </a:xfrm>
            <a:prstGeom prst="line">
              <a:avLst/>
            </a:prstGeom>
            <a:ln w="44450">
              <a:solidFill>
                <a:schemeClr val="accent5"/>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362806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hree content on the left">
    <p:bg>
      <p:bgPr>
        <a:solidFill>
          <a:schemeClr val="accent5"/>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0F5A1967-7F8F-319E-2E67-BD9E4F074B05}"/>
              </a:ext>
            </a:extLst>
          </p:cNvPr>
          <p:cNvSpPr/>
          <p:nvPr userDrawn="1"/>
        </p:nvSpPr>
        <p:spPr>
          <a:xfrm>
            <a:off x="8115301" y="0"/>
            <a:ext cx="4076699"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P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noProof="0">
              <a:solidFill>
                <a:schemeClr val="bg2"/>
              </a:solidFill>
            </a:endParaRPr>
          </a:p>
        </p:txBody>
      </p:sp>
      <p:grpSp>
        <p:nvGrpSpPr>
          <p:cNvPr id="19" name="Group 18">
            <a:extLst>
              <a:ext uri="{FF2B5EF4-FFF2-40B4-BE49-F238E27FC236}">
                <a16:creationId xmlns:a16="http://schemas.microsoft.com/office/drawing/2014/main" id="{52425424-7549-BE00-EA05-384DBD00F3B2}"/>
              </a:ext>
            </a:extLst>
          </p:cNvPr>
          <p:cNvGrpSpPr/>
          <p:nvPr userDrawn="1"/>
        </p:nvGrpSpPr>
        <p:grpSpPr>
          <a:xfrm>
            <a:off x="6317679" y="4564864"/>
            <a:ext cx="5858373" cy="385"/>
            <a:chOff x="5440605" y="5540787"/>
            <a:chExt cx="5858373" cy="385"/>
          </a:xfrm>
        </p:grpSpPr>
        <p:cxnSp>
          <p:nvCxnSpPr>
            <p:cNvPr id="20" name="Straight Connector 19">
              <a:extLst>
                <a:ext uri="{FF2B5EF4-FFF2-40B4-BE49-F238E27FC236}">
                  <a16:creationId xmlns:a16="http://schemas.microsoft.com/office/drawing/2014/main" id="{4D88329B-DC1A-F93F-7A3A-84FDE2989BB6}"/>
                </a:ext>
              </a:extLst>
            </p:cNvPr>
            <p:cNvCxnSpPr>
              <a:cxnSpLocks/>
            </p:cNvCxnSpPr>
            <p:nvPr/>
          </p:nvCxnSpPr>
          <p:spPr>
            <a:xfrm>
              <a:off x="5440605" y="5541172"/>
              <a:ext cx="1797621" cy="0"/>
            </a:xfrm>
            <a:prstGeom prst="line">
              <a:avLst/>
            </a:prstGeom>
            <a:ln w="5715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E7690B71-E252-7020-6DC7-F643767B2B78}"/>
                </a:ext>
              </a:extLst>
            </p:cNvPr>
            <p:cNvCxnSpPr>
              <a:cxnSpLocks/>
            </p:cNvCxnSpPr>
            <p:nvPr/>
          </p:nvCxnSpPr>
          <p:spPr>
            <a:xfrm>
              <a:off x="7237724" y="5540787"/>
              <a:ext cx="4061254" cy="0"/>
            </a:xfrm>
            <a:prstGeom prst="line">
              <a:avLst/>
            </a:prstGeom>
            <a:ln w="57150">
              <a:solidFill>
                <a:schemeClr val="accent5"/>
              </a:solidFill>
            </a:ln>
          </p:spPr>
          <p:style>
            <a:lnRef idx="1">
              <a:schemeClr val="accent1"/>
            </a:lnRef>
            <a:fillRef idx="0">
              <a:schemeClr val="accent1"/>
            </a:fillRef>
            <a:effectRef idx="0">
              <a:schemeClr val="accent1"/>
            </a:effectRef>
            <a:fontRef idx="minor">
              <a:schemeClr val="tx1"/>
            </a:fontRef>
          </p:style>
        </p:cxnSp>
      </p:grpSp>
      <p:sp>
        <p:nvSpPr>
          <p:cNvPr id="4" name="Footer Placeholder 3">
            <a:extLst>
              <a:ext uri="{FF2B5EF4-FFF2-40B4-BE49-F238E27FC236}">
                <a16:creationId xmlns:a16="http://schemas.microsoft.com/office/drawing/2014/main" id="{BA0C7E2C-83B2-58E9-DE90-AB1857F1A170}"/>
              </a:ext>
            </a:extLst>
          </p:cNvPr>
          <p:cNvSpPr>
            <a:spLocks noGrp="1"/>
          </p:cNvSpPr>
          <p:nvPr>
            <p:ph type="ftr" sz="quarter" idx="11"/>
          </p:nvPr>
        </p:nvSpPr>
        <p:spPr/>
        <p:txBody>
          <a:bodyPr/>
          <a:lstStyle/>
          <a:p>
            <a:r>
              <a:rPr lang="en-US" noProof="0"/>
              <a:t>An implementation of a true random number generator</a:t>
            </a:r>
          </a:p>
        </p:txBody>
      </p:sp>
      <p:sp>
        <p:nvSpPr>
          <p:cNvPr id="5" name="Slide Number Placeholder 4">
            <a:extLst>
              <a:ext uri="{FF2B5EF4-FFF2-40B4-BE49-F238E27FC236}">
                <a16:creationId xmlns:a16="http://schemas.microsoft.com/office/drawing/2014/main" id="{F487B4A1-AE7C-A6CC-7143-5EC918D662F7}"/>
              </a:ext>
            </a:extLst>
          </p:cNvPr>
          <p:cNvSpPr>
            <a:spLocks noGrp="1"/>
          </p:cNvSpPr>
          <p:nvPr>
            <p:ph type="sldNum" sz="quarter" idx="12"/>
          </p:nvPr>
        </p:nvSpPr>
        <p:spPr/>
        <p:txBody>
          <a:bodyPr/>
          <a:lstStyle/>
          <a:p>
            <a:fld id="{5BFCF61C-3B18-4C03-8326-CC3B32D710C9}" type="slidenum">
              <a:rPr lang="en-US" noProof="0" smtClean="0"/>
              <a:pPr/>
              <a:t>‹#›</a:t>
            </a:fld>
            <a:endParaRPr lang="en-US" noProof="0"/>
          </a:p>
        </p:txBody>
      </p:sp>
      <p:sp>
        <p:nvSpPr>
          <p:cNvPr id="9" name="Title 8">
            <a:extLst>
              <a:ext uri="{FF2B5EF4-FFF2-40B4-BE49-F238E27FC236}">
                <a16:creationId xmlns:a16="http://schemas.microsoft.com/office/drawing/2014/main" id="{A78715BA-7A66-D464-AAEF-141988B8718B}"/>
              </a:ext>
            </a:extLst>
          </p:cNvPr>
          <p:cNvSpPr>
            <a:spLocks noGrp="1"/>
          </p:cNvSpPr>
          <p:nvPr>
            <p:ph type="title"/>
          </p:nvPr>
        </p:nvSpPr>
        <p:spPr>
          <a:xfrm>
            <a:off x="6217920" y="2514600"/>
            <a:ext cx="4846320" cy="1682749"/>
          </a:xfrm>
        </p:spPr>
        <p:txBody>
          <a:bodyPr/>
          <a:lstStyle>
            <a:lvl1pPr>
              <a:lnSpc>
                <a:spcPct val="100000"/>
              </a:lnSpc>
              <a:defRPr sz="5000">
                <a:solidFill>
                  <a:schemeClr val="tx2"/>
                </a:solidFill>
              </a:defRPr>
            </a:lvl1pPr>
          </a:lstStyle>
          <a:p>
            <a:r>
              <a:rPr lang="en-US" noProof="0"/>
              <a:t>Click to edit Master title style</a:t>
            </a:r>
          </a:p>
        </p:txBody>
      </p:sp>
      <p:sp>
        <p:nvSpPr>
          <p:cNvPr id="11" name="Text Placeholder 10">
            <a:extLst>
              <a:ext uri="{FF2B5EF4-FFF2-40B4-BE49-F238E27FC236}">
                <a16:creationId xmlns:a16="http://schemas.microsoft.com/office/drawing/2014/main" id="{3D0BF4BF-3C7C-C67F-B6EE-805EC95EF8CA}"/>
              </a:ext>
            </a:extLst>
          </p:cNvPr>
          <p:cNvSpPr>
            <a:spLocks noGrp="1"/>
          </p:cNvSpPr>
          <p:nvPr>
            <p:ph type="body" sz="quarter" idx="13"/>
          </p:nvPr>
        </p:nvSpPr>
        <p:spPr>
          <a:xfrm>
            <a:off x="630936" y="1252728"/>
            <a:ext cx="4828032" cy="490538"/>
          </a:xfrm>
        </p:spPr>
        <p:txBody>
          <a:bodyPr/>
          <a:lstStyle>
            <a:lvl1pPr marL="0" indent="0">
              <a:lnSpc>
                <a:spcPct val="150000"/>
              </a:lnSpc>
              <a:spcBef>
                <a:spcPts val="0"/>
              </a:spcBef>
              <a:buNone/>
              <a:defRPr sz="2200" b="1">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12" name="Text Placeholder 10">
            <a:extLst>
              <a:ext uri="{FF2B5EF4-FFF2-40B4-BE49-F238E27FC236}">
                <a16:creationId xmlns:a16="http://schemas.microsoft.com/office/drawing/2014/main" id="{BA37E40B-957E-C00E-3B34-1B67D341A771}"/>
              </a:ext>
            </a:extLst>
          </p:cNvPr>
          <p:cNvSpPr>
            <a:spLocks noGrp="1"/>
          </p:cNvSpPr>
          <p:nvPr>
            <p:ph type="body" sz="quarter" idx="14"/>
          </p:nvPr>
        </p:nvSpPr>
        <p:spPr>
          <a:xfrm>
            <a:off x="630936" y="3584448"/>
            <a:ext cx="4828032" cy="490538"/>
          </a:xfrm>
        </p:spPr>
        <p:txBody>
          <a:bodyPr/>
          <a:lstStyle>
            <a:lvl1pPr marL="0" indent="0">
              <a:lnSpc>
                <a:spcPct val="150000"/>
              </a:lnSpc>
              <a:spcBef>
                <a:spcPts val="0"/>
              </a:spcBef>
              <a:buNone/>
              <a:defRPr sz="2200" b="1">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14" name="Text Placeholder 13">
            <a:extLst>
              <a:ext uri="{FF2B5EF4-FFF2-40B4-BE49-F238E27FC236}">
                <a16:creationId xmlns:a16="http://schemas.microsoft.com/office/drawing/2014/main" id="{EF15CD76-2DD5-DB8A-37D3-6098A50870D0}"/>
              </a:ext>
            </a:extLst>
          </p:cNvPr>
          <p:cNvSpPr>
            <a:spLocks noGrp="1"/>
          </p:cNvSpPr>
          <p:nvPr>
            <p:ph type="body" sz="quarter" idx="15"/>
          </p:nvPr>
        </p:nvSpPr>
        <p:spPr>
          <a:xfrm>
            <a:off x="365760" y="1792224"/>
            <a:ext cx="4754880" cy="1682750"/>
          </a:xfrm>
        </p:spPr>
        <p:txBody>
          <a:bodyPr/>
          <a:lstStyle>
            <a:lvl1pPr marL="283464" indent="-283464">
              <a:lnSpc>
                <a:spcPct val="150000"/>
              </a:lnSpc>
              <a:spcBef>
                <a:spcPts val="0"/>
              </a:spcBef>
              <a:defRPr sz="1600">
                <a:solidFill>
                  <a:schemeClr val="tx2"/>
                </a:solidFill>
              </a:defRPr>
            </a:lvl1pPr>
            <a:lvl2pPr indent="-283464">
              <a:lnSpc>
                <a:spcPct val="150000"/>
              </a:lnSpc>
              <a:spcBef>
                <a:spcPts val="0"/>
              </a:spcBef>
              <a:defRPr sz="1600">
                <a:solidFill>
                  <a:schemeClr val="tx2"/>
                </a:solidFill>
              </a:defRPr>
            </a:lvl2pPr>
            <a:lvl3pPr indent="-283464">
              <a:lnSpc>
                <a:spcPct val="150000"/>
              </a:lnSpc>
              <a:spcBef>
                <a:spcPts val="0"/>
              </a:spcBef>
              <a:defRPr sz="1600">
                <a:solidFill>
                  <a:schemeClr val="tx2"/>
                </a:solidFill>
              </a:defRPr>
            </a:lvl3pPr>
            <a:lvl4pPr indent="-283464">
              <a:lnSpc>
                <a:spcPct val="150000"/>
              </a:lnSpc>
              <a:spcBef>
                <a:spcPts val="0"/>
              </a:spcBef>
              <a:defRPr sz="1600">
                <a:solidFill>
                  <a:schemeClr val="tx2"/>
                </a:solidFill>
              </a:defRPr>
            </a:lvl4pPr>
            <a:lvl5pPr indent="-283464">
              <a:lnSpc>
                <a:spcPct val="150000"/>
              </a:lnSpc>
              <a:spcBef>
                <a:spcPts val="0"/>
              </a:spcBef>
              <a:defRPr sz="1600">
                <a:solidFill>
                  <a:schemeClr val="tx2"/>
                </a:solidFill>
              </a:defRPr>
            </a:lvl5pPr>
          </a:lstStyle>
          <a:p>
            <a:pPr lvl="0"/>
            <a:r>
              <a:rPr lang="en-US" noProof="0"/>
              <a:t>Click to edit Master text styles</a:t>
            </a:r>
          </a:p>
          <a:p>
            <a:pPr lvl="1"/>
            <a:r>
              <a:rPr lang="en-US" noProof="0"/>
              <a:t>Second level</a:t>
            </a:r>
          </a:p>
          <a:p>
            <a:pPr lvl="2"/>
            <a:r>
              <a:rPr lang="en-US" noProof="0"/>
              <a:t>Third level</a:t>
            </a:r>
          </a:p>
        </p:txBody>
      </p:sp>
      <p:sp>
        <p:nvSpPr>
          <p:cNvPr id="15" name="Text Placeholder 13">
            <a:extLst>
              <a:ext uri="{FF2B5EF4-FFF2-40B4-BE49-F238E27FC236}">
                <a16:creationId xmlns:a16="http://schemas.microsoft.com/office/drawing/2014/main" id="{57A044E0-660B-4002-E13C-F00498E49782}"/>
              </a:ext>
            </a:extLst>
          </p:cNvPr>
          <p:cNvSpPr>
            <a:spLocks noGrp="1"/>
          </p:cNvSpPr>
          <p:nvPr>
            <p:ph type="body" sz="quarter" idx="16"/>
          </p:nvPr>
        </p:nvSpPr>
        <p:spPr>
          <a:xfrm>
            <a:off x="365760" y="4123944"/>
            <a:ext cx="4754880" cy="941831"/>
          </a:xfrm>
        </p:spPr>
        <p:txBody>
          <a:bodyPr/>
          <a:lstStyle>
            <a:lvl1pPr marL="283464" indent="-283464">
              <a:lnSpc>
                <a:spcPct val="150000"/>
              </a:lnSpc>
              <a:spcBef>
                <a:spcPts val="0"/>
              </a:spcBef>
              <a:defRPr sz="1600">
                <a:solidFill>
                  <a:schemeClr val="tx2"/>
                </a:solidFill>
              </a:defRPr>
            </a:lvl1pPr>
            <a:lvl2pPr indent="-283464">
              <a:lnSpc>
                <a:spcPct val="150000"/>
              </a:lnSpc>
              <a:spcBef>
                <a:spcPts val="0"/>
              </a:spcBef>
              <a:defRPr sz="1600">
                <a:solidFill>
                  <a:schemeClr val="tx2"/>
                </a:solidFill>
              </a:defRPr>
            </a:lvl2pPr>
            <a:lvl3pPr indent="-283464">
              <a:lnSpc>
                <a:spcPct val="150000"/>
              </a:lnSpc>
              <a:spcBef>
                <a:spcPts val="0"/>
              </a:spcBef>
              <a:defRPr sz="1600">
                <a:solidFill>
                  <a:schemeClr val="tx2"/>
                </a:solidFill>
              </a:defRPr>
            </a:lvl3pPr>
            <a:lvl4pPr indent="-283464">
              <a:lnSpc>
                <a:spcPct val="150000"/>
              </a:lnSpc>
              <a:spcBef>
                <a:spcPts val="0"/>
              </a:spcBef>
              <a:defRPr sz="1600">
                <a:solidFill>
                  <a:schemeClr val="tx2"/>
                </a:solidFill>
              </a:defRPr>
            </a:lvl4pPr>
            <a:lvl5pPr indent="-283464">
              <a:lnSpc>
                <a:spcPct val="150000"/>
              </a:lnSpc>
              <a:spcBef>
                <a:spcPts val="0"/>
              </a:spcBef>
              <a:defRPr sz="1600">
                <a:solidFill>
                  <a:schemeClr val="tx2"/>
                </a:solidFill>
              </a:defRPr>
            </a:lvl5pPr>
          </a:lstStyle>
          <a:p>
            <a:pPr lvl="0"/>
            <a:r>
              <a:rPr lang="en-US" noProof="0"/>
              <a:t>Click to edit Master text styles</a:t>
            </a:r>
          </a:p>
          <a:p>
            <a:pPr lvl="1"/>
            <a:r>
              <a:rPr lang="en-US" noProof="0"/>
              <a:t>Second level</a:t>
            </a:r>
          </a:p>
          <a:p>
            <a:pPr lvl="2"/>
            <a:r>
              <a:rPr lang="en-US" noProof="0"/>
              <a:t>Third level</a:t>
            </a:r>
          </a:p>
        </p:txBody>
      </p:sp>
      <p:sp>
        <p:nvSpPr>
          <p:cNvPr id="22" name="Text Placeholder 10">
            <a:extLst>
              <a:ext uri="{FF2B5EF4-FFF2-40B4-BE49-F238E27FC236}">
                <a16:creationId xmlns:a16="http://schemas.microsoft.com/office/drawing/2014/main" id="{93287C28-1CA8-AEA5-1E16-BC0B1E99CD24}"/>
              </a:ext>
            </a:extLst>
          </p:cNvPr>
          <p:cNvSpPr>
            <a:spLocks noGrp="1"/>
          </p:cNvSpPr>
          <p:nvPr>
            <p:ph type="body" sz="quarter" idx="17"/>
          </p:nvPr>
        </p:nvSpPr>
        <p:spPr>
          <a:xfrm>
            <a:off x="630936" y="5065776"/>
            <a:ext cx="4828032" cy="490538"/>
          </a:xfrm>
        </p:spPr>
        <p:txBody>
          <a:bodyPr/>
          <a:lstStyle>
            <a:lvl1pPr marL="0" indent="0">
              <a:lnSpc>
                <a:spcPct val="150000"/>
              </a:lnSpc>
              <a:spcBef>
                <a:spcPts val="0"/>
              </a:spcBef>
              <a:buNone/>
              <a:defRPr sz="2200" b="1">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23" name="Text Placeholder 13">
            <a:extLst>
              <a:ext uri="{FF2B5EF4-FFF2-40B4-BE49-F238E27FC236}">
                <a16:creationId xmlns:a16="http://schemas.microsoft.com/office/drawing/2014/main" id="{19920C32-5167-72B1-7B9E-709723F907CE}"/>
              </a:ext>
            </a:extLst>
          </p:cNvPr>
          <p:cNvSpPr>
            <a:spLocks noGrp="1"/>
          </p:cNvSpPr>
          <p:nvPr>
            <p:ph type="body" sz="quarter" idx="18"/>
          </p:nvPr>
        </p:nvSpPr>
        <p:spPr>
          <a:xfrm>
            <a:off x="365760" y="5605272"/>
            <a:ext cx="4754880" cy="1143254"/>
          </a:xfrm>
        </p:spPr>
        <p:txBody>
          <a:bodyPr/>
          <a:lstStyle>
            <a:lvl1pPr marL="283464" indent="-283464">
              <a:lnSpc>
                <a:spcPct val="150000"/>
              </a:lnSpc>
              <a:spcBef>
                <a:spcPts val="0"/>
              </a:spcBef>
              <a:defRPr sz="1600">
                <a:solidFill>
                  <a:schemeClr val="tx2"/>
                </a:solidFill>
              </a:defRPr>
            </a:lvl1pPr>
            <a:lvl2pPr indent="-283464">
              <a:lnSpc>
                <a:spcPct val="150000"/>
              </a:lnSpc>
              <a:spcBef>
                <a:spcPts val="0"/>
              </a:spcBef>
              <a:defRPr sz="1600">
                <a:solidFill>
                  <a:schemeClr val="tx2"/>
                </a:solidFill>
              </a:defRPr>
            </a:lvl2pPr>
            <a:lvl3pPr indent="-283464">
              <a:lnSpc>
                <a:spcPct val="150000"/>
              </a:lnSpc>
              <a:spcBef>
                <a:spcPts val="0"/>
              </a:spcBef>
              <a:defRPr sz="1600">
                <a:solidFill>
                  <a:schemeClr val="tx2"/>
                </a:solidFill>
              </a:defRPr>
            </a:lvl3pPr>
            <a:lvl4pPr indent="-283464">
              <a:lnSpc>
                <a:spcPct val="150000"/>
              </a:lnSpc>
              <a:spcBef>
                <a:spcPts val="0"/>
              </a:spcBef>
              <a:defRPr sz="1600">
                <a:solidFill>
                  <a:schemeClr val="tx2"/>
                </a:solidFill>
              </a:defRPr>
            </a:lvl4pPr>
            <a:lvl5pPr indent="-283464">
              <a:lnSpc>
                <a:spcPct val="150000"/>
              </a:lnSpc>
              <a:spcBef>
                <a:spcPts val="0"/>
              </a:spcBef>
              <a:defRPr sz="1600">
                <a:solidFill>
                  <a:schemeClr val="tx2"/>
                </a:solidFill>
              </a:defRPr>
            </a:lvl5pPr>
          </a:lstStyle>
          <a:p>
            <a:pPr lvl="0"/>
            <a:r>
              <a:rPr lang="en-US" noProof="0"/>
              <a:t>Click to edit Master text styles</a:t>
            </a:r>
          </a:p>
          <a:p>
            <a:pPr lvl="1"/>
            <a:r>
              <a:rPr lang="en-US" noProof="0"/>
              <a:t>Second level</a:t>
            </a:r>
          </a:p>
          <a:p>
            <a:pPr lvl="2"/>
            <a:r>
              <a:rPr lang="en-US" noProof="0"/>
              <a:t>Third level</a:t>
            </a:r>
          </a:p>
        </p:txBody>
      </p:sp>
    </p:spTree>
    <p:extLst>
      <p:ext uri="{BB962C8B-B14F-4D97-AF65-F5344CB8AC3E}">
        <p14:creationId xmlns:p14="http://schemas.microsoft.com/office/powerpoint/2010/main" val="37759829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on the right">
    <p:bg>
      <p:bgPr>
        <a:solidFill>
          <a:schemeClr val="bg2"/>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F5F7D9D8-A960-E038-84D2-764C7A50F698}"/>
              </a:ext>
            </a:extLst>
          </p:cNvPr>
          <p:cNvSpPr/>
          <p:nvPr userDrawn="1"/>
        </p:nvSpPr>
        <p:spPr>
          <a:xfrm>
            <a:off x="-12700" y="858"/>
            <a:ext cx="3060700" cy="6857142"/>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solidFill>
                <a:schemeClr val="bg1"/>
              </a:solidFill>
            </a:endParaRPr>
          </a:p>
        </p:txBody>
      </p:sp>
      <p:sp>
        <p:nvSpPr>
          <p:cNvPr id="4" name="Footer Placeholder 3">
            <a:extLst>
              <a:ext uri="{FF2B5EF4-FFF2-40B4-BE49-F238E27FC236}">
                <a16:creationId xmlns:a16="http://schemas.microsoft.com/office/drawing/2014/main" id="{BA0C7E2C-83B2-58E9-DE90-AB1857F1A170}"/>
              </a:ext>
            </a:extLst>
          </p:cNvPr>
          <p:cNvSpPr>
            <a:spLocks noGrp="1"/>
          </p:cNvSpPr>
          <p:nvPr>
            <p:ph type="ftr" sz="quarter" idx="11"/>
          </p:nvPr>
        </p:nvSpPr>
        <p:spPr/>
        <p:txBody>
          <a:bodyPr/>
          <a:lstStyle/>
          <a:p>
            <a:r>
              <a:rPr lang="en-US" noProof="0"/>
              <a:t>An implementation of a true random number generator</a:t>
            </a:r>
          </a:p>
        </p:txBody>
      </p:sp>
      <p:sp>
        <p:nvSpPr>
          <p:cNvPr id="5" name="Slide Number Placeholder 4">
            <a:extLst>
              <a:ext uri="{FF2B5EF4-FFF2-40B4-BE49-F238E27FC236}">
                <a16:creationId xmlns:a16="http://schemas.microsoft.com/office/drawing/2014/main" id="{F487B4A1-AE7C-A6CC-7143-5EC918D662F7}"/>
              </a:ext>
            </a:extLst>
          </p:cNvPr>
          <p:cNvSpPr>
            <a:spLocks noGrp="1"/>
          </p:cNvSpPr>
          <p:nvPr>
            <p:ph type="sldNum" sz="quarter" idx="12"/>
          </p:nvPr>
        </p:nvSpPr>
        <p:spPr/>
        <p:txBody>
          <a:bodyPr/>
          <a:lstStyle/>
          <a:p>
            <a:fld id="{5BFCF61C-3B18-4C03-8326-CC3B32D710C9}" type="slidenum">
              <a:rPr lang="en-US" noProof="0" smtClean="0"/>
              <a:pPr/>
              <a:t>‹#›</a:t>
            </a:fld>
            <a:endParaRPr lang="en-US" noProof="0"/>
          </a:p>
        </p:txBody>
      </p:sp>
      <p:sp>
        <p:nvSpPr>
          <p:cNvPr id="9" name="Title 8">
            <a:extLst>
              <a:ext uri="{FF2B5EF4-FFF2-40B4-BE49-F238E27FC236}">
                <a16:creationId xmlns:a16="http://schemas.microsoft.com/office/drawing/2014/main" id="{A78715BA-7A66-D464-AAEF-141988B8718B}"/>
              </a:ext>
            </a:extLst>
          </p:cNvPr>
          <p:cNvSpPr>
            <a:spLocks noGrp="1"/>
          </p:cNvSpPr>
          <p:nvPr>
            <p:ph type="title"/>
          </p:nvPr>
        </p:nvSpPr>
        <p:spPr>
          <a:xfrm>
            <a:off x="667512" y="1399032"/>
            <a:ext cx="4846320" cy="1682749"/>
          </a:xfrm>
        </p:spPr>
        <p:txBody>
          <a:bodyPr/>
          <a:lstStyle>
            <a:lvl1pPr>
              <a:lnSpc>
                <a:spcPct val="80000"/>
              </a:lnSpc>
              <a:defRPr sz="5000">
                <a:solidFill>
                  <a:schemeClr val="tx2"/>
                </a:solidFill>
              </a:defRPr>
            </a:lvl1pPr>
          </a:lstStyle>
          <a:p>
            <a:r>
              <a:rPr lang="en-US" noProof="0"/>
              <a:t>Click to edit Master title style</a:t>
            </a:r>
          </a:p>
        </p:txBody>
      </p:sp>
      <p:sp>
        <p:nvSpPr>
          <p:cNvPr id="11" name="Text Placeholder 10">
            <a:extLst>
              <a:ext uri="{FF2B5EF4-FFF2-40B4-BE49-F238E27FC236}">
                <a16:creationId xmlns:a16="http://schemas.microsoft.com/office/drawing/2014/main" id="{3D0BF4BF-3C7C-C67F-B6EE-805EC95EF8CA}"/>
              </a:ext>
            </a:extLst>
          </p:cNvPr>
          <p:cNvSpPr>
            <a:spLocks noGrp="1"/>
          </p:cNvSpPr>
          <p:nvPr>
            <p:ph type="body" sz="quarter" idx="13"/>
          </p:nvPr>
        </p:nvSpPr>
        <p:spPr>
          <a:xfrm>
            <a:off x="6245352" y="1252728"/>
            <a:ext cx="4828032" cy="490538"/>
          </a:xfrm>
        </p:spPr>
        <p:txBody>
          <a:bodyPr/>
          <a:lstStyle>
            <a:lvl1pPr marL="0" indent="0">
              <a:lnSpc>
                <a:spcPct val="150000"/>
              </a:lnSpc>
              <a:spcBef>
                <a:spcPts val="0"/>
              </a:spcBef>
              <a:buNone/>
              <a:defRPr sz="2200" b="1">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12" name="Text Placeholder 10">
            <a:extLst>
              <a:ext uri="{FF2B5EF4-FFF2-40B4-BE49-F238E27FC236}">
                <a16:creationId xmlns:a16="http://schemas.microsoft.com/office/drawing/2014/main" id="{BA37E40B-957E-C00E-3B34-1B67D341A771}"/>
              </a:ext>
            </a:extLst>
          </p:cNvPr>
          <p:cNvSpPr>
            <a:spLocks noGrp="1"/>
          </p:cNvSpPr>
          <p:nvPr>
            <p:ph type="body" sz="quarter" idx="14"/>
          </p:nvPr>
        </p:nvSpPr>
        <p:spPr>
          <a:xfrm>
            <a:off x="6245352" y="3502152"/>
            <a:ext cx="4828032" cy="490538"/>
          </a:xfrm>
        </p:spPr>
        <p:txBody>
          <a:bodyPr/>
          <a:lstStyle>
            <a:lvl1pPr marL="0" indent="0">
              <a:lnSpc>
                <a:spcPct val="100000"/>
              </a:lnSpc>
              <a:spcBef>
                <a:spcPts val="0"/>
              </a:spcBef>
              <a:buNone/>
              <a:defRPr sz="2200" b="1">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14" name="Text Placeholder 13">
            <a:extLst>
              <a:ext uri="{FF2B5EF4-FFF2-40B4-BE49-F238E27FC236}">
                <a16:creationId xmlns:a16="http://schemas.microsoft.com/office/drawing/2014/main" id="{EF15CD76-2DD5-DB8A-37D3-6098A50870D0}"/>
              </a:ext>
            </a:extLst>
          </p:cNvPr>
          <p:cNvSpPr>
            <a:spLocks noGrp="1"/>
          </p:cNvSpPr>
          <p:nvPr>
            <p:ph type="body" sz="quarter" idx="15"/>
          </p:nvPr>
        </p:nvSpPr>
        <p:spPr>
          <a:xfrm>
            <a:off x="5989320" y="1792224"/>
            <a:ext cx="4754880" cy="1682750"/>
          </a:xfrm>
        </p:spPr>
        <p:txBody>
          <a:bodyPr/>
          <a:lstStyle>
            <a:lvl1pPr marL="283464" indent="-283464">
              <a:lnSpc>
                <a:spcPct val="150000"/>
              </a:lnSpc>
              <a:spcBef>
                <a:spcPts val="0"/>
              </a:spcBef>
              <a:defRPr sz="1600">
                <a:solidFill>
                  <a:schemeClr val="tx2"/>
                </a:solidFill>
              </a:defRPr>
            </a:lvl1pPr>
            <a:lvl2pPr indent="-283464">
              <a:lnSpc>
                <a:spcPct val="150000"/>
              </a:lnSpc>
              <a:spcBef>
                <a:spcPts val="0"/>
              </a:spcBef>
              <a:defRPr sz="1600">
                <a:solidFill>
                  <a:schemeClr val="tx2"/>
                </a:solidFill>
              </a:defRPr>
            </a:lvl2pPr>
            <a:lvl3pPr indent="-283464">
              <a:lnSpc>
                <a:spcPct val="150000"/>
              </a:lnSpc>
              <a:spcBef>
                <a:spcPts val="0"/>
              </a:spcBef>
              <a:defRPr sz="1600">
                <a:solidFill>
                  <a:schemeClr val="tx2"/>
                </a:solidFill>
              </a:defRPr>
            </a:lvl3pPr>
            <a:lvl4pPr indent="-283464">
              <a:lnSpc>
                <a:spcPct val="150000"/>
              </a:lnSpc>
              <a:spcBef>
                <a:spcPts val="0"/>
              </a:spcBef>
              <a:defRPr sz="1600">
                <a:solidFill>
                  <a:schemeClr val="tx2"/>
                </a:solidFill>
              </a:defRPr>
            </a:lvl4pPr>
            <a:lvl5pPr indent="-283464">
              <a:lnSpc>
                <a:spcPct val="150000"/>
              </a:lnSpc>
              <a:spcBef>
                <a:spcPts val="0"/>
              </a:spcBef>
              <a:defRPr sz="1600">
                <a:solidFill>
                  <a:schemeClr val="tx2"/>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p:txBody>
      </p:sp>
      <p:sp>
        <p:nvSpPr>
          <p:cNvPr id="15" name="Text Placeholder 13">
            <a:extLst>
              <a:ext uri="{FF2B5EF4-FFF2-40B4-BE49-F238E27FC236}">
                <a16:creationId xmlns:a16="http://schemas.microsoft.com/office/drawing/2014/main" id="{57A044E0-660B-4002-E13C-F00498E49782}"/>
              </a:ext>
            </a:extLst>
          </p:cNvPr>
          <p:cNvSpPr>
            <a:spLocks noGrp="1"/>
          </p:cNvSpPr>
          <p:nvPr>
            <p:ph type="body" sz="quarter" idx="16"/>
          </p:nvPr>
        </p:nvSpPr>
        <p:spPr>
          <a:xfrm>
            <a:off x="5989320" y="3941064"/>
            <a:ext cx="4754880" cy="1682750"/>
          </a:xfrm>
        </p:spPr>
        <p:txBody>
          <a:bodyPr/>
          <a:lstStyle>
            <a:lvl1pPr marL="283464" indent="-283464">
              <a:lnSpc>
                <a:spcPct val="150000"/>
              </a:lnSpc>
              <a:spcBef>
                <a:spcPts val="0"/>
              </a:spcBef>
              <a:defRPr sz="1600">
                <a:solidFill>
                  <a:schemeClr val="tx2"/>
                </a:solidFill>
              </a:defRPr>
            </a:lvl1pPr>
            <a:lvl2pPr indent="-283464">
              <a:lnSpc>
                <a:spcPct val="150000"/>
              </a:lnSpc>
              <a:spcBef>
                <a:spcPts val="0"/>
              </a:spcBef>
              <a:defRPr sz="1600">
                <a:solidFill>
                  <a:schemeClr val="tx2"/>
                </a:solidFill>
              </a:defRPr>
            </a:lvl2pPr>
            <a:lvl3pPr indent="-283464">
              <a:lnSpc>
                <a:spcPct val="150000"/>
              </a:lnSpc>
              <a:spcBef>
                <a:spcPts val="0"/>
              </a:spcBef>
              <a:defRPr sz="1600">
                <a:solidFill>
                  <a:schemeClr val="tx2"/>
                </a:solidFill>
              </a:defRPr>
            </a:lvl3pPr>
            <a:lvl4pPr indent="-283464">
              <a:lnSpc>
                <a:spcPct val="150000"/>
              </a:lnSpc>
              <a:spcBef>
                <a:spcPts val="0"/>
              </a:spcBef>
              <a:defRPr sz="1600">
                <a:solidFill>
                  <a:schemeClr val="tx2"/>
                </a:solidFill>
              </a:defRPr>
            </a:lvl4pPr>
            <a:lvl5pPr indent="-283464">
              <a:lnSpc>
                <a:spcPct val="150000"/>
              </a:lnSpc>
              <a:spcBef>
                <a:spcPts val="0"/>
              </a:spcBef>
              <a:defRPr sz="1600">
                <a:solidFill>
                  <a:schemeClr val="tx2"/>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p:txBody>
      </p:sp>
      <p:grpSp>
        <p:nvGrpSpPr>
          <p:cNvPr id="17" name="Group 16">
            <a:extLst>
              <a:ext uri="{FF2B5EF4-FFF2-40B4-BE49-F238E27FC236}">
                <a16:creationId xmlns:a16="http://schemas.microsoft.com/office/drawing/2014/main" id="{40DF3371-342F-C17D-5A7F-EF76E89A55C5}"/>
              </a:ext>
            </a:extLst>
          </p:cNvPr>
          <p:cNvGrpSpPr/>
          <p:nvPr userDrawn="1"/>
        </p:nvGrpSpPr>
        <p:grpSpPr>
          <a:xfrm>
            <a:off x="-11882" y="3045007"/>
            <a:ext cx="4279082" cy="364"/>
            <a:chOff x="5475479" y="5537794"/>
            <a:chExt cx="4279082" cy="364"/>
          </a:xfrm>
        </p:grpSpPr>
        <p:cxnSp>
          <p:nvCxnSpPr>
            <p:cNvPr id="24" name="Straight Connector 23">
              <a:extLst>
                <a:ext uri="{FF2B5EF4-FFF2-40B4-BE49-F238E27FC236}">
                  <a16:creationId xmlns:a16="http://schemas.microsoft.com/office/drawing/2014/main" id="{84369914-5489-3EA1-5419-F83F6C7A150D}"/>
                </a:ext>
              </a:extLst>
            </p:cNvPr>
            <p:cNvCxnSpPr>
              <a:cxnSpLocks/>
            </p:cNvCxnSpPr>
            <p:nvPr/>
          </p:nvCxnSpPr>
          <p:spPr>
            <a:xfrm>
              <a:off x="5475479" y="5537976"/>
              <a:ext cx="3060700" cy="0"/>
            </a:xfrm>
            <a:prstGeom prst="line">
              <a:avLst/>
            </a:prstGeom>
            <a:ln w="57150">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0BDE23CC-0B75-F3A6-1882-265BF90D4AA1}"/>
                </a:ext>
              </a:extLst>
            </p:cNvPr>
            <p:cNvCxnSpPr>
              <a:cxnSpLocks/>
            </p:cNvCxnSpPr>
            <p:nvPr/>
          </p:nvCxnSpPr>
          <p:spPr>
            <a:xfrm flipV="1">
              <a:off x="8537690" y="5537794"/>
              <a:ext cx="1216871" cy="364"/>
            </a:xfrm>
            <a:prstGeom prst="line">
              <a:avLst/>
            </a:prstGeom>
            <a:ln w="57150">
              <a:solidFill>
                <a:schemeClr val="tx2"/>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9097728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ntent on the right dark">
    <p:bg>
      <p:bgPr>
        <a:solidFill>
          <a:schemeClr val="accent5"/>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5749AEB6-4539-A203-D085-8EBE329C08E0}"/>
              </a:ext>
            </a:extLst>
          </p:cNvPr>
          <p:cNvSpPr/>
          <p:nvPr userDrawn="1"/>
        </p:nvSpPr>
        <p:spPr>
          <a:xfrm>
            <a:off x="3962399" y="858"/>
            <a:ext cx="8271641" cy="685714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solidFill>
                <a:schemeClr val="tx2"/>
              </a:solidFill>
            </a:endParaRPr>
          </a:p>
        </p:txBody>
      </p:sp>
      <p:sp>
        <p:nvSpPr>
          <p:cNvPr id="4" name="Footer Placeholder 3">
            <a:extLst>
              <a:ext uri="{FF2B5EF4-FFF2-40B4-BE49-F238E27FC236}">
                <a16:creationId xmlns:a16="http://schemas.microsoft.com/office/drawing/2014/main" id="{BA0C7E2C-83B2-58E9-DE90-AB1857F1A170}"/>
              </a:ext>
            </a:extLst>
          </p:cNvPr>
          <p:cNvSpPr>
            <a:spLocks noGrp="1"/>
          </p:cNvSpPr>
          <p:nvPr>
            <p:ph type="ftr" sz="quarter" idx="11"/>
          </p:nvPr>
        </p:nvSpPr>
        <p:spPr/>
        <p:txBody>
          <a:bodyPr/>
          <a:lstStyle/>
          <a:p>
            <a:r>
              <a:rPr lang="en-US" noProof="0"/>
              <a:t>An implementation of a true random number generator</a:t>
            </a:r>
          </a:p>
        </p:txBody>
      </p:sp>
      <p:sp>
        <p:nvSpPr>
          <p:cNvPr id="5" name="Slide Number Placeholder 4">
            <a:extLst>
              <a:ext uri="{FF2B5EF4-FFF2-40B4-BE49-F238E27FC236}">
                <a16:creationId xmlns:a16="http://schemas.microsoft.com/office/drawing/2014/main" id="{F487B4A1-AE7C-A6CC-7143-5EC918D662F7}"/>
              </a:ext>
            </a:extLst>
          </p:cNvPr>
          <p:cNvSpPr>
            <a:spLocks noGrp="1"/>
          </p:cNvSpPr>
          <p:nvPr>
            <p:ph type="sldNum" sz="quarter" idx="12"/>
          </p:nvPr>
        </p:nvSpPr>
        <p:spPr/>
        <p:txBody>
          <a:bodyPr/>
          <a:lstStyle>
            <a:lvl1pPr>
              <a:defRPr>
                <a:solidFill>
                  <a:schemeClr val="bg1"/>
                </a:solidFill>
              </a:defRPr>
            </a:lvl1pPr>
          </a:lstStyle>
          <a:p>
            <a:fld id="{5BFCF61C-3B18-4C03-8326-CC3B32D710C9}" type="slidenum">
              <a:rPr lang="en-US" noProof="0" smtClean="0"/>
              <a:pPr/>
              <a:t>‹#›</a:t>
            </a:fld>
            <a:endParaRPr lang="en-US" noProof="0"/>
          </a:p>
        </p:txBody>
      </p:sp>
      <p:sp>
        <p:nvSpPr>
          <p:cNvPr id="9" name="Title 8">
            <a:extLst>
              <a:ext uri="{FF2B5EF4-FFF2-40B4-BE49-F238E27FC236}">
                <a16:creationId xmlns:a16="http://schemas.microsoft.com/office/drawing/2014/main" id="{A78715BA-7A66-D464-AAEF-141988B8718B}"/>
              </a:ext>
            </a:extLst>
          </p:cNvPr>
          <p:cNvSpPr>
            <a:spLocks noGrp="1"/>
          </p:cNvSpPr>
          <p:nvPr>
            <p:ph type="title"/>
          </p:nvPr>
        </p:nvSpPr>
        <p:spPr>
          <a:xfrm>
            <a:off x="667512" y="1399032"/>
            <a:ext cx="4846320" cy="1682749"/>
          </a:xfrm>
        </p:spPr>
        <p:txBody>
          <a:bodyPr/>
          <a:lstStyle>
            <a:lvl1pPr>
              <a:lnSpc>
                <a:spcPct val="80000"/>
              </a:lnSpc>
              <a:defRPr sz="5000">
                <a:solidFill>
                  <a:schemeClr val="accent4"/>
                </a:solidFill>
              </a:defRPr>
            </a:lvl1pPr>
          </a:lstStyle>
          <a:p>
            <a:r>
              <a:rPr lang="en-US" noProof="0"/>
              <a:t>Click to edit Master title style</a:t>
            </a:r>
          </a:p>
        </p:txBody>
      </p:sp>
      <p:sp>
        <p:nvSpPr>
          <p:cNvPr id="11" name="Text Placeholder 10">
            <a:extLst>
              <a:ext uri="{FF2B5EF4-FFF2-40B4-BE49-F238E27FC236}">
                <a16:creationId xmlns:a16="http://schemas.microsoft.com/office/drawing/2014/main" id="{3D0BF4BF-3C7C-C67F-B6EE-805EC95EF8CA}"/>
              </a:ext>
            </a:extLst>
          </p:cNvPr>
          <p:cNvSpPr>
            <a:spLocks noGrp="1"/>
          </p:cNvSpPr>
          <p:nvPr>
            <p:ph type="body" sz="quarter" idx="13"/>
          </p:nvPr>
        </p:nvSpPr>
        <p:spPr>
          <a:xfrm>
            <a:off x="6245352" y="1353312"/>
            <a:ext cx="4828032" cy="490538"/>
          </a:xfrm>
        </p:spPr>
        <p:txBody>
          <a:bodyPr/>
          <a:lstStyle>
            <a:lvl1pPr marL="0" indent="0">
              <a:lnSpc>
                <a:spcPct val="100000"/>
              </a:lnSpc>
              <a:spcBef>
                <a:spcPts val="0"/>
              </a:spcBef>
              <a:buNone/>
              <a:defRPr sz="2200" b="1">
                <a:solidFill>
                  <a:schemeClr val="accent5"/>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12" name="Text Placeholder 10">
            <a:extLst>
              <a:ext uri="{FF2B5EF4-FFF2-40B4-BE49-F238E27FC236}">
                <a16:creationId xmlns:a16="http://schemas.microsoft.com/office/drawing/2014/main" id="{BA37E40B-957E-C00E-3B34-1B67D341A771}"/>
              </a:ext>
            </a:extLst>
          </p:cNvPr>
          <p:cNvSpPr>
            <a:spLocks noGrp="1"/>
          </p:cNvSpPr>
          <p:nvPr>
            <p:ph type="body" sz="quarter" idx="14"/>
          </p:nvPr>
        </p:nvSpPr>
        <p:spPr>
          <a:xfrm>
            <a:off x="6245352" y="3502152"/>
            <a:ext cx="4828032" cy="490538"/>
          </a:xfrm>
        </p:spPr>
        <p:txBody>
          <a:bodyPr/>
          <a:lstStyle>
            <a:lvl1pPr marL="0" indent="0">
              <a:lnSpc>
                <a:spcPct val="100000"/>
              </a:lnSpc>
              <a:spcBef>
                <a:spcPts val="0"/>
              </a:spcBef>
              <a:buNone/>
              <a:defRPr sz="2200" b="1">
                <a:solidFill>
                  <a:schemeClr val="accent5"/>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14" name="Text Placeholder 13">
            <a:extLst>
              <a:ext uri="{FF2B5EF4-FFF2-40B4-BE49-F238E27FC236}">
                <a16:creationId xmlns:a16="http://schemas.microsoft.com/office/drawing/2014/main" id="{EF15CD76-2DD5-DB8A-37D3-6098A50870D0}"/>
              </a:ext>
            </a:extLst>
          </p:cNvPr>
          <p:cNvSpPr>
            <a:spLocks noGrp="1"/>
          </p:cNvSpPr>
          <p:nvPr>
            <p:ph type="body" sz="quarter" idx="15"/>
          </p:nvPr>
        </p:nvSpPr>
        <p:spPr>
          <a:xfrm>
            <a:off x="5971032" y="1792224"/>
            <a:ext cx="4754880" cy="1682750"/>
          </a:xfrm>
        </p:spPr>
        <p:txBody>
          <a:bodyPr/>
          <a:lstStyle>
            <a:lvl1pPr marL="283464" indent="-283464">
              <a:lnSpc>
                <a:spcPct val="150000"/>
              </a:lnSpc>
              <a:spcBef>
                <a:spcPts val="0"/>
              </a:spcBef>
              <a:defRPr sz="1600">
                <a:solidFill>
                  <a:schemeClr val="accent5"/>
                </a:solidFill>
              </a:defRPr>
            </a:lvl1pPr>
            <a:lvl2pPr indent="-283464">
              <a:lnSpc>
                <a:spcPct val="150000"/>
              </a:lnSpc>
              <a:spcBef>
                <a:spcPts val="0"/>
              </a:spcBef>
              <a:defRPr sz="1600">
                <a:solidFill>
                  <a:schemeClr val="accent5"/>
                </a:solidFill>
              </a:defRPr>
            </a:lvl2pPr>
            <a:lvl3pPr indent="-283464">
              <a:lnSpc>
                <a:spcPct val="150000"/>
              </a:lnSpc>
              <a:spcBef>
                <a:spcPts val="0"/>
              </a:spcBef>
              <a:defRPr sz="1600">
                <a:solidFill>
                  <a:schemeClr val="accent5"/>
                </a:solidFill>
              </a:defRPr>
            </a:lvl3pPr>
            <a:lvl4pPr indent="-283464">
              <a:lnSpc>
                <a:spcPct val="150000"/>
              </a:lnSpc>
              <a:spcBef>
                <a:spcPts val="0"/>
              </a:spcBef>
              <a:defRPr sz="1600">
                <a:solidFill>
                  <a:schemeClr val="accent5"/>
                </a:solidFill>
              </a:defRPr>
            </a:lvl4pPr>
            <a:lvl5pPr indent="-283464">
              <a:lnSpc>
                <a:spcPct val="150000"/>
              </a:lnSpc>
              <a:spcBef>
                <a:spcPts val="0"/>
              </a:spcBef>
              <a:defRPr sz="1600">
                <a:solidFill>
                  <a:schemeClr val="tx2"/>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p:txBody>
      </p:sp>
      <p:sp>
        <p:nvSpPr>
          <p:cNvPr id="15" name="Text Placeholder 13">
            <a:extLst>
              <a:ext uri="{FF2B5EF4-FFF2-40B4-BE49-F238E27FC236}">
                <a16:creationId xmlns:a16="http://schemas.microsoft.com/office/drawing/2014/main" id="{57A044E0-660B-4002-E13C-F00498E49782}"/>
              </a:ext>
            </a:extLst>
          </p:cNvPr>
          <p:cNvSpPr>
            <a:spLocks noGrp="1"/>
          </p:cNvSpPr>
          <p:nvPr>
            <p:ph type="body" sz="quarter" idx="16"/>
          </p:nvPr>
        </p:nvSpPr>
        <p:spPr>
          <a:xfrm>
            <a:off x="5971032" y="3941064"/>
            <a:ext cx="4754880" cy="1682750"/>
          </a:xfrm>
        </p:spPr>
        <p:txBody>
          <a:bodyPr/>
          <a:lstStyle>
            <a:lvl1pPr marL="283464" indent="-283464">
              <a:lnSpc>
                <a:spcPct val="150000"/>
              </a:lnSpc>
              <a:spcBef>
                <a:spcPts val="0"/>
              </a:spcBef>
              <a:defRPr sz="1600">
                <a:solidFill>
                  <a:schemeClr val="accent5"/>
                </a:solidFill>
              </a:defRPr>
            </a:lvl1pPr>
            <a:lvl2pPr indent="-283464">
              <a:lnSpc>
                <a:spcPct val="150000"/>
              </a:lnSpc>
              <a:spcBef>
                <a:spcPts val="0"/>
              </a:spcBef>
              <a:defRPr sz="1600">
                <a:solidFill>
                  <a:schemeClr val="accent5"/>
                </a:solidFill>
              </a:defRPr>
            </a:lvl2pPr>
            <a:lvl3pPr indent="-283464">
              <a:lnSpc>
                <a:spcPct val="150000"/>
              </a:lnSpc>
              <a:spcBef>
                <a:spcPts val="0"/>
              </a:spcBef>
              <a:defRPr sz="1600">
                <a:solidFill>
                  <a:schemeClr val="accent5"/>
                </a:solidFill>
              </a:defRPr>
            </a:lvl3pPr>
            <a:lvl4pPr indent="-283464">
              <a:lnSpc>
                <a:spcPct val="150000"/>
              </a:lnSpc>
              <a:spcBef>
                <a:spcPts val="0"/>
              </a:spcBef>
              <a:defRPr sz="1600">
                <a:solidFill>
                  <a:schemeClr val="accent5"/>
                </a:solidFill>
              </a:defRPr>
            </a:lvl4pPr>
            <a:lvl5pPr indent="-283464">
              <a:lnSpc>
                <a:spcPct val="150000"/>
              </a:lnSpc>
              <a:spcBef>
                <a:spcPts val="0"/>
              </a:spcBef>
              <a:defRPr sz="1600">
                <a:solidFill>
                  <a:schemeClr val="tx2"/>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p:txBody>
      </p:sp>
      <p:grpSp>
        <p:nvGrpSpPr>
          <p:cNvPr id="17" name="Group 16">
            <a:extLst>
              <a:ext uri="{FF2B5EF4-FFF2-40B4-BE49-F238E27FC236}">
                <a16:creationId xmlns:a16="http://schemas.microsoft.com/office/drawing/2014/main" id="{0D78A0CF-0A37-4436-67C4-B32FD7703E96}"/>
              </a:ext>
            </a:extLst>
          </p:cNvPr>
          <p:cNvGrpSpPr/>
          <p:nvPr userDrawn="1"/>
        </p:nvGrpSpPr>
        <p:grpSpPr>
          <a:xfrm>
            <a:off x="-28308" y="2514621"/>
            <a:ext cx="5666632" cy="0"/>
            <a:chOff x="5464255" y="5541151"/>
            <a:chExt cx="5666632" cy="0"/>
          </a:xfrm>
        </p:grpSpPr>
        <p:cxnSp>
          <p:nvCxnSpPr>
            <p:cNvPr id="24" name="Straight Connector 23">
              <a:extLst>
                <a:ext uri="{FF2B5EF4-FFF2-40B4-BE49-F238E27FC236}">
                  <a16:creationId xmlns:a16="http://schemas.microsoft.com/office/drawing/2014/main" id="{8FC6D8A4-CA31-16C2-95B7-B98F65F29A69}"/>
                </a:ext>
              </a:extLst>
            </p:cNvPr>
            <p:cNvCxnSpPr>
              <a:cxnSpLocks/>
            </p:cNvCxnSpPr>
            <p:nvPr/>
          </p:nvCxnSpPr>
          <p:spPr>
            <a:xfrm>
              <a:off x="5464255" y="5541151"/>
              <a:ext cx="3991534" cy="0"/>
            </a:xfrm>
            <a:prstGeom prst="line">
              <a:avLst/>
            </a:prstGeom>
            <a:ln w="5715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02097A8D-64FC-CDBD-4497-5E32BC6AF9C2}"/>
                </a:ext>
              </a:extLst>
            </p:cNvPr>
            <p:cNvCxnSpPr>
              <a:cxnSpLocks/>
            </p:cNvCxnSpPr>
            <p:nvPr/>
          </p:nvCxnSpPr>
          <p:spPr>
            <a:xfrm>
              <a:off x="9454487" y="5541151"/>
              <a:ext cx="1676400" cy="0"/>
            </a:xfrm>
            <a:prstGeom prst="line">
              <a:avLst/>
            </a:prstGeom>
            <a:ln w="57150">
              <a:solidFill>
                <a:schemeClr val="accent5"/>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81931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ntent">
    <p:bg>
      <p:bgPr>
        <a:solidFill>
          <a:schemeClr val="accent3">
            <a:lumMod val="60000"/>
            <a:lumOff val="40000"/>
          </a:schemeClr>
        </a:solid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DACF6E0F-D722-BAD9-C6AD-9A11DAE47EC0}"/>
              </a:ext>
            </a:extLst>
          </p:cNvPr>
          <p:cNvSpPr>
            <a:spLocks noGrp="1"/>
          </p:cNvSpPr>
          <p:nvPr>
            <p:ph type="ftr" sz="quarter" idx="11"/>
          </p:nvPr>
        </p:nvSpPr>
        <p:spPr/>
        <p:txBody>
          <a:bodyPr/>
          <a:lstStyle/>
          <a:p>
            <a:r>
              <a:rPr lang="en-US" noProof="0"/>
              <a:t>An implementation of a true random number generator</a:t>
            </a:r>
          </a:p>
        </p:txBody>
      </p:sp>
      <p:sp>
        <p:nvSpPr>
          <p:cNvPr id="7" name="Slide Number Placeholder 6">
            <a:extLst>
              <a:ext uri="{FF2B5EF4-FFF2-40B4-BE49-F238E27FC236}">
                <a16:creationId xmlns:a16="http://schemas.microsoft.com/office/drawing/2014/main" id="{61160B7A-B490-F67E-2740-38CA3A987691}"/>
              </a:ext>
            </a:extLst>
          </p:cNvPr>
          <p:cNvSpPr>
            <a:spLocks noGrp="1"/>
          </p:cNvSpPr>
          <p:nvPr>
            <p:ph type="sldNum" sz="quarter" idx="12"/>
          </p:nvPr>
        </p:nvSpPr>
        <p:spPr/>
        <p:txBody>
          <a:bodyPr/>
          <a:lstStyle/>
          <a:p>
            <a:fld id="{5BFCF61C-3B18-4C03-8326-CC3B32D710C9}" type="slidenum">
              <a:rPr lang="en-US" noProof="0" smtClean="0"/>
              <a:t>‹#›</a:t>
            </a:fld>
            <a:endParaRPr lang="en-US" noProof="0"/>
          </a:p>
        </p:txBody>
      </p:sp>
      <p:sp>
        <p:nvSpPr>
          <p:cNvPr id="8" name="Title 1">
            <a:extLst>
              <a:ext uri="{FF2B5EF4-FFF2-40B4-BE49-F238E27FC236}">
                <a16:creationId xmlns:a16="http://schemas.microsoft.com/office/drawing/2014/main" id="{814A6C9A-83F0-5E94-8A5B-89CB08282C38}"/>
              </a:ext>
            </a:extLst>
          </p:cNvPr>
          <p:cNvSpPr>
            <a:spLocks noGrp="1"/>
          </p:cNvSpPr>
          <p:nvPr>
            <p:ph type="title"/>
          </p:nvPr>
        </p:nvSpPr>
        <p:spPr>
          <a:xfrm>
            <a:off x="2295144" y="1463040"/>
            <a:ext cx="7498080" cy="704088"/>
          </a:xfrm>
        </p:spPr>
        <p:txBody>
          <a:bodyPr/>
          <a:lstStyle>
            <a:lvl1pPr>
              <a:defRPr sz="5000"/>
            </a:lvl1pPr>
          </a:lstStyle>
          <a:p>
            <a:r>
              <a:rPr lang="en-US" noProof="0"/>
              <a:t>Click to edit Master title style</a:t>
            </a:r>
          </a:p>
        </p:txBody>
      </p:sp>
      <p:grpSp>
        <p:nvGrpSpPr>
          <p:cNvPr id="9" name="Group 8">
            <a:extLst>
              <a:ext uri="{FF2B5EF4-FFF2-40B4-BE49-F238E27FC236}">
                <a16:creationId xmlns:a16="http://schemas.microsoft.com/office/drawing/2014/main" id="{52784B99-8374-AA22-4161-578F9BF77E2B}"/>
              </a:ext>
            </a:extLst>
          </p:cNvPr>
          <p:cNvGrpSpPr/>
          <p:nvPr userDrawn="1"/>
        </p:nvGrpSpPr>
        <p:grpSpPr>
          <a:xfrm>
            <a:off x="2400300" y="2535841"/>
            <a:ext cx="9801127" cy="821"/>
            <a:chOff x="2286319" y="5546299"/>
            <a:chExt cx="9801127" cy="903"/>
          </a:xfrm>
        </p:grpSpPr>
        <p:cxnSp>
          <p:nvCxnSpPr>
            <p:cNvPr id="10" name="Straight Connector 9">
              <a:extLst>
                <a:ext uri="{FF2B5EF4-FFF2-40B4-BE49-F238E27FC236}">
                  <a16:creationId xmlns:a16="http://schemas.microsoft.com/office/drawing/2014/main" id="{F0F45B19-145D-7398-7A64-A88B28251AAD}"/>
                </a:ext>
              </a:extLst>
            </p:cNvPr>
            <p:cNvCxnSpPr>
              <a:cxnSpLocks/>
            </p:cNvCxnSpPr>
            <p:nvPr/>
          </p:nvCxnSpPr>
          <p:spPr>
            <a:xfrm>
              <a:off x="2286319" y="5546299"/>
              <a:ext cx="7391400" cy="0"/>
            </a:xfrm>
            <a:prstGeom prst="line">
              <a:avLst/>
            </a:prstGeom>
            <a:ln w="571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0029EB3C-D7BA-1FCE-3158-8F1116C6F5BE}"/>
                </a:ext>
              </a:extLst>
            </p:cNvPr>
            <p:cNvCxnSpPr>
              <a:cxnSpLocks/>
            </p:cNvCxnSpPr>
            <p:nvPr/>
          </p:nvCxnSpPr>
          <p:spPr>
            <a:xfrm>
              <a:off x="9676016" y="5547202"/>
              <a:ext cx="2411430" cy="0"/>
            </a:xfrm>
            <a:prstGeom prst="line">
              <a:avLst/>
            </a:prstGeom>
            <a:ln w="57150">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2" name="Text Placeholder 10">
            <a:extLst>
              <a:ext uri="{FF2B5EF4-FFF2-40B4-BE49-F238E27FC236}">
                <a16:creationId xmlns:a16="http://schemas.microsoft.com/office/drawing/2014/main" id="{F8F78388-68BC-0124-C243-36D5B5DC78E6}"/>
              </a:ext>
            </a:extLst>
          </p:cNvPr>
          <p:cNvSpPr>
            <a:spLocks noGrp="1"/>
          </p:cNvSpPr>
          <p:nvPr>
            <p:ph type="body" sz="quarter" idx="13"/>
          </p:nvPr>
        </p:nvSpPr>
        <p:spPr>
          <a:xfrm>
            <a:off x="2322576" y="2971800"/>
            <a:ext cx="4828032" cy="490538"/>
          </a:xfrm>
        </p:spPr>
        <p:txBody>
          <a:bodyPr/>
          <a:lstStyle>
            <a:lvl1pPr marL="0" indent="0">
              <a:lnSpc>
                <a:spcPct val="100000"/>
              </a:lnSpc>
              <a:spcBef>
                <a:spcPts val="0"/>
              </a:spcBef>
              <a:buNone/>
              <a:defRPr sz="2200" b="1">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13" name="Text Placeholder 10">
            <a:extLst>
              <a:ext uri="{FF2B5EF4-FFF2-40B4-BE49-F238E27FC236}">
                <a16:creationId xmlns:a16="http://schemas.microsoft.com/office/drawing/2014/main" id="{D7FBEF6F-7749-849E-36C5-CC056F30711F}"/>
              </a:ext>
            </a:extLst>
          </p:cNvPr>
          <p:cNvSpPr>
            <a:spLocks noGrp="1"/>
          </p:cNvSpPr>
          <p:nvPr>
            <p:ph type="body" sz="quarter" idx="14"/>
          </p:nvPr>
        </p:nvSpPr>
        <p:spPr>
          <a:xfrm>
            <a:off x="2322576" y="4443984"/>
            <a:ext cx="4828032" cy="490538"/>
          </a:xfrm>
        </p:spPr>
        <p:txBody>
          <a:bodyPr/>
          <a:lstStyle>
            <a:lvl1pPr marL="0" indent="0">
              <a:lnSpc>
                <a:spcPct val="100000"/>
              </a:lnSpc>
              <a:spcBef>
                <a:spcPts val="0"/>
              </a:spcBef>
              <a:buNone/>
              <a:defRPr sz="2200" b="1">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14" name="Text Placeholder 13">
            <a:extLst>
              <a:ext uri="{FF2B5EF4-FFF2-40B4-BE49-F238E27FC236}">
                <a16:creationId xmlns:a16="http://schemas.microsoft.com/office/drawing/2014/main" id="{8A350182-DD59-73E2-C20A-4B5FE6715444}"/>
              </a:ext>
            </a:extLst>
          </p:cNvPr>
          <p:cNvSpPr>
            <a:spLocks noGrp="1"/>
          </p:cNvSpPr>
          <p:nvPr>
            <p:ph type="body" sz="quarter" idx="15"/>
          </p:nvPr>
        </p:nvSpPr>
        <p:spPr>
          <a:xfrm>
            <a:off x="2020824" y="3401568"/>
            <a:ext cx="8379220" cy="975260"/>
          </a:xfrm>
        </p:spPr>
        <p:txBody>
          <a:bodyPr numCol="2" spcCol="91440"/>
          <a:lstStyle>
            <a:lvl1pPr marL="283464" indent="-283464">
              <a:lnSpc>
                <a:spcPct val="150000"/>
              </a:lnSpc>
              <a:spcBef>
                <a:spcPts val="0"/>
              </a:spcBef>
              <a:defRPr sz="1600">
                <a:solidFill>
                  <a:schemeClr val="tx2"/>
                </a:solidFill>
              </a:defRPr>
            </a:lvl1pPr>
            <a:lvl2pPr indent="-283464">
              <a:lnSpc>
                <a:spcPct val="150000"/>
              </a:lnSpc>
              <a:spcBef>
                <a:spcPts val="0"/>
              </a:spcBef>
              <a:defRPr sz="1600">
                <a:solidFill>
                  <a:schemeClr val="tx2"/>
                </a:solidFill>
              </a:defRPr>
            </a:lvl2pPr>
            <a:lvl3pPr indent="-283464">
              <a:lnSpc>
                <a:spcPct val="150000"/>
              </a:lnSpc>
              <a:spcBef>
                <a:spcPts val="0"/>
              </a:spcBef>
              <a:defRPr sz="1600">
                <a:solidFill>
                  <a:schemeClr val="tx2"/>
                </a:solidFill>
              </a:defRPr>
            </a:lvl3pPr>
            <a:lvl4pPr indent="-283464">
              <a:lnSpc>
                <a:spcPct val="150000"/>
              </a:lnSpc>
              <a:spcBef>
                <a:spcPts val="0"/>
              </a:spcBef>
              <a:defRPr sz="1600">
                <a:solidFill>
                  <a:schemeClr val="tx2"/>
                </a:solidFill>
              </a:defRPr>
            </a:lvl4pPr>
            <a:lvl5pPr indent="-283464">
              <a:lnSpc>
                <a:spcPct val="150000"/>
              </a:lnSpc>
              <a:spcBef>
                <a:spcPts val="0"/>
              </a:spcBef>
              <a:defRPr sz="1600">
                <a:solidFill>
                  <a:schemeClr val="tx2"/>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p:txBody>
      </p:sp>
      <p:sp>
        <p:nvSpPr>
          <p:cNvPr id="15" name="Text Placeholder 13">
            <a:extLst>
              <a:ext uri="{FF2B5EF4-FFF2-40B4-BE49-F238E27FC236}">
                <a16:creationId xmlns:a16="http://schemas.microsoft.com/office/drawing/2014/main" id="{5E14A588-A920-9AE0-A268-A008EAF6FCBA}"/>
              </a:ext>
            </a:extLst>
          </p:cNvPr>
          <p:cNvSpPr>
            <a:spLocks noGrp="1"/>
          </p:cNvSpPr>
          <p:nvPr>
            <p:ph type="body" sz="quarter" idx="16"/>
          </p:nvPr>
        </p:nvSpPr>
        <p:spPr>
          <a:xfrm>
            <a:off x="2020824" y="4901184"/>
            <a:ext cx="8379220" cy="975260"/>
          </a:xfrm>
        </p:spPr>
        <p:txBody>
          <a:bodyPr numCol="2" spcCol="91440"/>
          <a:lstStyle>
            <a:lvl1pPr marL="283464" indent="-283464">
              <a:lnSpc>
                <a:spcPct val="150000"/>
              </a:lnSpc>
              <a:spcBef>
                <a:spcPts val="0"/>
              </a:spcBef>
              <a:defRPr sz="1600">
                <a:solidFill>
                  <a:schemeClr val="tx2"/>
                </a:solidFill>
              </a:defRPr>
            </a:lvl1pPr>
            <a:lvl2pPr indent="-283464">
              <a:lnSpc>
                <a:spcPct val="150000"/>
              </a:lnSpc>
              <a:spcBef>
                <a:spcPts val="0"/>
              </a:spcBef>
              <a:defRPr sz="1600">
                <a:solidFill>
                  <a:schemeClr val="tx2"/>
                </a:solidFill>
              </a:defRPr>
            </a:lvl2pPr>
            <a:lvl3pPr indent="-283464">
              <a:lnSpc>
                <a:spcPct val="150000"/>
              </a:lnSpc>
              <a:spcBef>
                <a:spcPts val="0"/>
              </a:spcBef>
              <a:defRPr sz="1600">
                <a:solidFill>
                  <a:schemeClr val="tx2"/>
                </a:solidFill>
              </a:defRPr>
            </a:lvl3pPr>
            <a:lvl4pPr indent="-283464">
              <a:lnSpc>
                <a:spcPct val="150000"/>
              </a:lnSpc>
              <a:spcBef>
                <a:spcPts val="0"/>
              </a:spcBef>
              <a:defRPr sz="1600">
                <a:solidFill>
                  <a:schemeClr val="tx2"/>
                </a:solidFill>
              </a:defRPr>
            </a:lvl4pPr>
            <a:lvl5pPr indent="-283464">
              <a:lnSpc>
                <a:spcPct val="150000"/>
              </a:lnSpc>
              <a:spcBef>
                <a:spcPts val="0"/>
              </a:spcBef>
              <a:defRPr sz="1600">
                <a:solidFill>
                  <a:schemeClr val="tx2"/>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p:txBody>
      </p:sp>
    </p:spTree>
    <p:extLst>
      <p:ext uri="{BB962C8B-B14F-4D97-AF65-F5344CB8AC3E}">
        <p14:creationId xmlns:p14="http://schemas.microsoft.com/office/powerpoint/2010/main" val="17890225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hree Content">
    <p:bg>
      <p:bgPr>
        <a:solidFill>
          <a:schemeClr val="accent3">
            <a:lumMod val="60000"/>
            <a:lumOff val="40000"/>
          </a:schemeClr>
        </a:solid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DACF6E0F-D722-BAD9-C6AD-9A11DAE47EC0}"/>
              </a:ext>
            </a:extLst>
          </p:cNvPr>
          <p:cNvSpPr>
            <a:spLocks noGrp="1"/>
          </p:cNvSpPr>
          <p:nvPr>
            <p:ph type="ftr" sz="quarter" idx="11"/>
          </p:nvPr>
        </p:nvSpPr>
        <p:spPr/>
        <p:txBody>
          <a:bodyPr/>
          <a:lstStyle/>
          <a:p>
            <a:r>
              <a:rPr lang="en-US"/>
              <a:t>An implementation of a true random number generator</a:t>
            </a:r>
            <a:endParaRPr lang="en-PK"/>
          </a:p>
        </p:txBody>
      </p:sp>
      <p:sp>
        <p:nvSpPr>
          <p:cNvPr id="7" name="Slide Number Placeholder 6">
            <a:extLst>
              <a:ext uri="{FF2B5EF4-FFF2-40B4-BE49-F238E27FC236}">
                <a16:creationId xmlns:a16="http://schemas.microsoft.com/office/drawing/2014/main" id="{61160B7A-B490-F67E-2740-38CA3A987691}"/>
              </a:ext>
            </a:extLst>
          </p:cNvPr>
          <p:cNvSpPr>
            <a:spLocks noGrp="1"/>
          </p:cNvSpPr>
          <p:nvPr>
            <p:ph type="sldNum" sz="quarter" idx="12"/>
          </p:nvPr>
        </p:nvSpPr>
        <p:spPr/>
        <p:txBody>
          <a:bodyPr/>
          <a:lstStyle/>
          <a:p>
            <a:fld id="{5BFCF61C-3B18-4C03-8326-CC3B32D710C9}" type="slidenum">
              <a:rPr lang="en-US" noProof="0" smtClean="0"/>
              <a:t>‹#›</a:t>
            </a:fld>
            <a:endParaRPr lang="en-US" noProof="0"/>
          </a:p>
        </p:txBody>
      </p:sp>
      <p:sp>
        <p:nvSpPr>
          <p:cNvPr id="8" name="Title 1">
            <a:extLst>
              <a:ext uri="{FF2B5EF4-FFF2-40B4-BE49-F238E27FC236}">
                <a16:creationId xmlns:a16="http://schemas.microsoft.com/office/drawing/2014/main" id="{814A6C9A-83F0-5E94-8A5B-89CB08282C38}"/>
              </a:ext>
            </a:extLst>
          </p:cNvPr>
          <p:cNvSpPr>
            <a:spLocks noGrp="1"/>
          </p:cNvSpPr>
          <p:nvPr>
            <p:ph type="title"/>
          </p:nvPr>
        </p:nvSpPr>
        <p:spPr>
          <a:xfrm>
            <a:off x="603504" y="1463040"/>
            <a:ext cx="10871708" cy="704088"/>
          </a:xfrm>
        </p:spPr>
        <p:txBody>
          <a:bodyPr/>
          <a:lstStyle>
            <a:lvl1pPr>
              <a:defRPr sz="5000"/>
            </a:lvl1pPr>
          </a:lstStyle>
          <a:p>
            <a:r>
              <a:rPr lang="en-US" dirty="0"/>
              <a:t>Click to edit Master title style</a:t>
            </a:r>
            <a:endParaRPr lang="en-PK" dirty="0"/>
          </a:p>
        </p:txBody>
      </p:sp>
      <p:sp>
        <p:nvSpPr>
          <p:cNvPr id="12" name="Text Placeholder 10">
            <a:extLst>
              <a:ext uri="{FF2B5EF4-FFF2-40B4-BE49-F238E27FC236}">
                <a16:creationId xmlns:a16="http://schemas.microsoft.com/office/drawing/2014/main" id="{F8F78388-68BC-0124-C243-36D5B5DC78E6}"/>
              </a:ext>
            </a:extLst>
          </p:cNvPr>
          <p:cNvSpPr>
            <a:spLocks noGrp="1"/>
          </p:cNvSpPr>
          <p:nvPr>
            <p:ph type="body" sz="quarter" idx="13"/>
          </p:nvPr>
        </p:nvSpPr>
        <p:spPr>
          <a:xfrm>
            <a:off x="649224" y="2980944"/>
            <a:ext cx="3282696" cy="1106424"/>
          </a:xfrm>
        </p:spPr>
        <p:txBody>
          <a:bodyPr/>
          <a:lstStyle>
            <a:lvl1pPr marL="0" indent="0">
              <a:lnSpc>
                <a:spcPct val="100000"/>
              </a:lnSpc>
              <a:spcBef>
                <a:spcPts val="0"/>
              </a:spcBef>
              <a:buNone/>
              <a:defRPr sz="2200" b="1">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p:txBody>
      </p:sp>
      <p:sp>
        <p:nvSpPr>
          <p:cNvPr id="13" name="Text Placeholder 10">
            <a:extLst>
              <a:ext uri="{FF2B5EF4-FFF2-40B4-BE49-F238E27FC236}">
                <a16:creationId xmlns:a16="http://schemas.microsoft.com/office/drawing/2014/main" id="{D7FBEF6F-7749-849E-36C5-CC056F30711F}"/>
              </a:ext>
            </a:extLst>
          </p:cNvPr>
          <p:cNvSpPr>
            <a:spLocks noGrp="1"/>
          </p:cNvSpPr>
          <p:nvPr>
            <p:ph type="body" sz="quarter" idx="14"/>
          </p:nvPr>
        </p:nvSpPr>
        <p:spPr>
          <a:xfrm>
            <a:off x="4334256" y="2980944"/>
            <a:ext cx="3282696" cy="1106424"/>
          </a:xfrm>
        </p:spPr>
        <p:txBody>
          <a:bodyPr/>
          <a:lstStyle>
            <a:lvl1pPr marL="0" indent="0">
              <a:lnSpc>
                <a:spcPct val="100000"/>
              </a:lnSpc>
              <a:spcBef>
                <a:spcPts val="0"/>
              </a:spcBef>
              <a:buNone/>
              <a:defRPr sz="2200" b="1">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p:txBody>
      </p:sp>
      <p:sp>
        <p:nvSpPr>
          <p:cNvPr id="14" name="Text Placeholder 13">
            <a:extLst>
              <a:ext uri="{FF2B5EF4-FFF2-40B4-BE49-F238E27FC236}">
                <a16:creationId xmlns:a16="http://schemas.microsoft.com/office/drawing/2014/main" id="{8A350182-DD59-73E2-C20A-4B5FE6715444}"/>
              </a:ext>
            </a:extLst>
          </p:cNvPr>
          <p:cNvSpPr>
            <a:spLocks noGrp="1"/>
          </p:cNvSpPr>
          <p:nvPr>
            <p:ph type="body" sz="quarter" idx="15"/>
          </p:nvPr>
        </p:nvSpPr>
        <p:spPr>
          <a:xfrm>
            <a:off x="365760" y="4114800"/>
            <a:ext cx="3282696" cy="975260"/>
          </a:xfrm>
        </p:spPr>
        <p:txBody>
          <a:bodyPr numCol="1" spcCol="91440"/>
          <a:lstStyle>
            <a:lvl1pPr marL="283464" indent="-283464">
              <a:lnSpc>
                <a:spcPct val="150000"/>
              </a:lnSpc>
              <a:spcBef>
                <a:spcPts val="0"/>
              </a:spcBef>
              <a:defRPr sz="1600">
                <a:solidFill>
                  <a:schemeClr val="tx2"/>
                </a:solidFill>
              </a:defRPr>
            </a:lvl1pPr>
            <a:lvl2pPr indent="-283464">
              <a:lnSpc>
                <a:spcPct val="150000"/>
              </a:lnSpc>
              <a:spcBef>
                <a:spcPts val="0"/>
              </a:spcBef>
              <a:defRPr sz="1600">
                <a:solidFill>
                  <a:schemeClr val="tx2"/>
                </a:solidFill>
              </a:defRPr>
            </a:lvl2pPr>
            <a:lvl3pPr indent="-283464">
              <a:lnSpc>
                <a:spcPct val="150000"/>
              </a:lnSpc>
              <a:spcBef>
                <a:spcPts val="0"/>
              </a:spcBef>
              <a:defRPr sz="1600">
                <a:solidFill>
                  <a:schemeClr val="tx2"/>
                </a:solidFill>
              </a:defRPr>
            </a:lvl3pPr>
            <a:lvl4pPr indent="-283464">
              <a:lnSpc>
                <a:spcPct val="150000"/>
              </a:lnSpc>
              <a:spcBef>
                <a:spcPts val="0"/>
              </a:spcBef>
              <a:defRPr sz="1600">
                <a:solidFill>
                  <a:schemeClr val="tx2"/>
                </a:solidFill>
              </a:defRPr>
            </a:lvl4pPr>
            <a:lvl5pPr indent="-283464">
              <a:lnSpc>
                <a:spcPct val="150000"/>
              </a:lnSpc>
              <a:spcBef>
                <a:spcPts val="0"/>
              </a:spcBef>
              <a:defRPr sz="1600">
                <a:solidFill>
                  <a:schemeClr val="tx2"/>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5" name="Text Placeholder 13">
            <a:extLst>
              <a:ext uri="{FF2B5EF4-FFF2-40B4-BE49-F238E27FC236}">
                <a16:creationId xmlns:a16="http://schemas.microsoft.com/office/drawing/2014/main" id="{5E14A588-A920-9AE0-A268-A008EAF6FCBA}"/>
              </a:ext>
            </a:extLst>
          </p:cNvPr>
          <p:cNvSpPr>
            <a:spLocks noGrp="1"/>
          </p:cNvSpPr>
          <p:nvPr>
            <p:ph type="body" sz="quarter" idx="16"/>
          </p:nvPr>
        </p:nvSpPr>
        <p:spPr>
          <a:xfrm>
            <a:off x="4005072" y="4114800"/>
            <a:ext cx="3282696" cy="975260"/>
          </a:xfrm>
        </p:spPr>
        <p:txBody>
          <a:bodyPr numCol="1" spcCol="91440"/>
          <a:lstStyle>
            <a:lvl1pPr marL="283464" indent="-283464">
              <a:lnSpc>
                <a:spcPct val="150000"/>
              </a:lnSpc>
              <a:spcBef>
                <a:spcPts val="0"/>
              </a:spcBef>
              <a:defRPr sz="1600">
                <a:solidFill>
                  <a:schemeClr val="tx2"/>
                </a:solidFill>
              </a:defRPr>
            </a:lvl1pPr>
            <a:lvl2pPr indent="-283464">
              <a:lnSpc>
                <a:spcPct val="150000"/>
              </a:lnSpc>
              <a:spcBef>
                <a:spcPts val="0"/>
              </a:spcBef>
              <a:defRPr sz="1600">
                <a:solidFill>
                  <a:schemeClr val="tx2"/>
                </a:solidFill>
              </a:defRPr>
            </a:lvl2pPr>
            <a:lvl3pPr indent="-283464">
              <a:lnSpc>
                <a:spcPct val="150000"/>
              </a:lnSpc>
              <a:spcBef>
                <a:spcPts val="0"/>
              </a:spcBef>
              <a:defRPr sz="1600">
                <a:solidFill>
                  <a:schemeClr val="tx2"/>
                </a:solidFill>
              </a:defRPr>
            </a:lvl3pPr>
            <a:lvl4pPr indent="-283464">
              <a:lnSpc>
                <a:spcPct val="150000"/>
              </a:lnSpc>
              <a:spcBef>
                <a:spcPts val="0"/>
              </a:spcBef>
              <a:defRPr sz="1600">
                <a:solidFill>
                  <a:schemeClr val="tx2"/>
                </a:solidFill>
              </a:defRPr>
            </a:lvl4pPr>
            <a:lvl5pPr indent="-283464">
              <a:lnSpc>
                <a:spcPct val="150000"/>
              </a:lnSpc>
              <a:spcBef>
                <a:spcPts val="0"/>
              </a:spcBef>
              <a:defRPr sz="1600">
                <a:solidFill>
                  <a:schemeClr val="tx2"/>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grpSp>
        <p:nvGrpSpPr>
          <p:cNvPr id="16" name="Group 15">
            <a:extLst>
              <a:ext uri="{FF2B5EF4-FFF2-40B4-BE49-F238E27FC236}">
                <a16:creationId xmlns:a16="http://schemas.microsoft.com/office/drawing/2014/main" id="{B8221A12-8B19-605A-2244-2D732269C955}"/>
              </a:ext>
            </a:extLst>
          </p:cNvPr>
          <p:cNvGrpSpPr/>
          <p:nvPr userDrawn="1"/>
        </p:nvGrpSpPr>
        <p:grpSpPr>
          <a:xfrm>
            <a:off x="716788" y="2527173"/>
            <a:ext cx="10758424" cy="1564"/>
            <a:chOff x="2792270" y="5541172"/>
            <a:chExt cx="11391900" cy="158"/>
          </a:xfrm>
        </p:grpSpPr>
        <p:cxnSp>
          <p:nvCxnSpPr>
            <p:cNvPr id="17" name="Straight Connector 16">
              <a:extLst>
                <a:ext uri="{FF2B5EF4-FFF2-40B4-BE49-F238E27FC236}">
                  <a16:creationId xmlns:a16="http://schemas.microsoft.com/office/drawing/2014/main" id="{A86C500B-5A93-298F-7CEF-ED445452E460}"/>
                </a:ext>
              </a:extLst>
            </p:cNvPr>
            <p:cNvCxnSpPr>
              <a:cxnSpLocks/>
            </p:cNvCxnSpPr>
            <p:nvPr/>
          </p:nvCxnSpPr>
          <p:spPr>
            <a:xfrm>
              <a:off x="2792270" y="5541172"/>
              <a:ext cx="6760464" cy="0"/>
            </a:xfrm>
            <a:prstGeom prst="line">
              <a:avLst/>
            </a:prstGeom>
            <a:ln w="57150">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7A559BC-EF4A-29D4-CF56-6425516A5D91}"/>
                </a:ext>
              </a:extLst>
            </p:cNvPr>
            <p:cNvCxnSpPr>
              <a:cxnSpLocks/>
            </p:cNvCxnSpPr>
            <p:nvPr/>
          </p:nvCxnSpPr>
          <p:spPr>
            <a:xfrm>
              <a:off x="9552734" y="5541330"/>
              <a:ext cx="4631436" cy="0"/>
            </a:xfrm>
            <a:prstGeom prst="line">
              <a:avLst/>
            </a:prstGeom>
            <a:ln w="57150">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9" name="Text Placeholder 10">
            <a:extLst>
              <a:ext uri="{FF2B5EF4-FFF2-40B4-BE49-F238E27FC236}">
                <a16:creationId xmlns:a16="http://schemas.microsoft.com/office/drawing/2014/main" id="{D2D34186-8505-57AE-F518-0C83BF1C06C9}"/>
              </a:ext>
            </a:extLst>
          </p:cNvPr>
          <p:cNvSpPr>
            <a:spLocks noGrp="1"/>
          </p:cNvSpPr>
          <p:nvPr>
            <p:ph type="body" sz="quarter" idx="17"/>
          </p:nvPr>
        </p:nvSpPr>
        <p:spPr>
          <a:xfrm>
            <a:off x="8266176" y="2980944"/>
            <a:ext cx="3282696" cy="1106424"/>
          </a:xfrm>
        </p:spPr>
        <p:txBody>
          <a:bodyPr/>
          <a:lstStyle>
            <a:lvl1pPr marL="0" indent="0">
              <a:lnSpc>
                <a:spcPct val="100000"/>
              </a:lnSpc>
              <a:spcBef>
                <a:spcPts val="0"/>
              </a:spcBef>
              <a:buNone/>
              <a:defRPr sz="2200" b="1">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p:txBody>
      </p:sp>
      <p:sp>
        <p:nvSpPr>
          <p:cNvPr id="20" name="Text Placeholder 13">
            <a:extLst>
              <a:ext uri="{FF2B5EF4-FFF2-40B4-BE49-F238E27FC236}">
                <a16:creationId xmlns:a16="http://schemas.microsoft.com/office/drawing/2014/main" id="{ABE767DA-9D93-94AD-D34D-2B8A51A76645}"/>
              </a:ext>
            </a:extLst>
          </p:cNvPr>
          <p:cNvSpPr>
            <a:spLocks noGrp="1"/>
          </p:cNvSpPr>
          <p:nvPr>
            <p:ph type="body" sz="quarter" idx="18"/>
          </p:nvPr>
        </p:nvSpPr>
        <p:spPr>
          <a:xfrm>
            <a:off x="7973568" y="4114800"/>
            <a:ext cx="3282696" cy="975260"/>
          </a:xfrm>
        </p:spPr>
        <p:txBody>
          <a:bodyPr numCol="1" spcCol="91440"/>
          <a:lstStyle>
            <a:lvl1pPr marL="283464" indent="-283464">
              <a:lnSpc>
                <a:spcPct val="150000"/>
              </a:lnSpc>
              <a:spcBef>
                <a:spcPts val="0"/>
              </a:spcBef>
              <a:defRPr sz="1600">
                <a:solidFill>
                  <a:schemeClr val="tx2"/>
                </a:solidFill>
              </a:defRPr>
            </a:lvl1pPr>
            <a:lvl2pPr indent="-283464">
              <a:lnSpc>
                <a:spcPct val="150000"/>
              </a:lnSpc>
              <a:spcBef>
                <a:spcPts val="0"/>
              </a:spcBef>
              <a:defRPr sz="1600">
                <a:solidFill>
                  <a:schemeClr val="tx2"/>
                </a:solidFill>
              </a:defRPr>
            </a:lvl2pPr>
            <a:lvl3pPr indent="-283464">
              <a:lnSpc>
                <a:spcPct val="150000"/>
              </a:lnSpc>
              <a:spcBef>
                <a:spcPts val="0"/>
              </a:spcBef>
              <a:defRPr sz="1600">
                <a:solidFill>
                  <a:schemeClr val="tx2"/>
                </a:solidFill>
              </a:defRPr>
            </a:lvl3pPr>
            <a:lvl4pPr indent="-283464">
              <a:lnSpc>
                <a:spcPct val="150000"/>
              </a:lnSpc>
              <a:spcBef>
                <a:spcPts val="0"/>
              </a:spcBef>
              <a:defRPr sz="1600">
                <a:solidFill>
                  <a:schemeClr val="tx2"/>
                </a:solidFill>
              </a:defRPr>
            </a:lvl4pPr>
            <a:lvl5pPr indent="-283464">
              <a:lnSpc>
                <a:spcPct val="150000"/>
              </a:lnSpc>
              <a:spcBef>
                <a:spcPts val="0"/>
              </a:spcBef>
              <a:defRPr sz="1600">
                <a:solidFill>
                  <a:schemeClr val="tx2"/>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318147566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6"/>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5AE86B75-C16C-C033-D27D-FF84EFB71131}"/>
              </a:ext>
            </a:extLst>
          </p:cNvPr>
          <p:cNvSpPr/>
          <p:nvPr userDrawn="1"/>
        </p:nvSpPr>
        <p:spPr>
          <a:xfrm>
            <a:off x="0" y="0"/>
            <a:ext cx="100203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E31443F-EAC2-06D1-A3D1-D73510EAF2A3}"/>
              </a:ext>
            </a:extLst>
          </p:cNvPr>
          <p:cNvSpPr>
            <a:spLocks noGrp="1"/>
          </p:cNvSpPr>
          <p:nvPr>
            <p:ph type="title"/>
          </p:nvPr>
        </p:nvSpPr>
        <p:spPr>
          <a:xfrm>
            <a:off x="2313432" y="1426464"/>
            <a:ext cx="6675120" cy="1702816"/>
          </a:xfrm>
        </p:spPr>
        <p:txBody>
          <a:bodyPr anchor="t"/>
          <a:lstStyle>
            <a:lvl1pPr>
              <a:lnSpc>
                <a:spcPct val="80000"/>
              </a:lnSpc>
              <a:defRPr sz="7200" cap="all" baseline="0">
                <a:solidFill>
                  <a:schemeClr val="bg1"/>
                </a:solidFill>
              </a:defRPr>
            </a:lvl1pPr>
          </a:lstStyle>
          <a:p>
            <a:r>
              <a:rPr lang="en-US" dirty="0"/>
              <a:t>Click to edit Master title style</a:t>
            </a:r>
          </a:p>
        </p:txBody>
      </p:sp>
      <p:grpSp>
        <p:nvGrpSpPr>
          <p:cNvPr id="7" name="Group 6">
            <a:extLst>
              <a:ext uri="{FF2B5EF4-FFF2-40B4-BE49-F238E27FC236}">
                <a16:creationId xmlns:a16="http://schemas.microsoft.com/office/drawing/2014/main" id="{D80535FC-1B0E-C4EB-FE55-190522219FEA}"/>
              </a:ext>
            </a:extLst>
          </p:cNvPr>
          <p:cNvGrpSpPr/>
          <p:nvPr userDrawn="1"/>
        </p:nvGrpSpPr>
        <p:grpSpPr>
          <a:xfrm>
            <a:off x="3979533" y="5799270"/>
            <a:ext cx="8212467" cy="0"/>
            <a:chOff x="3733800" y="5537385"/>
            <a:chExt cx="8212467" cy="0"/>
          </a:xfrm>
        </p:grpSpPr>
        <p:cxnSp>
          <p:nvCxnSpPr>
            <p:cNvPr id="8" name="Straight Connector 7">
              <a:extLst>
                <a:ext uri="{FF2B5EF4-FFF2-40B4-BE49-F238E27FC236}">
                  <a16:creationId xmlns:a16="http://schemas.microsoft.com/office/drawing/2014/main" id="{9CA6B206-18E0-06D2-958F-E859A1428A57}"/>
                </a:ext>
              </a:extLst>
            </p:cNvPr>
            <p:cNvCxnSpPr>
              <a:cxnSpLocks/>
            </p:cNvCxnSpPr>
            <p:nvPr/>
          </p:nvCxnSpPr>
          <p:spPr>
            <a:xfrm>
              <a:off x="3733800" y="5537385"/>
              <a:ext cx="6054153" cy="0"/>
            </a:xfrm>
            <a:prstGeom prst="line">
              <a:avLst/>
            </a:prstGeom>
            <a:ln w="571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447EEA7-F856-F6C0-18DD-5D37FD51D45B}"/>
                </a:ext>
              </a:extLst>
            </p:cNvPr>
            <p:cNvCxnSpPr>
              <a:cxnSpLocks/>
            </p:cNvCxnSpPr>
            <p:nvPr/>
          </p:nvCxnSpPr>
          <p:spPr>
            <a:xfrm>
              <a:off x="9774567" y="5537385"/>
              <a:ext cx="2171700" cy="0"/>
            </a:xfrm>
            <a:prstGeom prst="line">
              <a:avLst/>
            </a:prstGeom>
            <a:ln w="57150">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Text Placeholder 10">
            <a:extLst>
              <a:ext uri="{FF2B5EF4-FFF2-40B4-BE49-F238E27FC236}">
                <a16:creationId xmlns:a16="http://schemas.microsoft.com/office/drawing/2014/main" id="{A9C909AE-4D54-F197-103E-29E9C2597F56}"/>
              </a:ext>
            </a:extLst>
          </p:cNvPr>
          <p:cNvSpPr>
            <a:spLocks noGrp="1"/>
          </p:cNvSpPr>
          <p:nvPr>
            <p:ph type="body" sz="quarter" idx="10"/>
          </p:nvPr>
        </p:nvSpPr>
        <p:spPr>
          <a:xfrm>
            <a:off x="3877056" y="3383280"/>
            <a:ext cx="4754880" cy="2057400"/>
          </a:xfrm>
        </p:spPr>
        <p:txBody>
          <a:bodyPr/>
          <a:lstStyle>
            <a:lvl1pPr marL="0" indent="0">
              <a:lnSpc>
                <a:spcPct val="150000"/>
              </a:lnSpc>
              <a:spcBef>
                <a:spcPts val="0"/>
              </a:spcBef>
              <a:buNone/>
              <a:defRPr sz="2200" b="1">
                <a:solidFill>
                  <a:schemeClr val="bg1"/>
                </a:solidFill>
              </a:defRPr>
            </a:lvl1pPr>
            <a:lvl2pPr marL="0" indent="0">
              <a:lnSpc>
                <a:spcPct val="150000"/>
              </a:lnSpc>
              <a:spcBef>
                <a:spcPts val="0"/>
              </a:spcBef>
              <a:buNone/>
              <a:defRPr sz="2200">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1525968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E6C28C00-D101-DFF8-7E0A-1AEBF0DBE72B}"/>
              </a:ext>
            </a:extLst>
          </p:cNvPr>
          <p:cNvSpPr>
            <a:spLocks noGrp="1"/>
          </p:cNvSpPr>
          <p:nvPr>
            <p:ph type="dt" sz="half" idx="10"/>
          </p:nvPr>
        </p:nvSpPr>
        <p:spPr/>
        <p:txBody>
          <a:bodyPr/>
          <a:lstStyle/>
          <a:p>
            <a:endParaRPr lang="en-US" noProof="0" dirty="0"/>
          </a:p>
        </p:txBody>
      </p:sp>
      <p:sp>
        <p:nvSpPr>
          <p:cNvPr id="4" name="Footer Placeholder 3">
            <a:extLst>
              <a:ext uri="{FF2B5EF4-FFF2-40B4-BE49-F238E27FC236}">
                <a16:creationId xmlns:a16="http://schemas.microsoft.com/office/drawing/2014/main" id="{D74C5F1F-F8B7-6C5F-6A7F-5F8F6128A1C8}"/>
              </a:ext>
            </a:extLst>
          </p:cNvPr>
          <p:cNvSpPr>
            <a:spLocks noGrp="1"/>
          </p:cNvSpPr>
          <p:nvPr>
            <p:ph type="ftr" sz="quarter" idx="11"/>
          </p:nvPr>
        </p:nvSpPr>
        <p:spPr/>
        <p:txBody>
          <a:bodyPr/>
          <a:lstStyle/>
          <a:p>
            <a:r>
              <a:rPr lang="en-US"/>
              <a:t>An implementation of a true random number generator</a:t>
            </a:r>
            <a:endParaRPr lang="en-PK"/>
          </a:p>
        </p:txBody>
      </p:sp>
      <p:sp>
        <p:nvSpPr>
          <p:cNvPr id="5" name="Slide Number Placeholder 4">
            <a:extLst>
              <a:ext uri="{FF2B5EF4-FFF2-40B4-BE49-F238E27FC236}">
                <a16:creationId xmlns:a16="http://schemas.microsoft.com/office/drawing/2014/main" id="{EFD9287E-E726-E0E6-2871-FE77159B5E01}"/>
              </a:ext>
            </a:extLst>
          </p:cNvPr>
          <p:cNvSpPr>
            <a:spLocks noGrp="1"/>
          </p:cNvSpPr>
          <p:nvPr>
            <p:ph type="sldNum" sz="quarter" idx="12"/>
          </p:nvPr>
        </p:nvSpPr>
        <p:spPr/>
        <p:txBody>
          <a:bodyPr/>
          <a:lstStyle/>
          <a:p>
            <a:fld id="{5BFCF61C-3B18-4C03-8326-CC3B32D710C9}" type="slidenum">
              <a:rPr lang="en-US" noProof="0" smtClean="0"/>
              <a:t>‹#›</a:t>
            </a:fld>
            <a:endParaRPr lang="en-US" noProof="0"/>
          </a:p>
        </p:txBody>
      </p:sp>
      <p:sp>
        <p:nvSpPr>
          <p:cNvPr id="6" name="Title 5">
            <a:extLst>
              <a:ext uri="{FF2B5EF4-FFF2-40B4-BE49-F238E27FC236}">
                <a16:creationId xmlns:a16="http://schemas.microsoft.com/office/drawing/2014/main" id="{160592E8-155C-36FA-DA0A-52B23CE8AF5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2576334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64B432-06C2-E932-E96F-67CECC2E9658}"/>
              </a:ext>
            </a:extLst>
          </p:cNvPr>
          <p:cNvSpPr>
            <a:spLocks noGrp="1"/>
          </p:cNvSpPr>
          <p:nvPr>
            <p:ph type="dt" sz="half" idx="10"/>
          </p:nvPr>
        </p:nvSpPr>
        <p:spPr/>
        <p:txBody>
          <a:bodyPr/>
          <a:lstStyle/>
          <a:p>
            <a:endParaRPr lang="en-US" noProof="0" dirty="0"/>
          </a:p>
        </p:txBody>
      </p:sp>
      <p:sp>
        <p:nvSpPr>
          <p:cNvPr id="3" name="Footer Placeholder 2">
            <a:extLst>
              <a:ext uri="{FF2B5EF4-FFF2-40B4-BE49-F238E27FC236}">
                <a16:creationId xmlns:a16="http://schemas.microsoft.com/office/drawing/2014/main" id="{7F1F3471-B7F6-01DB-D712-136C1626DFAE}"/>
              </a:ext>
            </a:extLst>
          </p:cNvPr>
          <p:cNvSpPr>
            <a:spLocks noGrp="1"/>
          </p:cNvSpPr>
          <p:nvPr>
            <p:ph type="ftr" sz="quarter" idx="11"/>
          </p:nvPr>
        </p:nvSpPr>
        <p:spPr/>
        <p:txBody>
          <a:bodyPr/>
          <a:lstStyle/>
          <a:p>
            <a:r>
              <a:rPr lang="en-US"/>
              <a:t>An implementation of a true random number generator</a:t>
            </a:r>
            <a:endParaRPr lang="en-PK"/>
          </a:p>
        </p:txBody>
      </p:sp>
      <p:sp>
        <p:nvSpPr>
          <p:cNvPr id="4" name="Slide Number Placeholder 3">
            <a:extLst>
              <a:ext uri="{FF2B5EF4-FFF2-40B4-BE49-F238E27FC236}">
                <a16:creationId xmlns:a16="http://schemas.microsoft.com/office/drawing/2014/main" id="{32C05956-4CA5-988F-7C93-317A88D1202C}"/>
              </a:ext>
            </a:extLst>
          </p:cNvPr>
          <p:cNvSpPr>
            <a:spLocks noGrp="1"/>
          </p:cNvSpPr>
          <p:nvPr>
            <p:ph type="sldNum" sz="quarter" idx="12"/>
          </p:nvPr>
        </p:nvSpPr>
        <p:spPr/>
        <p:txBody>
          <a:bodyPr/>
          <a:lstStyle/>
          <a:p>
            <a:fld id="{5BFCF61C-3B18-4C03-8326-CC3B32D710C9}" type="slidenum">
              <a:rPr lang="en-US" noProof="0" smtClean="0"/>
              <a:t>‹#›</a:t>
            </a:fld>
            <a:endParaRPr lang="en-US" noProof="0"/>
          </a:p>
        </p:txBody>
      </p:sp>
    </p:spTree>
    <p:extLst>
      <p:ext uri="{BB962C8B-B14F-4D97-AF65-F5344CB8AC3E}">
        <p14:creationId xmlns:p14="http://schemas.microsoft.com/office/powerpoint/2010/main" val="185614619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AB670E-478C-D301-FCE5-E8300246972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PK"/>
          </a:p>
        </p:txBody>
      </p:sp>
      <p:sp>
        <p:nvSpPr>
          <p:cNvPr id="3" name="Content Placeholder 2">
            <a:extLst>
              <a:ext uri="{FF2B5EF4-FFF2-40B4-BE49-F238E27FC236}">
                <a16:creationId xmlns:a16="http://schemas.microsoft.com/office/drawing/2014/main" id="{283B16CD-30BD-156F-11B4-9CF89A06422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Text Placeholder 3">
            <a:extLst>
              <a:ext uri="{FF2B5EF4-FFF2-40B4-BE49-F238E27FC236}">
                <a16:creationId xmlns:a16="http://schemas.microsoft.com/office/drawing/2014/main" id="{0E3C54B0-9878-1911-8DE9-EC464D2027E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C6493B1-79A4-1FA9-B462-853856DE870E}"/>
              </a:ext>
            </a:extLst>
          </p:cNvPr>
          <p:cNvSpPr>
            <a:spLocks noGrp="1"/>
          </p:cNvSpPr>
          <p:nvPr>
            <p:ph type="dt" sz="half" idx="10"/>
          </p:nvPr>
        </p:nvSpPr>
        <p:spPr/>
        <p:txBody>
          <a:bodyPr/>
          <a:lstStyle/>
          <a:p>
            <a:endParaRPr lang="en-US" noProof="0" dirty="0"/>
          </a:p>
        </p:txBody>
      </p:sp>
      <p:sp>
        <p:nvSpPr>
          <p:cNvPr id="6" name="Footer Placeholder 5">
            <a:extLst>
              <a:ext uri="{FF2B5EF4-FFF2-40B4-BE49-F238E27FC236}">
                <a16:creationId xmlns:a16="http://schemas.microsoft.com/office/drawing/2014/main" id="{A697EEE8-8F1E-8F14-E2ED-333A1FF24725}"/>
              </a:ext>
            </a:extLst>
          </p:cNvPr>
          <p:cNvSpPr>
            <a:spLocks noGrp="1"/>
          </p:cNvSpPr>
          <p:nvPr>
            <p:ph type="ftr" sz="quarter" idx="11"/>
          </p:nvPr>
        </p:nvSpPr>
        <p:spPr/>
        <p:txBody>
          <a:bodyPr/>
          <a:lstStyle/>
          <a:p>
            <a:r>
              <a:rPr lang="en-US"/>
              <a:t>An implementation of a true random number generator</a:t>
            </a:r>
            <a:endParaRPr lang="en-PK"/>
          </a:p>
        </p:txBody>
      </p:sp>
      <p:sp>
        <p:nvSpPr>
          <p:cNvPr id="7" name="Slide Number Placeholder 6">
            <a:extLst>
              <a:ext uri="{FF2B5EF4-FFF2-40B4-BE49-F238E27FC236}">
                <a16:creationId xmlns:a16="http://schemas.microsoft.com/office/drawing/2014/main" id="{B9DFABEB-B6B7-2591-AE85-265A3F873192}"/>
              </a:ext>
            </a:extLst>
          </p:cNvPr>
          <p:cNvSpPr>
            <a:spLocks noGrp="1"/>
          </p:cNvSpPr>
          <p:nvPr>
            <p:ph type="sldNum" sz="quarter" idx="12"/>
          </p:nvPr>
        </p:nvSpPr>
        <p:spPr/>
        <p:txBody>
          <a:bodyPr/>
          <a:lstStyle/>
          <a:p>
            <a:fld id="{5BFCF61C-3B18-4C03-8326-CC3B32D710C9}" type="slidenum">
              <a:rPr lang="en-US" noProof="0" smtClean="0"/>
              <a:t>‹#›</a:t>
            </a:fld>
            <a:endParaRPr lang="en-US" noProof="0"/>
          </a:p>
        </p:txBody>
      </p:sp>
    </p:spTree>
    <p:extLst>
      <p:ext uri="{BB962C8B-B14F-4D97-AF65-F5344CB8AC3E}">
        <p14:creationId xmlns:p14="http://schemas.microsoft.com/office/powerpoint/2010/main" val="20623095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2A6A-C17E-2616-3199-C8D78E7EE7EC}"/>
              </a:ext>
            </a:extLst>
          </p:cNvPr>
          <p:cNvSpPr>
            <a:spLocks noGrp="1"/>
          </p:cNvSpPr>
          <p:nvPr>
            <p:ph type="title"/>
          </p:nvPr>
        </p:nvSpPr>
        <p:spPr>
          <a:xfrm>
            <a:off x="839788" y="457200"/>
            <a:ext cx="3932237" cy="1600200"/>
          </a:xfrm>
        </p:spPr>
        <p:txBody>
          <a:bodyPr anchor="b"/>
          <a:lstStyle>
            <a:lvl1pPr>
              <a:defRPr sz="3200"/>
            </a:lvl1pPr>
          </a:lstStyle>
          <a:p>
            <a:r>
              <a:rPr lang="en-US" noProof="0"/>
              <a:t>Click to edit Master title style</a:t>
            </a:r>
          </a:p>
        </p:txBody>
      </p:sp>
      <p:sp>
        <p:nvSpPr>
          <p:cNvPr id="3" name="Picture Placeholder 2">
            <a:extLst>
              <a:ext uri="{FF2B5EF4-FFF2-40B4-BE49-F238E27FC236}">
                <a16:creationId xmlns:a16="http://schemas.microsoft.com/office/drawing/2014/main" id="{37705714-E101-08DD-6A13-D561A3EC2C8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noProof="0"/>
          </a:p>
        </p:txBody>
      </p:sp>
      <p:sp>
        <p:nvSpPr>
          <p:cNvPr id="4" name="Text Placeholder 3">
            <a:extLst>
              <a:ext uri="{FF2B5EF4-FFF2-40B4-BE49-F238E27FC236}">
                <a16:creationId xmlns:a16="http://schemas.microsoft.com/office/drawing/2014/main" id="{B16ECB26-D659-5BC3-C669-1B45225D27D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noProof="0"/>
              <a:t>Click to edit Master text styles</a:t>
            </a:r>
          </a:p>
        </p:txBody>
      </p:sp>
      <p:sp>
        <p:nvSpPr>
          <p:cNvPr id="5" name="Date Placeholder 4">
            <a:extLst>
              <a:ext uri="{FF2B5EF4-FFF2-40B4-BE49-F238E27FC236}">
                <a16:creationId xmlns:a16="http://schemas.microsoft.com/office/drawing/2014/main" id="{D4464F27-6C3B-1E36-B1DC-ECB72DCF22AC}"/>
              </a:ext>
            </a:extLst>
          </p:cNvPr>
          <p:cNvSpPr>
            <a:spLocks noGrp="1"/>
          </p:cNvSpPr>
          <p:nvPr>
            <p:ph type="dt" sz="half" idx="10"/>
          </p:nvPr>
        </p:nvSpPr>
        <p:spPr/>
        <p:txBody>
          <a:bodyPr/>
          <a:lstStyle/>
          <a:p>
            <a:endParaRPr lang="en-US" noProof="0"/>
          </a:p>
        </p:txBody>
      </p:sp>
      <p:sp>
        <p:nvSpPr>
          <p:cNvPr id="6" name="Footer Placeholder 5">
            <a:extLst>
              <a:ext uri="{FF2B5EF4-FFF2-40B4-BE49-F238E27FC236}">
                <a16:creationId xmlns:a16="http://schemas.microsoft.com/office/drawing/2014/main" id="{1BC595AB-D292-D355-47CD-748C160B1BD3}"/>
              </a:ext>
            </a:extLst>
          </p:cNvPr>
          <p:cNvSpPr>
            <a:spLocks noGrp="1"/>
          </p:cNvSpPr>
          <p:nvPr>
            <p:ph type="ftr" sz="quarter" idx="11"/>
          </p:nvPr>
        </p:nvSpPr>
        <p:spPr/>
        <p:txBody>
          <a:bodyPr/>
          <a:lstStyle/>
          <a:p>
            <a:r>
              <a:rPr lang="en-US" noProof="0"/>
              <a:t>An implementation of a true random number generator</a:t>
            </a:r>
          </a:p>
        </p:txBody>
      </p:sp>
      <p:sp>
        <p:nvSpPr>
          <p:cNvPr id="7" name="Slide Number Placeholder 6">
            <a:extLst>
              <a:ext uri="{FF2B5EF4-FFF2-40B4-BE49-F238E27FC236}">
                <a16:creationId xmlns:a16="http://schemas.microsoft.com/office/drawing/2014/main" id="{CC1CEE5F-F44A-DD2C-EEC3-D4C76B69D15D}"/>
              </a:ext>
            </a:extLst>
          </p:cNvPr>
          <p:cNvSpPr>
            <a:spLocks noGrp="1"/>
          </p:cNvSpPr>
          <p:nvPr>
            <p:ph type="sldNum" sz="quarter" idx="12"/>
          </p:nvPr>
        </p:nvSpPr>
        <p:spPr/>
        <p:txBody>
          <a:bodyPr/>
          <a:lstStyle/>
          <a:p>
            <a:fld id="{5BFCF61C-3B18-4C03-8326-CC3B32D710C9}" type="slidenum">
              <a:rPr lang="en-US" noProof="0" smtClean="0"/>
              <a:t>‹#›</a:t>
            </a:fld>
            <a:endParaRPr lang="en-US" noProof="0"/>
          </a:p>
        </p:txBody>
      </p:sp>
    </p:spTree>
    <p:extLst>
      <p:ext uri="{BB962C8B-B14F-4D97-AF65-F5344CB8AC3E}">
        <p14:creationId xmlns:p14="http://schemas.microsoft.com/office/powerpoint/2010/main" val="7529389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76BC278-3A9A-4241-1DE5-469D2AB5E36B}"/>
              </a:ext>
            </a:extLst>
          </p:cNvPr>
          <p:cNvSpPr>
            <a:spLocks noGrp="1"/>
          </p:cNvSpPr>
          <p:nvPr>
            <p:ph type="title"/>
          </p:nvPr>
        </p:nvSpPr>
        <p:spPr>
          <a:xfrm>
            <a:off x="838200" y="1115367"/>
            <a:ext cx="10515600" cy="575321"/>
          </a:xfrm>
          <a:prstGeom prst="rect">
            <a:avLst/>
          </a:prstGeom>
        </p:spPr>
        <p:txBody>
          <a:bodyPr vert="horz" lIns="91440" tIns="45720" rIns="91440" bIns="45720" rtlCol="0" anchor="t">
            <a:noAutofit/>
          </a:bodyPr>
          <a:lstStyle/>
          <a:p>
            <a:r>
              <a:rPr lang="en-US"/>
              <a:t>Click to edit Master title style</a:t>
            </a:r>
            <a:endParaRPr lang="en-PK"/>
          </a:p>
        </p:txBody>
      </p:sp>
      <p:sp>
        <p:nvSpPr>
          <p:cNvPr id="3" name="Text Placeholder 2">
            <a:extLst>
              <a:ext uri="{FF2B5EF4-FFF2-40B4-BE49-F238E27FC236}">
                <a16:creationId xmlns:a16="http://schemas.microsoft.com/office/drawing/2014/main" id="{138A5E58-5605-E2B6-AEBE-7EF159AAD7E2}"/>
              </a:ext>
            </a:extLst>
          </p:cNvPr>
          <p:cNvSpPr>
            <a:spLocks noGrp="1"/>
          </p:cNvSpPr>
          <p:nvPr>
            <p:ph type="body" idx="1"/>
          </p:nvPr>
        </p:nvSpPr>
        <p:spPr>
          <a:xfrm>
            <a:off x="838200" y="1825625"/>
            <a:ext cx="10515600" cy="4351338"/>
          </a:xfrm>
          <a:prstGeom prst="rect">
            <a:avLst/>
          </a:prstGeom>
        </p:spPr>
        <p:txBody>
          <a:bodyPr vert="horz" lIns="91440" tIns="45720" rIns="9144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K"/>
          </a:p>
        </p:txBody>
      </p:sp>
      <p:sp>
        <p:nvSpPr>
          <p:cNvPr id="4" name="Date Placeholder 3">
            <a:extLst>
              <a:ext uri="{FF2B5EF4-FFF2-40B4-BE49-F238E27FC236}">
                <a16:creationId xmlns:a16="http://schemas.microsoft.com/office/drawing/2014/main" id="{B221D507-72FD-CB53-B342-C69D562AFDC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noAutofit/>
          </a:bodyPr>
          <a:lstStyle>
            <a:lvl1pPr algn="l">
              <a:defRPr sz="1200">
                <a:solidFill>
                  <a:schemeClr val="tx1">
                    <a:tint val="75000"/>
                  </a:schemeClr>
                </a:solidFill>
              </a:defRPr>
            </a:lvl1pPr>
          </a:lstStyle>
          <a:p>
            <a:endParaRPr lang="en-US" noProof="0"/>
          </a:p>
        </p:txBody>
      </p:sp>
      <p:sp>
        <p:nvSpPr>
          <p:cNvPr id="5" name="Footer Placeholder 4">
            <a:extLst>
              <a:ext uri="{FF2B5EF4-FFF2-40B4-BE49-F238E27FC236}">
                <a16:creationId xmlns:a16="http://schemas.microsoft.com/office/drawing/2014/main" id="{01A3E9A7-861F-C5C4-DD4E-37AC66D867ED}"/>
              </a:ext>
            </a:extLst>
          </p:cNvPr>
          <p:cNvSpPr>
            <a:spLocks noGrp="1"/>
          </p:cNvSpPr>
          <p:nvPr>
            <p:ph type="ftr" sz="quarter" idx="3"/>
          </p:nvPr>
        </p:nvSpPr>
        <p:spPr>
          <a:xfrm>
            <a:off x="411480" y="301752"/>
            <a:ext cx="1828800" cy="274320"/>
          </a:xfrm>
          <a:prstGeom prst="rect">
            <a:avLst/>
          </a:prstGeom>
        </p:spPr>
        <p:txBody>
          <a:bodyPr vert="horz" lIns="91440" tIns="45720" rIns="91440" bIns="45720" rtlCol="0" anchor="ctr">
            <a:noAutofit/>
          </a:bodyPr>
          <a:lstStyle>
            <a:lvl1pPr algn="l">
              <a:defRPr sz="1200">
                <a:solidFill>
                  <a:schemeClr val="tx2"/>
                </a:solidFill>
              </a:defRPr>
            </a:lvl1pPr>
          </a:lstStyle>
          <a:p>
            <a:r>
              <a:rPr lang="en-US"/>
              <a:t>An implementation of a true random number generator</a:t>
            </a:r>
            <a:endParaRPr lang="en-PK" dirty="0"/>
          </a:p>
        </p:txBody>
      </p:sp>
      <p:sp>
        <p:nvSpPr>
          <p:cNvPr id="6" name="Slide Number Placeholder 5">
            <a:extLst>
              <a:ext uri="{FF2B5EF4-FFF2-40B4-BE49-F238E27FC236}">
                <a16:creationId xmlns:a16="http://schemas.microsoft.com/office/drawing/2014/main" id="{5877A1DC-56B8-6C78-5020-E45478D099C6}"/>
              </a:ext>
            </a:extLst>
          </p:cNvPr>
          <p:cNvSpPr>
            <a:spLocks noGrp="1"/>
          </p:cNvSpPr>
          <p:nvPr>
            <p:ph type="sldNum" sz="quarter" idx="4"/>
          </p:nvPr>
        </p:nvSpPr>
        <p:spPr>
          <a:xfrm>
            <a:off x="10122408" y="301752"/>
            <a:ext cx="1673352" cy="274320"/>
          </a:xfrm>
          <a:prstGeom prst="rect">
            <a:avLst/>
          </a:prstGeom>
        </p:spPr>
        <p:txBody>
          <a:bodyPr vert="horz" lIns="91440" tIns="45720" rIns="91440" bIns="45720" rtlCol="0" anchor="ctr">
            <a:noAutofit/>
          </a:bodyPr>
          <a:lstStyle>
            <a:lvl1pPr algn="r">
              <a:defRPr sz="1200">
                <a:solidFill>
                  <a:schemeClr val="tx2"/>
                </a:solidFill>
              </a:defRPr>
            </a:lvl1pPr>
          </a:lstStyle>
          <a:p>
            <a:fld id="{5BFCF61C-3B18-4C03-8326-CC3B32D710C9}" type="slidenum">
              <a:rPr lang="en-US" noProof="0" smtClean="0"/>
              <a:pPr/>
              <a:t>‹#›</a:t>
            </a:fld>
            <a:endParaRPr lang="en-US" noProof="0"/>
          </a:p>
        </p:txBody>
      </p:sp>
    </p:spTree>
    <p:extLst>
      <p:ext uri="{BB962C8B-B14F-4D97-AF65-F5344CB8AC3E}">
        <p14:creationId xmlns:p14="http://schemas.microsoft.com/office/powerpoint/2010/main" val="135068052"/>
      </p:ext>
    </p:extLst>
  </p:cSld>
  <p:clrMap bg1="lt1" tx1="dk1" bg2="lt2" tx2="dk2" accent1="accent1" accent2="accent2" accent3="accent3" accent4="accent4" accent5="accent5" accent6="accent6" hlink="hlink" folHlink="folHlink"/>
  <p:sldLayoutIdLst>
    <p:sldLayoutId id="2147483649" r:id="rId1"/>
    <p:sldLayoutId id="2147483659" r:id="rId2"/>
    <p:sldLayoutId id="2147483651" r:id="rId3"/>
    <p:sldLayoutId id="2147483660" r:id="rId4"/>
    <p:sldLayoutId id="2147483661" r:id="rId5"/>
    <p:sldLayoutId id="2147483665" r:id="rId6"/>
    <p:sldLayoutId id="2147483662" r:id="rId7"/>
    <p:sldLayoutId id="2147483664" r:id="rId8"/>
    <p:sldLayoutId id="2147483663" r:id="rId9"/>
    <p:sldLayoutId id="2147483652" r:id="rId10"/>
    <p:sldLayoutId id="2147483666" r:id="rId11"/>
    <p:sldLayoutId id="2147483658" r:id="rId12"/>
    <p:sldLayoutId id="2147483654" r:id="rId13"/>
    <p:sldLayoutId id="2147483655" r:id="rId14"/>
    <p:sldLayoutId id="2147483656" r:id="rId15"/>
    <p:sldLayoutId id="2147483657" r:id="rId16"/>
  </p:sldLayoutIdLst>
  <p:hf hdr="0" dt="0"/>
  <p:txStyles>
    <p:titleStyle>
      <a:lvl1pPr algn="l" defTabSz="914400" rtl="0" eaLnBrk="1" latinLnBrk="0" hangingPunct="1">
        <a:lnSpc>
          <a:spcPct val="80000"/>
        </a:lnSpc>
        <a:spcBef>
          <a:spcPct val="0"/>
        </a:spcBef>
        <a:buNone/>
        <a:defRPr sz="4400" kern="1200" cap="all" baseline="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2"/>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2"/>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P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5.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5.xml"/><Relationship Id="rId5"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5.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5.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8.xml"/><Relationship Id="rId5" Type="http://schemas.openxmlformats.org/officeDocument/2006/relationships/image" Target="../media/image5.pn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8.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9.xml"/><Relationship Id="rId5" Type="http://schemas.openxmlformats.org/officeDocument/2006/relationships/image" Target="../media/image8.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9.xml"/><Relationship Id="rId5" Type="http://schemas.openxmlformats.org/officeDocument/2006/relationships/image" Target="../media/image9.pn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9.xml"/><Relationship Id="rId5" Type="http://schemas.openxmlformats.org/officeDocument/2006/relationships/image" Target="../media/image10.png"/><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9.xml"/><Relationship Id="rId5" Type="http://schemas.openxmlformats.org/officeDocument/2006/relationships/image" Target="../media/image11.png"/><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9.xml"/><Relationship Id="rId5" Type="http://schemas.openxmlformats.org/officeDocument/2006/relationships/image" Target="../media/image12.pn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24" name="Title 23">
            <a:extLst>
              <a:ext uri="{FF2B5EF4-FFF2-40B4-BE49-F238E27FC236}">
                <a16:creationId xmlns:a16="http://schemas.microsoft.com/office/drawing/2014/main" id="{04B07C7A-8E1D-7BF7-31C8-5C68C6D2F9CF}"/>
              </a:ext>
            </a:extLst>
          </p:cNvPr>
          <p:cNvSpPr>
            <a:spLocks noGrp="1"/>
          </p:cNvSpPr>
          <p:nvPr>
            <p:ph type="ctrTitle"/>
          </p:nvPr>
        </p:nvSpPr>
        <p:spPr>
          <a:xfrm>
            <a:off x="2377205" y="194835"/>
            <a:ext cx="6995395" cy="3348465"/>
          </a:xfrm>
        </p:spPr>
        <p:txBody>
          <a:bodyPr>
            <a:noAutofit/>
          </a:bodyPr>
          <a:lstStyle/>
          <a:p>
            <a:r>
              <a:rPr lang="en-US" sz="4800" dirty="0" err="1">
                <a:latin typeface="Times New Roman" panose="02020603050405020304" pitchFamily="18" charset="0"/>
                <a:cs typeface="Times New Roman" panose="02020603050405020304" pitchFamily="18" charset="0"/>
              </a:rPr>
              <a:t>Silentvault</a:t>
            </a:r>
            <a:r>
              <a:rPr lang="en-US" sz="4800" dirty="0">
                <a:latin typeface="Times New Roman" panose="02020603050405020304" pitchFamily="18" charset="0"/>
                <a:cs typeface="Times New Roman" panose="02020603050405020304" pitchFamily="18" charset="0"/>
              </a:rPr>
              <a:t> – a password  based zero  knowledge file  server</a:t>
            </a:r>
          </a:p>
        </p:txBody>
      </p:sp>
      <p:pic>
        <p:nvPicPr>
          <p:cNvPr id="4" name="Picture 3">
            <a:extLst>
              <a:ext uri="{FF2B5EF4-FFF2-40B4-BE49-F238E27FC236}">
                <a16:creationId xmlns:a16="http://schemas.microsoft.com/office/drawing/2014/main" id="{1A1AE9D1-9C18-D972-CD68-D996421A1FCC}"/>
              </a:ext>
            </a:extLst>
          </p:cNvPr>
          <p:cNvPicPr>
            <a:picLocks noChangeAspect="1"/>
          </p:cNvPicPr>
          <p:nvPr/>
        </p:nvPicPr>
        <p:blipFill>
          <a:blip r:embed="rId3"/>
          <a:stretch>
            <a:fillRect/>
          </a:stretch>
        </p:blipFill>
        <p:spPr>
          <a:xfrm>
            <a:off x="9590941" y="75164"/>
            <a:ext cx="1979735" cy="2063386"/>
          </a:xfrm>
          <a:prstGeom prst="rect">
            <a:avLst/>
          </a:prstGeom>
        </p:spPr>
      </p:pic>
      <p:pic>
        <p:nvPicPr>
          <p:cNvPr id="7" name="Picture 6">
            <a:extLst>
              <a:ext uri="{FF2B5EF4-FFF2-40B4-BE49-F238E27FC236}">
                <a16:creationId xmlns:a16="http://schemas.microsoft.com/office/drawing/2014/main" id="{2B38B588-5192-B660-0A17-42D36A9618AC}"/>
              </a:ext>
            </a:extLst>
          </p:cNvPr>
          <p:cNvPicPr>
            <a:picLocks noChangeAspect="1"/>
          </p:cNvPicPr>
          <p:nvPr/>
        </p:nvPicPr>
        <p:blipFill>
          <a:blip r:embed="rId4"/>
          <a:stretch>
            <a:fillRect/>
          </a:stretch>
        </p:blipFill>
        <p:spPr>
          <a:xfrm>
            <a:off x="197827" y="75164"/>
            <a:ext cx="2307981" cy="2307981"/>
          </a:xfrm>
          <a:prstGeom prst="rect">
            <a:avLst/>
          </a:prstGeom>
        </p:spPr>
      </p:pic>
      <p:sp>
        <p:nvSpPr>
          <p:cNvPr id="8" name="TextBox 7">
            <a:extLst>
              <a:ext uri="{FF2B5EF4-FFF2-40B4-BE49-F238E27FC236}">
                <a16:creationId xmlns:a16="http://schemas.microsoft.com/office/drawing/2014/main" id="{6404B5AD-836E-00DF-AA2E-112F96D6CE7D}"/>
              </a:ext>
            </a:extLst>
          </p:cNvPr>
          <p:cNvSpPr txBox="1"/>
          <p:nvPr/>
        </p:nvSpPr>
        <p:spPr>
          <a:xfrm>
            <a:off x="8185638" y="4073120"/>
            <a:ext cx="3560886" cy="646331"/>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Author:</a:t>
            </a:r>
          </a:p>
          <a:p>
            <a:r>
              <a:rPr lang="en-US" dirty="0">
                <a:solidFill>
                  <a:schemeClr val="bg1"/>
                </a:solidFill>
                <a:latin typeface="Times New Roman" panose="02020603050405020304" pitchFamily="18" charset="0"/>
                <a:cs typeface="Times New Roman" panose="02020603050405020304" pitchFamily="18" charset="0"/>
              </a:rPr>
              <a:t>Std. Sgt. Codreanu Andrei-Daniel</a:t>
            </a:r>
          </a:p>
        </p:txBody>
      </p:sp>
    </p:spTree>
    <p:extLst>
      <p:ext uri="{BB962C8B-B14F-4D97-AF65-F5344CB8AC3E}">
        <p14:creationId xmlns:p14="http://schemas.microsoft.com/office/powerpoint/2010/main" val="28631039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lumMod val="9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5010AA-DDBA-D5A2-A34D-69E21671333A}"/>
              </a:ext>
            </a:extLst>
          </p:cNvPr>
          <p:cNvSpPr>
            <a:spLocks noGrp="1"/>
          </p:cNvSpPr>
          <p:nvPr>
            <p:ph type="title"/>
          </p:nvPr>
        </p:nvSpPr>
        <p:spPr/>
        <p:txBody>
          <a:bodyPr/>
          <a:lstStyle/>
          <a:p>
            <a:r>
              <a:rPr lang="en-US" dirty="0"/>
              <a:t>Table of contents</a:t>
            </a:r>
            <a:endParaRPr lang="en-PK" dirty="0"/>
          </a:p>
        </p:txBody>
      </p:sp>
      <p:sp>
        <p:nvSpPr>
          <p:cNvPr id="13" name="Slide Number Placeholder 12">
            <a:extLst>
              <a:ext uri="{FF2B5EF4-FFF2-40B4-BE49-F238E27FC236}">
                <a16:creationId xmlns:a16="http://schemas.microsoft.com/office/drawing/2014/main" id="{89804E48-D44D-C8A3-0944-D89136753D97}"/>
              </a:ext>
            </a:extLst>
          </p:cNvPr>
          <p:cNvSpPr>
            <a:spLocks noGrp="1"/>
          </p:cNvSpPr>
          <p:nvPr>
            <p:ph type="sldNum" sz="quarter" idx="12"/>
          </p:nvPr>
        </p:nvSpPr>
        <p:spPr/>
        <p:txBody>
          <a:bodyPr/>
          <a:lstStyle/>
          <a:p>
            <a:fld id="{5BFCF61C-3B18-4C03-8326-CC3B32D710C9}" type="slidenum">
              <a:rPr lang="en-US" smtClean="0"/>
              <a:t>2</a:t>
            </a:fld>
            <a:endParaRPr lang="en-US"/>
          </a:p>
        </p:txBody>
      </p:sp>
      <p:sp>
        <p:nvSpPr>
          <p:cNvPr id="5" name="TextBox 4">
            <a:extLst>
              <a:ext uri="{FF2B5EF4-FFF2-40B4-BE49-F238E27FC236}">
                <a16:creationId xmlns:a16="http://schemas.microsoft.com/office/drawing/2014/main" id="{EAF86BB4-0FAC-F1DD-ADEF-72315BE6E6A4}"/>
              </a:ext>
            </a:extLst>
          </p:cNvPr>
          <p:cNvSpPr txBox="1"/>
          <p:nvPr/>
        </p:nvSpPr>
        <p:spPr>
          <a:xfrm>
            <a:off x="4026878" y="3147646"/>
            <a:ext cx="5287452" cy="1754326"/>
          </a:xfrm>
          <a:prstGeom prst="rect">
            <a:avLst/>
          </a:prstGeom>
          <a:noFill/>
        </p:spPr>
        <p:txBody>
          <a:bodyPr wrap="square" rtlCol="0">
            <a:spAutoFit/>
          </a:bodyPr>
          <a:lstStyle/>
          <a:p>
            <a:pPr marL="400050" indent="-400050" algn="just">
              <a:buFont typeface="+mj-lt"/>
              <a:buAutoNum type="romanLcPeriod"/>
            </a:pPr>
            <a:r>
              <a:rPr lang="en-US" dirty="0"/>
              <a:t>Introduction</a:t>
            </a:r>
          </a:p>
          <a:p>
            <a:pPr marL="400050" indent="-400050" algn="just">
              <a:buFont typeface="+mj-lt"/>
              <a:buAutoNum type="romanLcPeriod"/>
            </a:pPr>
            <a:r>
              <a:rPr lang="en-US" dirty="0" err="1"/>
              <a:t>SilentVault’s</a:t>
            </a:r>
            <a:r>
              <a:rPr lang="en-US" dirty="0"/>
              <a:t> architecture</a:t>
            </a:r>
          </a:p>
          <a:p>
            <a:pPr marL="400050" indent="-400050" algn="just">
              <a:buFont typeface="+mj-lt"/>
              <a:buAutoNum type="romanLcPeriod"/>
            </a:pPr>
            <a:r>
              <a:rPr lang="en-US" dirty="0"/>
              <a:t>Comparison to classical authentication methods</a:t>
            </a:r>
          </a:p>
          <a:p>
            <a:pPr marL="400050" indent="-400050" algn="just">
              <a:buFont typeface="+mj-lt"/>
              <a:buAutoNum type="romanLcPeriod"/>
            </a:pPr>
            <a:r>
              <a:rPr lang="en-US" dirty="0"/>
              <a:t>The math behind</a:t>
            </a:r>
          </a:p>
          <a:p>
            <a:pPr marL="400050" indent="-400050" algn="just">
              <a:buFont typeface="+mj-lt"/>
              <a:buAutoNum type="romanLcPeriod"/>
            </a:pPr>
            <a:r>
              <a:rPr lang="en-US" dirty="0"/>
              <a:t>Wireshark-captured traffic</a:t>
            </a:r>
          </a:p>
        </p:txBody>
      </p:sp>
      <p:sp>
        <p:nvSpPr>
          <p:cNvPr id="8" name="Footer Placeholder 7">
            <a:extLst>
              <a:ext uri="{FF2B5EF4-FFF2-40B4-BE49-F238E27FC236}">
                <a16:creationId xmlns:a16="http://schemas.microsoft.com/office/drawing/2014/main" id="{9ED7321B-1A68-D919-3AEC-0C8EDE979FCD}"/>
              </a:ext>
            </a:extLst>
          </p:cNvPr>
          <p:cNvSpPr>
            <a:spLocks noGrp="1"/>
          </p:cNvSpPr>
          <p:nvPr>
            <p:ph type="ftr" sz="quarter" idx="11"/>
          </p:nvPr>
        </p:nvSpPr>
        <p:spPr/>
        <p:txBody>
          <a:bodyPr/>
          <a:lstStyle/>
          <a:p>
            <a:r>
              <a:rPr lang="en-US" noProof="0" dirty="0" err="1"/>
              <a:t>SilentVault</a:t>
            </a:r>
            <a:r>
              <a:rPr lang="en-US" noProof="0" dirty="0"/>
              <a:t> – A Password Based Zero Knowledge File Server</a:t>
            </a:r>
          </a:p>
        </p:txBody>
      </p:sp>
      <p:pic>
        <p:nvPicPr>
          <p:cNvPr id="9" name="Picture 8">
            <a:extLst>
              <a:ext uri="{FF2B5EF4-FFF2-40B4-BE49-F238E27FC236}">
                <a16:creationId xmlns:a16="http://schemas.microsoft.com/office/drawing/2014/main" id="{CABB2141-DE2A-1CDD-28B7-2023F15B526C}"/>
              </a:ext>
            </a:extLst>
          </p:cNvPr>
          <p:cNvPicPr>
            <a:picLocks noChangeAspect="1"/>
          </p:cNvPicPr>
          <p:nvPr/>
        </p:nvPicPr>
        <p:blipFill>
          <a:blip r:embed="rId2"/>
          <a:stretch>
            <a:fillRect/>
          </a:stretch>
        </p:blipFill>
        <p:spPr>
          <a:xfrm>
            <a:off x="2240280" y="-8686"/>
            <a:ext cx="942588" cy="982416"/>
          </a:xfrm>
          <a:prstGeom prst="rect">
            <a:avLst/>
          </a:prstGeom>
        </p:spPr>
      </p:pic>
      <p:pic>
        <p:nvPicPr>
          <p:cNvPr id="10" name="Picture 9">
            <a:extLst>
              <a:ext uri="{FF2B5EF4-FFF2-40B4-BE49-F238E27FC236}">
                <a16:creationId xmlns:a16="http://schemas.microsoft.com/office/drawing/2014/main" id="{25A1C6D3-2CE8-47C9-4C05-FCD562D3D6DD}"/>
              </a:ext>
            </a:extLst>
          </p:cNvPr>
          <p:cNvPicPr>
            <a:picLocks noChangeAspect="1"/>
          </p:cNvPicPr>
          <p:nvPr/>
        </p:nvPicPr>
        <p:blipFill>
          <a:blip r:embed="rId3"/>
          <a:stretch>
            <a:fillRect/>
          </a:stretch>
        </p:blipFill>
        <p:spPr>
          <a:xfrm>
            <a:off x="3111358" y="7115"/>
            <a:ext cx="1137914" cy="1137914"/>
          </a:xfrm>
          <a:prstGeom prst="rect">
            <a:avLst/>
          </a:prstGeom>
        </p:spPr>
      </p:pic>
    </p:spTree>
    <p:extLst>
      <p:ext uri="{BB962C8B-B14F-4D97-AF65-F5344CB8AC3E}">
        <p14:creationId xmlns:p14="http://schemas.microsoft.com/office/powerpoint/2010/main" val="11250545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BDE3D-CB39-03D2-545F-5283024761BD}"/>
              </a:ext>
            </a:extLst>
          </p:cNvPr>
          <p:cNvSpPr>
            <a:spLocks noGrp="1"/>
          </p:cNvSpPr>
          <p:nvPr>
            <p:ph type="title"/>
          </p:nvPr>
        </p:nvSpPr>
        <p:spPr>
          <a:xfrm>
            <a:off x="559543" y="1167806"/>
            <a:ext cx="10515600" cy="575321"/>
          </a:xfrm>
        </p:spPr>
        <p:txBody>
          <a:bodyPr/>
          <a:lstStyle/>
          <a:p>
            <a:r>
              <a:rPr lang="en-US" dirty="0"/>
              <a:t>1. Introduction</a:t>
            </a:r>
          </a:p>
        </p:txBody>
      </p:sp>
      <p:sp>
        <p:nvSpPr>
          <p:cNvPr id="12" name="Footer Placeholder 11">
            <a:extLst>
              <a:ext uri="{FF2B5EF4-FFF2-40B4-BE49-F238E27FC236}">
                <a16:creationId xmlns:a16="http://schemas.microsoft.com/office/drawing/2014/main" id="{119D6C7A-A7F7-E063-9A09-611D1FB1DBE6}"/>
              </a:ext>
            </a:extLst>
          </p:cNvPr>
          <p:cNvSpPr>
            <a:spLocks noGrp="1"/>
          </p:cNvSpPr>
          <p:nvPr>
            <p:ph type="ftr" sz="quarter" idx="11"/>
          </p:nvPr>
        </p:nvSpPr>
        <p:spPr/>
        <p:txBody>
          <a:bodyPr/>
          <a:lstStyle/>
          <a:p>
            <a:r>
              <a:rPr lang="en-US" dirty="0" err="1"/>
              <a:t>SilentVault</a:t>
            </a:r>
            <a:r>
              <a:rPr lang="en-US" dirty="0"/>
              <a:t> – A Password Based Zero Knowledge File Server</a:t>
            </a:r>
          </a:p>
        </p:txBody>
      </p:sp>
      <p:sp>
        <p:nvSpPr>
          <p:cNvPr id="13" name="Slide Number Placeholder 12">
            <a:extLst>
              <a:ext uri="{FF2B5EF4-FFF2-40B4-BE49-F238E27FC236}">
                <a16:creationId xmlns:a16="http://schemas.microsoft.com/office/drawing/2014/main" id="{941D71DF-7225-6C66-9D2B-FAACEFF20849}"/>
              </a:ext>
            </a:extLst>
          </p:cNvPr>
          <p:cNvSpPr>
            <a:spLocks noGrp="1"/>
          </p:cNvSpPr>
          <p:nvPr>
            <p:ph type="sldNum" sz="quarter" idx="12"/>
          </p:nvPr>
        </p:nvSpPr>
        <p:spPr/>
        <p:txBody>
          <a:bodyPr/>
          <a:lstStyle/>
          <a:p>
            <a:fld id="{5BFCF61C-3B18-4C03-8326-CC3B32D710C9}" type="slidenum">
              <a:rPr lang="en-US" smtClean="0"/>
              <a:pPr/>
              <a:t>3</a:t>
            </a:fld>
            <a:endParaRPr lang="en-US"/>
          </a:p>
        </p:txBody>
      </p:sp>
      <p:pic>
        <p:nvPicPr>
          <p:cNvPr id="4" name="Picture 3">
            <a:extLst>
              <a:ext uri="{FF2B5EF4-FFF2-40B4-BE49-F238E27FC236}">
                <a16:creationId xmlns:a16="http://schemas.microsoft.com/office/drawing/2014/main" id="{A8F41B2B-694C-2BE6-08F4-8A599B5E28B6}"/>
              </a:ext>
            </a:extLst>
          </p:cNvPr>
          <p:cNvPicPr>
            <a:picLocks noChangeAspect="1"/>
          </p:cNvPicPr>
          <p:nvPr/>
        </p:nvPicPr>
        <p:blipFill>
          <a:blip r:embed="rId3"/>
          <a:stretch>
            <a:fillRect/>
          </a:stretch>
        </p:blipFill>
        <p:spPr>
          <a:xfrm>
            <a:off x="2240280" y="-8686"/>
            <a:ext cx="942588" cy="982416"/>
          </a:xfrm>
          <a:prstGeom prst="rect">
            <a:avLst/>
          </a:prstGeom>
        </p:spPr>
      </p:pic>
      <p:pic>
        <p:nvPicPr>
          <p:cNvPr id="7" name="Picture 6">
            <a:extLst>
              <a:ext uri="{FF2B5EF4-FFF2-40B4-BE49-F238E27FC236}">
                <a16:creationId xmlns:a16="http://schemas.microsoft.com/office/drawing/2014/main" id="{46FB59A9-EE55-C21B-1F6A-DD20DC1ABF90}"/>
              </a:ext>
            </a:extLst>
          </p:cNvPr>
          <p:cNvPicPr>
            <a:picLocks noChangeAspect="1"/>
          </p:cNvPicPr>
          <p:nvPr/>
        </p:nvPicPr>
        <p:blipFill>
          <a:blip r:embed="rId4"/>
          <a:stretch>
            <a:fillRect/>
          </a:stretch>
        </p:blipFill>
        <p:spPr>
          <a:xfrm>
            <a:off x="3111358" y="7115"/>
            <a:ext cx="1137914" cy="1137914"/>
          </a:xfrm>
          <a:prstGeom prst="rect">
            <a:avLst/>
          </a:prstGeom>
        </p:spPr>
      </p:pic>
      <p:sp>
        <p:nvSpPr>
          <p:cNvPr id="10" name="TextBox 9">
            <a:extLst>
              <a:ext uri="{FF2B5EF4-FFF2-40B4-BE49-F238E27FC236}">
                <a16:creationId xmlns:a16="http://schemas.microsoft.com/office/drawing/2014/main" id="{A4E3D969-AD34-E788-C046-9CAABAFB48AE}"/>
              </a:ext>
            </a:extLst>
          </p:cNvPr>
          <p:cNvSpPr txBox="1"/>
          <p:nvPr/>
        </p:nvSpPr>
        <p:spPr>
          <a:xfrm>
            <a:off x="1652954" y="2681653"/>
            <a:ext cx="9108831" cy="2800767"/>
          </a:xfrm>
          <a:prstGeom prst="rect">
            <a:avLst/>
          </a:prstGeom>
          <a:noFill/>
        </p:spPr>
        <p:txBody>
          <a:bodyPr wrap="square" rtlCol="0">
            <a:spAutoFit/>
          </a:bodyPr>
          <a:lstStyle/>
          <a:p>
            <a:pPr marL="342900" indent="-342900" algn="just">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A file server is a client-server storage system where clients store their data ‘in the cloud’;</a:t>
            </a:r>
          </a:p>
          <a:p>
            <a:pPr marL="342900" indent="-342900" algn="just">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Clients’ data are considered sensitive information; thus, it needs to be protected from malicious entities;</a:t>
            </a:r>
          </a:p>
          <a:p>
            <a:pPr marL="342900" indent="-342900" algn="just">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From a Cryptographic POV, “Zero Knowledge” refers to information regarding each client that is available to the server, zero being the preferred value;</a:t>
            </a:r>
          </a:p>
          <a:p>
            <a:pPr marL="342900" indent="-342900" algn="just">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The server acts only as an ‘untrusted’ worker.</a:t>
            </a:r>
          </a:p>
        </p:txBody>
      </p:sp>
    </p:spTree>
    <p:extLst>
      <p:ext uri="{BB962C8B-B14F-4D97-AF65-F5344CB8AC3E}">
        <p14:creationId xmlns:p14="http://schemas.microsoft.com/office/powerpoint/2010/main" val="39791940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91133-2B2D-CB5C-25A3-A6BBC6AC48F6}"/>
              </a:ext>
            </a:extLst>
          </p:cNvPr>
          <p:cNvSpPr>
            <a:spLocks noGrp="1"/>
          </p:cNvSpPr>
          <p:nvPr>
            <p:ph type="title"/>
          </p:nvPr>
        </p:nvSpPr>
        <p:spPr/>
        <p:txBody>
          <a:bodyPr/>
          <a:lstStyle/>
          <a:p>
            <a:r>
              <a:rPr lang="en-US" dirty="0"/>
              <a:t>2. </a:t>
            </a:r>
            <a:r>
              <a:rPr lang="en-US" dirty="0" err="1"/>
              <a:t>Silentvault’s</a:t>
            </a:r>
            <a:r>
              <a:rPr lang="en-US" dirty="0"/>
              <a:t> architecture</a:t>
            </a:r>
          </a:p>
        </p:txBody>
      </p:sp>
      <p:sp>
        <p:nvSpPr>
          <p:cNvPr id="10" name="Footer Placeholder 9">
            <a:extLst>
              <a:ext uri="{FF2B5EF4-FFF2-40B4-BE49-F238E27FC236}">
                <a16:creationId xmlns:a16="http://schemas.microsoft.com/office/drawing/2014/main" id="{15C361D4-2114-E276-681B-0EDACAD8E3D4}"/>
              </a:ext>
            </a:extLst>
          </p:cNvPr>
          <p:cNvSpPr>
            <a:spLocks noGrp="1"/>
          </p:cNvSpPr>
          <p:nvPr>
            <p:ph type="ftr" sz="quarter" idx="11"/>
          </p:nvPr>
        </p:nvSpPr>
        <p:spPr/>
        <p:txBody>
          <a:bodyPr/>
          <a:lstStyle/>
          <a:p>
            <a:r>
              <a:rPr lang="en-US" dirty="0" err="1"/>
              <a:t>SilentVault</a:t>
            </a:r>
            <a:r>
              <a:rPr lang="en-US" dirty="0"/>
              <a:t> – A Password Based Zero Knowledge File Server</a:t>
            </a:r>
          </a:p>
        </p:txBody>
      </p:sp>
      <p:sp>
        <p:nvSpPr>
          <p:cNvPr id="4" name="Text Placeholder 3">
            <a:extLst>
              <a:ext uri="{FF2B5EF4-FFF2-40B4-BE49-F238E27FC236}">
                <a16:creationId xmlns:a16="http://schemas.microsoft.com/office/drawing/2014/main" id="{C86737C8-4322-77C9-4E34-94E5EE136DBC}"/>
              </a:ext>
            </a:extLst>
          </p:cNvPr>
          <p:cNvSpPr>
            <a:spLocks noGrp="1"/>
          </p:cNvSpPr>
          <p:nvPr>
            <p:ph type="body" sz="quarter" idx="15"/>
          </p:nvPr>
        </p:nvSpPr>
        <p:spPr>
          <a:xfrm>
            <a:off x="3399106" y="3679677"/>
            <a:ext cx="4754880" cy="1682750"/>
          </a:xfrm>
        </p:spPr>
        <p:txBody>
          <a:bodyPr/>
          <a:lstStyle/>
          <a:p>
            <a:pPr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Client module – responsible for authentication and file requests (</a:t>
            </a:r>
            <a:r>
              <a:rPr lang="en-US" i="1" dirty="0">
                <a:latin typeface="Times New Roman" panose="02020603050405020304" pitchFamily="18" charset="0"/>
                <a:cs typeface="Times New Roman" panose="02020603050405020304" pitchFamily="18" charset="0"/>
              </a:rPr>
              <a:t>i.e. </a:t>
            </a:r>
            <a:r>
              <a:rPr lang="en-US" dirty="0">
                <a:latin typeface="Times New Roman" panose="02020603050405020304" pitchFamily="18" charset="0"/>
                <a:cs typeface="Times New Roman" panose="02020603050405020304" pitchFamily="18" charset="0"/>
              </a:rPr>
              <a:t>upload, download, checking and deletion). Is considered a semi-reliable environment</a:t>
            </a:r>
          </a:p>
          <a:p>
            <a:pPr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Server module – manages sessions and storage</a:t>
            </a:r>
          </a:p>
          <a:p>
            <a:pPr algn="just">
              <a:buFont typeface="Wingdings" panose="05000000000000000000" pitchFamily="2" charset="2"/>
              <a:buChar char="Ø"/>
            </a:pPr>
            <a:r>
              <a:rPr lang="en-US" dirty="0" err="1">
                <a:latin typeface="Times New Roman" panose="02020603050405020304" pitchFamily="18" charset="0"/>
                <a:cs typeface="Times New Roman" panose="02020603050405020304" pitchFamily="18" charset="0"/>
              </a:rPr>
              <a:t>CryptoService</a:t>
            </a:r>
            <a:r>
              <a:rPr lang="en-US" dirty="0">
                <a:latin typeface="Times New Roman" panose="02020603050405020304" pitchFamily="18" charset="0"/>
                <a:cs typeface="Times New Roman" panose="02020603050405020304" pitchFamily="18" charset="0"/>
              </a:rPr>
              <a:t> – implements a Schnorr-like protocol</a:t>
            </a:r>
          </a:p>
          <a:p>
            <a:pPr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Payload and resolver layers for protocol abstraction</a:t>
            </a:r>
          </a:p>
          <a:p>
            <a:pPr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Communication is made over a secure TLS channel</a:t>
            </a:r>
          </a:p>
        </p:txBody>
      </p:sp>
      <p:sp>
        <p:nvSpPr>
          <p:cNvPr id="11" name="Slide Number Placeholder 10">
            <a:extLst>
              <a:ext uri="{FF2B5EF4-FFF2-40B4-BE49-F238E27FC236}">
                <a16:creationId xmlns:a16="http://schemas.microsoft.com/office/drawing/2014/main" id="{F8FC4DAD-8F22-40DC-8133-22BF52217FB8}"/>
              </a:ext>
            </a:extLst>
          </p:cNvPr>
          <p:cNvSpPr>
            <a:spLocks noGrp="1"/>
          </p:cNvSpPr>
          <p:nvPr>
            <p:ph type="sldNum" sz="quarter" idx="12"/>
          </p:nvPr>
        </p:nvSpPr>
        <p:spPr/>
        <p:txBody>
          <a:bodyPr/>
          <a:lstStyle/>
          <a:p>
            <a:fld id="{5BFCF61C-3B18-4C03-8326-CC3B32D710C9}" type="slidenum">
              <a:rPr lang="en-US" smtClean="0"/>
              <a:pPr/>
              <a:t>4</a:t>
            </a:fld>
            <a:endParaRPr lang="en-US"/>
          </a:p>
        </p:txBody>
      </p:sp>
      <p:pic>
        <p:nvPicPr>
          <p:cNvPr id="3" name="Picture 2">
            <a:extLst>
              <a:ext uri="{FF2B5EF4-FFF2-40B4-BE49-F238E27FC236}">
                <a16:creationId xmlns:a16="http://schemas.microsoft.com/office/drawing/2014/main" id="{915D0A2B-201B-3C4A-7AED-39758402D5FA}"/>
              </a:ext>
            </a:extLst>
          </p:cNvPr>
          <p:cNvPicPr>
            <a:picLocks noChangeAspect="1"/>
          </p:cNvPicPr>
          <p:nvPr/>
        </p:nvPicPr>
        <p:blipFill>
          <a:blip r:embed="rId2"/>
          <a:stretch>
            <a:fillRect/>
          </a:stretch>
        </p:blipFill>
        <p:spPr>
          <a:xfrm>
            <a:off x="2240280" y="-8686"/>
            <a:ext cx="942588" cy="982416"/>
          </a:xfrm>
          <a:prstGeom prst="rect">
            <a:avLst/>
          </a:prstGeom>
        </p:spPr>
      </p:pic>
      <p:pic>
        <p:nvPicPr>
          <p:cNvPr id="6" name="Picture 5">
            <a:extLst>
              <a:ext uri="{FF2B5EF4-FFF2-40B4-BE49-F238E27FC236}">
                <a16:creationId xmlns:a16="http://schemas.microsoft.com/office/drawing/2014/main" id="{0F4D40FA-C21F-ECA7-3E9A-6673FC9FF5E1}"/>
              </a:ext>
            </a:extLst>
          </p:cNvPr>
          <p:cNvPicPr>
            <a:picLocks noChangeAspect="1"/>
          </p:cNvPicPr>
          <p:nvPr/>
        </p:nvPicPr>
        <p:blipFill>
          <a:blip r:embed="rId3"/>
          <a:stretch>
            <a:fillRect/>
          </a:stretch>
        </p:blipFill>
        <p:spPr>
          <a:xfrm>
            <a:off x="3111358" y="7115"/>
            <a:ext cx="1137914" cy="1137914"/>
          </a:xfrm>
          <a:prstGeom prst="rect">
            <a:avLst/>
          </a:prstGeom>
        </p:spPr>
      </p:pic>
      <p:sp>
        <p:nvSpPr>
          <p:cNvPr id="7" name="TextBox 6">
            <a:extLst>
              <a:ext uri="{FF2B5EF4-FFF2-40B4-BE49-F238E27FC236}">
                <a16:creationId xmlns:a16="http://schemas.microsoft.com/office/drawing/2014/main" id="{DECB689A-0E1C-EEEF-863A-F51FFD099D39}"/>
              </a:ext>
            </a:extLst>
          </p:cNvPr>
          <p:cNvSpPr txBox="1"/>
          <p:nvPr/>
        </p:nvSpPr>
        <p:spPr>
          <a:xfrm>
            <a:off x="764931" y="3033346"/>
            <a:ext cx="10023231" cy="646331"/>
          </a:xfrm>
          <a:prstGeom prst="rect">
            <a:avLst/>
          </a:prstGeom>
          <a:noFill/>
        </p:spPr>
        <p:txBody>
          <a:bodyPr wrap="square" rtlCol="0">
            <a:spAutoFit/>
          </a:bodyPr>
          <a:lstStyle/>
          <a:p>
            <a:pPr marL="342900" indent="-342900" algn="just">
              <a:buFont typeface="Arial" panose="020B0604020202020204" pitchFamily="34" charset="0"/>
              <a:buChar char="•"/>
            </a:pPr>
            <a:r>
              <a:rPr lang="en-US" dirty="0" err="1">
                <a:latin typeface="Times New Roman" panose="02020603050405020304" pitchFamily="18" charset="0"/>
                <a:cs typeface="Times New Roman" panose="02020603050405020304" pitchFamily="18" charset="0"/>
              </a:rPr>
              <a:t>SilentVault</a:t>
            </a:r>
            <a:r>
              <a:rPr lang="en-US" dirty="0">
                <a:latin typeface="Times New Roman" panose="02020603050405020304" pitchFamily="18" charset="0"/>
                <a:cs typeface="Times New Roman" panose="02020603050405020304" pitchFamily="18" charset="0"/>
              </a:rPr>
              <a:t> has been created only as a proof of concept for zero-knowledge password base authentication. Thus, the application’s architecture is minimal and main components include:</a:t>
            </a:r>
          </a:p>
        </p:txBody>
      </p:sp>
      <p:sp>
        <p:nvSpPr>
          <p:cNvPr id="12" name="Title 1">
            <a:extLst>
              <a:ext uri="{FF2B5EF4-FFF2-40B4-BE49-F238E27FC236}">
                <a16:creationId xmlns:a16="http://schemas.microsoft.com/office/drawing/2014/main" id="{70DE3CC5-FCD6-28B3-FE11-FA37B0F42725}"/>
              </a:ext>
            </a:extLst>
          </p:cNvPr>
          <p:cNvSpPr txBox="1">
            <a:spLocks/>
          </p:cNvSpPr>
          <p:nvPr/>
        </p:nvSpPr>
        <p:spPr>
          <a:xfrm>
            <a:off x="755904" y="1615440"/>
            <a:ext cx="10515600" cy="575321"/>
          </a:xfrm>
          <a:prstGeom prst="rect">
            <a:avLst/>
          </a:prstGeom>
        </p:spPr>
        <p:txBody>
          <a:bodyPr vert="horz" lIns="91440" tIns="45720" rIns="91440" bIns="45720" rtlCol="0" anchor="t">
            <a:noAutofit/>
          </a:bodyPr>
          <a:lstStyle>
            <a:lvl1pPr algn="l" defTabSz="914400" rtl="0" eaLnBrk="1" latinLnBrk="0" hangingPunct="1">
              <a:lnSpc>
                <a:spcPct val="80000"/>
              </a:lnSpc>
              <a:spcBef>
                <a:spcPct val="0"/>
              </a:spcBef>
              <a:buNone/>
              <a:defRPr sz="5000" kern="1200" cap="all" baseline="0">
                <a:solidFill>
                  <a:schemeClr val="accent5"/>
                </a:solidFill>
                <a:latin typeface="+mj-lt"/>
                <a:ea typeface="+mj-ea"/>
                <a:cs typeface="+mj-cs"/>
              </a:defRPr>
            </a:lvl1pPr>
          </a:lstStyle>
          <a:p>
            <a:pPr algn="r"/>
            <a:r>
              <a:rPr lang="en-US" sz="2500" dirty="0"/>
              <a:t>Overview</a:t>
            </a:r>
          </a:p>
        </p:txBody>
      </p:sp>
    </p:spTree>
    <p:extLst>
      <p:ext uri="{BB962C8B-B14F-4D97-AF65-F5344CB8AC3E}">
        <p14:creationId xmlns:p14="http://schemas.microsoft.com/office/powerpoint/2010/main" val="9015262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07FBA-5A90-0270-4E5C-49AC2112C5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251F25-90B2-F904-9A21-D7C55A05D284}"/>
              </a:ext>
            </a:extLst>
          </p:cNvPr>
          <p:cNvSpPr>
            <a:spLocks noGrp="1"/>
          </p:cNvSpPr>
          <p:nvPr>
            <p:ph type="title"/>
          </p:nvPr>
        </p:nvSpPr>
        <p:spPr/>
        <p:txBody>
          <a:bodyPr/>
          <a:lstStyle/>
          <a:p>
            <a:r>
              <a:rPr lang="en-US" dirty="0"/>
              <a:t>2. </a:t>
            </a:r>
            <a:r>
              <a:rPr lang="en-US" dirty="0" err="1"/>
              <a:t>Silentvault’s</a:t>
            </a:r>
            <a:r>
              <a:rPr lang="en-US" dirty="0"/>
              <a:t> architecture</a:t>
            </a:r>
          </a:p>
        </p:txBody>
      </p:sp>
      <p:sp>
        <p:nvSpPr>
          <p:cNvPr id="10" name="Footer Placeholder 9">
            <a:extLst>
              <a:ext uri="{FF2B5EF4-FFF2-40B4-BE49-F238E27FC236}">
                <a16:creationId xmlns:a16="http://schemas.microsoft.com/office/drawing/2014/main" id="{5CA2972E-C970-30D7-D43F-626828F2B678}"/>
              </a:ext>
            </a:extLst>
          </p:cNvPr>
          <p:cNvSpPr>
            <a:spLocks noGrp="1"/>
          </p:cNvSpPr>
          <p:nvPr>
            <p:ph type="ftr" sz="quarter" idx="11"/>
          </p:nvPr>
        </p:nvSpPr>
        <p:spPr/>
        <p:txBody>
          <a:bodyPr/>
          <a:lstStyle/>
          <a:p>
            <a:r>
              <a:rPr lang="en-US" dirty="0" err="1"/>
              <a:t>SilentVault</a:t>
            </a:r>
            <a:r>
              <a:rPr lang="en-US" dirty="0"/>
              <a:t> – A Password Based Zero Knowledge File Server</a:t>
            </a:r>
          </a:p>
        </p:txBody>
      </p:sp>
      <p:sp>
        <p:nvSpPr>
          <p:cNvPr id="11" name="Slide Number Placeholder 10">
            <a:extLst>
              <a:ext uri="{FF2B5EF4-FFF2-40B4-BE49-F238E27FC236}">
                <a16:creationId xmlns:a16="http://schemas.microsoft.com/office/drawing/2014/main" id="{50B50C70-4FB8-E958-F9BB-11B112B9C908}"/>
              </a:ext>
            </a:extLst>
          </p:cNvPr>
          <p:cNvSpPr>
            <a:spLocks noGrp="1"/>
          </p:cNvSpPr>
          <p:nvPr>
            <p:ph type="sldNum" sz="quarter" idx="12"/>
          </p:nvPr>
        </p:nvSpPr>
        <p:spPr/>
        <p:txBody>
          <a:bodyPr/>
          <a:lstStyle/>
          <a:p>
            <a:fld id="{5BFCF61C-3B18-4C03-8326-CC3B32D710C9}" type="slidenum">
              <a:rPr lang="en-US" smtClean="0"/>
              <a:pPr/>
              <a:t>5</a:t>
            </a:fld>
            <a:endParaRPr lang="en-US"/>
          </a:p>
        </p:txBody>
      </p:sp>
      <p:pic>
        <p:nvPicPr>
          <p:cNvPr id="3" name="Picture 2">
            <a:extLst>
              <a:ext uri="{FF2B5EF4-FFF2-40B4-BE49-F238E27FC236}">
                <a16:creationId xmlns:a16="http://schemas.microsoft.com/office/drawing/2014/main" id="{F3511B07-E4A8-183E-6522-B64B6F4D01FE}"/>
              </a:ext>
            </a:extLst>
          </p:cNvPr>
          <p:cNvPicPr>
            <a:picLocks noChangeAspect="1"/>
          </p:cNvPicPr>
          <p:nvPr/>
        </p:nvPicPr>
        <p:blipFill>
          <a:blip r:embed="rId2"/>
          <a:stretch>
            <a:fillRect/>
          </a:stretch>
        </p:blipFill>
        <p:spPr>
          <a:xfrm>
            <a:off x="2240280" y="-8686"/>
            <a:ext cx="942588" cy="982416"/>
          </a:xfrm>
          <a:prstGeom prst="rect">
            <a:avLst/>
          </a:prstGeom>
        </p:spPr>
      </p:pic>
      <p:pic>
        <p:nvPicPr>
          <p:cNvPr id="6" name="Picture 5">
            <a:extLst>
              <a:ext uri="{FF2B5EF4-FFF2-40B4-BE49-F238E27FC236}">
                <a16:creationId xmlns:a16="http://schemas.microsoft.com/office/drawing/2014/main" id="{472BAE57-2E65-7331-4D2B-0FAD0E860783}"/>
              </a:ext>
            </a:extLst>
          </p:cNvPr>
          <p:cNvPicPr>
            <a:picLocks noChangeAspect="1"/>
          </p:cNvPicPr>
          <p:nvPr/>
        </p:nvPicPr>
        <p:blipFill>
          <a:blip r:embed="rId3"/>
          <a:stretch>
            <a:fillRect/>
          </a:stretch>
        </p:blipFill>
        <p:spPr>
          <a:xfrm>
            <a:off x="3111358" y="7115"/>
            <a:ext cx="1137914" cy="1137914"/>
          </a:xfrm>
          <a:prstGeom prst="rect">
            <a:avLst/>
          </a:prstGeom>
        </p:spPr>
      </p:pic>
      <p:sp>
        <p:nvSpPr>
          <p:cNvPr id="9" name="Title 1">
            <a:extLst>
              <a:ext uri="{FF2B5EF4-FFF2-40B4-BE49-F238E27FC236}">
                <a16:creationId xmlns:a16="http://schemas.microsoft.com/office/drawing/2014/main" id="{E0A1696F-6969-F101-02EA-0436B869E64F}"/>
              </a:ext>
            </a:extLst>
          </p:cNvPr>
          <p:cNvSpPr txBox="1">
            <a:spLocks/>
          </p:cNvSpPr>
          <p:nvPr/>
        </p:nvSpPr>
        <p:spPr>
          <a:xfrm>
            <a:off x="755904" y="1615440"/>
            <a:ext cx="10515600" cy="575321"/>
          </a:xfrm>
          <a:prstGeom prst="rect">
            <a:avLst/>
          </a:prstGeom>
        </p:spPr>
        <p:txBody>
          <a:bodyPr vert="horz" lIns="91440" tIns="45720" rIns="91440" bIns="45720" rtlCol="0" anchor="t">
            <a:noAutofit/>
          </a:bodyPr>
          <a:lstStyle>
            <a:lvl1pPr algn="l" defTabSz="914400" rtl="0" eaLnBrk="1" latinLnBrk="0" hangingPunct="1">
              <a:lnSpc>
                <a:spcPct val="80000"/>
              </a:lnSpc>
              <a:spcBef>
                <a:spcPct val="0"/>
              </a:spcBef>
              <a:buNone/>
              <a:defRPr sz="5000" kern="1200" cap="all" baseline="0">
                <a:solidFill>
                  <a:schemeClr val="accent5"/>
                </a:solidFill>
                <a:latin typeface="+mj-lt"/>
                <a:ea typeface="+mj-ea"/>
                <a:cs typeface="+mj-cs"/>
              </a:defRPr>
            </a:lvl1pPr>
          </a:lstStyle>
          <a:p>
            <a:pPr algn="r"/>
            <a:r>
              <a:rPr lang="en-US" sz="2500" dirty="0"/>
              <a:t>Functionalities &amp;</a:t>
            </a:r>
          </a:p>
          <a:p>
            <a:pPr algn="r"/>
            <a:r>
              <a:rPr lang="en-US" sz="2500" dirty="0"/>
              <a:t>responsibilities</a:t>
            </a:r>
          </a:p>
        </p:txBody>
      </p:sp>
      <p:sp>
        <p:nvSpPr>
          <p:cNvPr id="12" name="Text Placeholder 3">
            <a:extLst>
              <a:ext uri="{FF2B5EF4-FFF2-40B4-BE49-F238E27FC236}">
                <a16:creationId xmlns:a16="http://schemas.microsoft.com/office/drawing/2014/main" id="{B922CA2E-E8EF-0780-0530-FEF766A9DD97}"/>
              </a:ext>
            </a:extLst>
          </p:cNvPr>
          <p:cNvSpPr txBox="1">
            <a:spLocks/>
          </p:cNvSpPr>
          <p:nvPr/>
        </p:nvSpPr>
        <p:spPr>
          <a:xfrm>
            <a:off x="733918" y="3429000"/>
            <a:ext cx="4754880" cy="1682750"/>
          </a:xfrm>
          <a:prstGeom prst="rect">
            <a:avLst/>
          </a:prstGeom>
        </p:spPr>
        <p:txBody>
          <a:bodyPr vert="horz" lIns="91440" tIns="45720" rIns="91440" bIns="45720" rtlCol="0">
            <a:noAutofit/>
          </a:bodyPr>
          <a:lstStyle>
            <a:lvl1pPr marL="283464" indent="-283464" algn="l" defTabSz="914400" rtl="0" eaLnBrk="1" latinLnBrk="0" hangingPunct="1">
              <a:lnSpc>
                <a:spcPct val="150000"/>
              </a:lnSpc>
              <a:spcBef>
                <a:spcPts val="0"/>
              </a:spcBef>
              <a:buFont typeface="Arial" panose="020B0604020202020204" pitchFamily="34" charset="0"/>
              <a:buChar char="•"/>
              <a:defRPr sz="1600" kern="1200">
                <a:solidFill>
                  <a:schemeClr val="tx2"/>
                </a:solidFill>
                <a:latin typeface="+mn-lt"/>
                <a:ea typeface="+mn-ea"/>
                <a:cs typeface="+mn-cs"/>
              </a:defRPr>
            </a:lvl1pPr>
            <a:lvl2pPr marL="685800" indent="-283464" algn="l" defTabSz="914400" rtl="0" eaLnBrk="1" latinLnBrk="0" hangingPunct="1">
              <a:lnSpc>
                <a:spcPct val="150000"/>
              </a:lnSpc>
              <a:spcBef>
                <a:spcPts val="0"/>
              </a:spcBef>
              <a:buFont typeface="Arial" panose="020B0604020202020204" pitchFamily="34" charset="0"/>
              <a:buChar char="•"/>
              <a:defRPr sz="1600" kern="1200">
                <a:solidFill>
                  <a:schemeClr val="tx2"/>
                </a:solidFill>
                <a:latin typeface="+mn-lt"/>
                <a:ea typeface="+mn-ea"/>
                <a:cs typeface="+mn-cs"/>
              </a:defRPr>
            </a:lvl2pPr>
            <a:lvl3pPr marL="1143000" indent="-283464" algn="l" defTabSz="914400" rtl="0" eaLnBrk="1" latinLnBrk="0" hangingPunct="1">
              <a:lnSpc>
                <a:spcPct val="150000"/>
              </a:lnSpc>
              <a:spcBef>
                <a:spcPts val="0"/>
              </a:spcBef>
              <a:buFont typeface="Arial" panose="020B0604020202020204" pitchFamily="34" charset="0"/>
              <a:buChar char="•"/>
              <a:defRPr sz="1600" kern="1200">
                <a:solidFill>
                  <a:schemeClr val="tx2"/>
                </a:solidFill>
                <a:latin typeface="+mn-lt"/>
                <a:ea typeface="+mn-ea"/>
                <a:cs typeface="+mn-cs"/>
              </a:defRPr>
            </a:lvl3pPr>
            <a:lvl4pPr marL="1600200" indent="-283464" algn="l" defTabSz="914400" rtl="0" eaLnBrk="1" latinLnBrk="0" hangingPunct="1">
              <a:lnSpc>
                <a:spcPct val="150000"/>
              </a:lnSpc>
              <a:spcBef>
                <a:spcPts val="0"/>
              </a:spcBef>
              <a:buFont typeface="Arial" panose="020B0604020202020204" pitchFamily="34" charset="0"/>
              <a:buChar char="•"/>
              <a:defRPr sz="1600" kern="1200">
                <a:solidFill>
                  <a:schemeClr val="tx2"/>
                </a:solidFill>
                <a:latin typeface="+mn-lt"/>
                <a:ea typeface="+mn-ea"/>
                <a:cs typeface="+mn-cs"/>
              </a:defRPr>
            </a:lvl4pPr>
            <a:lvl5pPr marL="2057400" indent="-283464" algn="l" defTabSz="914400" rtl="0" eaLnBrk="1" latinLnBrk="0" hangingPunct="1">
              <a:lnSpc>
                <a:spcPct val="150000"/>
              </a:lnSpc>
              <a:spcBef>
                <a:spcPts val="0"/>
              </a:spcBef>
              <a:buFont typeface="Arial" panose="020B0604020202020204" pitchFamily="34" charset="0"/>
              <a:buChar char="•"/>
              <a:defRPr sz="16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316736" lvl="3" indent="0" algn="just">
              <a:buNone/>
            </a:pPr>
            <a:r>
              <a:rPr lang="en-US" dirty="0">
                <a:latin typeface="Times New Roman" panose="02020603050405020304" pitchFamily="18" charset="0"/>
                <a:cs typeface="Times New Roman" panose="02020603050405020304" pitchFamily="18" charset="0"/>
              </a:rPr>
              <a:t>Functionalities:</a:t>
            </a:r>
          </a:p>
          <a:p>
            <a:pPr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Clients can upload files to the server, download previously uploaded files, check a list of all their files on the server and demand the server to delete a file;</a:t>
            </a:r>
          </a:p>
          <a:p>
            <a:pPr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The Server manages users’ files and public data and implement a minimal CLI with logging capabilities.</a:t>
            </a:r>
          </a:p>
        </p:txBody>
      </p:sp>
      <p:sp>
        <p:nvSpPr>
          <p:cNvPr id="13" name="Text Placeholder 3">
            <a:extLst>
              <a:ext uri="{FF2B5EF4-FFF2-40B4-BE49-F238E27FC236}">
                <a16:creationId xmlns:a16="http://schemas.microsoft.com/office/drawing/2014/main" id="{1BA06968-0C88-870B-9224-F23DCE29D962}"/>
              </a:ext>
            </a:extLst>
          </p:cNvPr>
          <p:cNvSpPr txBox="1">
            <a:spLocks/>
          </p:cNvSpPr>
          <p:nvPr/>
        </p:nvSpPr>
        <p:spPr>
          <a:xfrm>
            <a:off x="6364224" y="3429000"/>
            <a:ext cx="4754880" cy="1682750"/>
          </a:xfrm>
          <a:prstGeom prst="rect">
            <a:avLst/>
          </a:prstGeom>
        </p:spPr>
        <p:txBody>
          <a:bodyPr vert="horz" lIns="91440" tIns="45720" rIns="91440" bIns="45720" rtlCol="0">
            <a:noAutofit/>
          </a:bodyPr>
          <a:lstStyle>
            <a:lvl1pPr marL="283464" indent="-283464" algn="l" defTabSz="914400" rtl="0" eaLnBrk="1" latinLnBrk="0" hangingPunct="1">
              <a:lnSpc>
                <a:spcPct val="150000"/>
              </a:lnSpc>
              <a:spcBef>
                <a:spcPts val="0"/>
              </a:spcBef>
              <a:buFont typeface="Arial" panose="020B0604020202020204" pitchFamily="34" charset="0"/>
              <a:buChar char="•"/>
              <a:defRPr sz="1600" kern="1200">
                <a:solidFill>
                  <a:schemeClr val="tx2"/>
                </a:solidFill>
                <a:latin typeface="+mn-lt"/>
                <a:ea typeface="+mn-ea"/>
                <a:cs typeface="+mn-cs"/>
              </a:defRPr>
            </a:lvl1pPr>
            <a:lvl2pPr marL="685800" indent="-283464" algn="l" defTabSz="914400" rtl="0" eaLnBrk="1" latinLnBrk="0" hangingPunct="1">
              <a:lnSpc>
                <a:spcPct val="150000"/>
              </a:lnSpc>
              <a:spcBef>
                <a:spcPts val="0"/>
              </a:spcBef>
              <a:buFont typeface="Arial" panose="020B0604020202020204" pitchFamily="34" charset="0"/>
              <a:buChar char="•"/>
              <a:defRPr sz="1600" kern="1200">
                <a:solidFill>
                  <a:schemeClr val="tx2"/>
                </a:solidFill>
                <a:latin typeface="+mn-lt"/>
                <a:ea typeface="+mn-ea"/>
                <a:cs typeface="+mn-cs"/>
              </a:defRPr>
            </a:lvl2pPr>
            <a:lvl3pPr marL="1143000" indent="-283464" algn="l" defTabSz="914400" rtl="0" eaLnBrk="1" latinLnBrk="0" hangingPunct="1">
              <a:lnSpc>
                <a:spcPct val="150000"/>
              </a:lnSpc>
              <a:spcBef>
                <a:spcPts val="0"/>
              </a:spcBef>
              <a:buFont typeface="Arial" panose="020B0604020202020204" pitchFamily="34" charset="0"/>
              <a:buChar char="•"/>
              <a:defRPr sz="1600" kern="1200">
                <a:solidFill>
                  <a:schemeClr val="tx2"/>
                </a:solidFill>
                <a:latin typeface="+mn-lt"/>
                <a:ea typeface="+mn-ea"/>
                <a:cs typeface="+mn-cs"/>
              </a:defRPr>
            </a:lvl3pPr>
            <a:lvl4pPr marL="1600200" indent="-283464" algn="l" defTabSz="914400" rtl="0" eaLnBrk="1" latinLnBrk="0" hangingPunct="1">
              <a:lnSpc>
                <a:spcPct val="150000"/>
              </a:lnSpc>
              <a:spcBef>
                <a:spcPts val="0"/>
              </a:spcBef>
              <a:buFont typeface="Arial" panose="020B0604020202020204" pitchFamily="34" charset="0"/>
              <a:buChar char="•"/>
              <a:defRPr sz="1600" kern="1200">
                <a:solidFill>
                  <a:schemeClr val="tx2"/>
                </a:solidFill>
                <a:latin typeface="+mn-lt"/>
                <a:ea typeface="+mn-ea"/>
                <a:cs typeface="+mn-cs"/>
              </a:defRPr>
            </a:lvl4pPr>
            <a:lvl5pPr marL="2057400" indent="-283464" algn="l" defTabSz="914400" rtl="0" eaLnBrk="1" latinLnBrk="0" hangingPunct="1">
              <a:lnSpc>
                <a:spcPct val="150000"/>
              </a:lnSpc>
              <a:spcBef>
                <a:spcPts val="0"/>
              </a:spcBef>
              <a:buFont typeface="Arial" panose="020B0604020202020204" pitchFamily="34" charset="0"/>
              <a:buChar char="•"/>
              <a:defRPr sz="16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n-US" dirty="0">
                <a:latin typeface="Times New Roman" panose="02020603050405020304" pitchFamily="18" charset="0"/>
                <a:cs typeface="Times New Roman" panose="02020603050405020304" pitchFamily="18" charset="0"/>
              </a:rPr>
              <a:t>	            Responsibilities</a:t>
            </a:r>
          </a:p>
          <a:p>
            <a:pPr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Clients execute the mathematical equations for authentication;</a:t>
            </a:r>
          </a:p>
          <a:p>
            <a:pPr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Clients manage the encryption of the files about to be uploaded.</a:t>
            </a:r>
          </a:p>
          <a:p>
            <a:pPr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The Server acts as a ‘worker’ for the client. It cannot validate passwords or initiate authentications on behalf of any client.</a:t>
            </a:r>
          </a:p>
        </p:txBody>
      </p:sp>
    </p:spTree>
    <p:extLst>
      <p:ext uri="{BB962C8B-B14F-4D97-AF65-F5344CB8AC3E}">
        <p14:creationId xmlns:p14="http://schemas.microsoft.com/office/powerpoint/2010/main" val="32225668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EF614F-15FF-07C5-072F-409D78F346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832DF4-9311-79C2-C42F-9B7A0C36E6DC}"/>
              </a:ext>
            </a:extLst>
          </p:cNvPr>
          <p:cNvSpPr>
            <a:spLocks noGrp="1"/>
          </p:cNvSpPr>
          <p:nvPr>
            <p:ph type="title"/>
          </p:nvPr>
        </p:nvSpPr>
        <p:spPr>
          <a:xfrm>
            <a:off x="506789" y="964710"/>
            <a:ext cx="10791325" cy="575321"/>
          </a:xfrm>
        </p:spPr>
        <p:txBody>
          <a:bodyPr/>
          <a:lstStyle/>
          <a:p>
            <a:r>
              <a:rPr lang="en-US" dirty="0"/>
              <a:t>3. Comparison  to  classical authentication  methods</a:t>
            </a:r>
          </a:p>
        </p:txBody>
      </p:sp>
      <p:sp>
        <p:nvSpPr>
          <p:cNvPr id="12" name="Footer Placeholder 11">
            <a:extLst>
              <a:ext uri="{FF2B5EF4-FFF2-40B4-BE49-F238E27FC236}">
                <a16:creationId xmlns:a16="http://schemas.microsoft.com/office/drawing/2014/main" id="{670A1EFD-D511-CEC3-6B88-C13463B673D8}"/>
              </a:ext>
            </a:extLst>
          </p:cNvPr>
          <p:cNvSpPr>
            <a:spLocks noGrp="1"/>
          </p:cNvSpPr>
          <p:nvPr>
            <p:ph type="ftr" sz="quarter" idx="11"/>
          </p:nvPr>
        </p:nvSpPr>
        <p:spPr/>
        <p:txBody>
          <a:bodyPr/>
          <a:lstStyle/>
          <a:p>
            <a:r>
              <a:rPr lang="en-US" dirty="0" err="1"/>
              <a:t>SilentVault</a:t>
            </a:r>
            <a:r>
              <a:rPr lang="en-US" dirty="0"/>
              <a:t> – A Password Based Zero Knowledge File Server</a:t>
            </a:r>
          </a:p>
        </p:txBody>
      </p:sp>
      <p:sp>
        <p:nvSpPr>
          <p:cNvPr id="13" name="Slide Number Placeholder 12">
            <a:extLst>
              <a:ext uri="{FF2B5EF4-FFF2-40B4-BE49-F238E27FC236}">
                <a16:creationId xmlns:a16="http://schemas.microsoft.com/office/drawing/2014/main" id="{827B4CDA-7728-687C-3E8E-B6CAC27A518F}"/>
              </a:ext>
            </a:extLst>
          </p:cNvPr>
          <p:cNvSpPr>
            <a:spLocks noGrp="1"/>
          </p:cNvSpPr>
          <p:nvPr>
            <p:ph type="sldNum" sz="quarter" idx="12"/>
          </p:nvPr>
        </p:nvSpPr>
        <p:spPr/>
        <p:txBody>
          <a:bodyPr/>
          <a:lstStyle/>
          <a:p>
            <a:fld id="{5BFCF61C-3B18-4C03-8326-CC3B32D710C9}" type="slidenum">
              <a:rPr lang="en-US" smtClean="0"/>
              <a:pPr/>
              <a:t>6</a:t>
            </a:fld>
            <a:endParaRPr lang="en-US"/>
          </a:p>
        </p:txBody>
      </p:sp>
      <p:pic>
        <p:nvPicPr>
          <p:cNvPr id="4" name="Picture 3">
            <a:extLst>
              <a:ext uri="{FF2B5EF4-FFF2-40B4-BE49-F238E27FC236}">
                <a16:creationId xmlns:a16="http://schemas.microsoft.com/office/drawing/2014/main" id="{C2C2E19D-2842-D49D-2C50-397DF76B1D19}"/>
              </a:ext>
            </a:extLst>
          </p:cNvPr>
          <p:cNvPicPr>
            <a:picLocks noChangeAspect="1"/>
          </p:cNvPicPr>
          <p:nvPr/>
        </p:nvPicPr>
        <p:blipFill>
          <a:blip r:embed="rId3"/>
          <a:stretch>
            <a:fillRect/>
          </a:stretch>
        </p:blipFill>
        <p:spPr>
          <a:xfrm>
            <a:off x="2240280" y="-8686"/>
            <a:ext cx="942588" cy="982416"/>
          </a:xfrm>
          <a:prstGeom prst="rect">
            <a:avLst/>
          </a:prstGeom>
        </p:spPr>
      </p:pic>
      <p:pic>
        <p:nvPicPr>
          <p:cNvPr id="7" name="Picture 6">
            <a:extLst>
              <a:ext uri="{FF2B5EF4-FFF2-40B4-BE49-F238E27FC236}">
                <a16:creationId xmlns:a16="http://schemas.microsoft.com/office/drawing/2014/main" id="{AD2AC687-7113-D37C-5692-5D06D7174FE7}"/>
              </a:ext>
            </a:extLst>
          </p:cNvPr>
          <p:cNvPicPr>
            <a:picLocks noChangeAspect="1"/>
          </p:cNvPicPr>
          <p:nvPr/>
        </p:nvPicPr>
        <p:blipFill>
          <a:blip r:embed="rId4"/>
          <a:stretch>
            <a:fillRect/>
          </a:stretch>
        </p:blipFill>
        <p:spPr>
          <a:xfrm>
            <a:off x="3111358" y="7115"/>
            <a:ext cx="1137914" cy="1137914"/>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6BE6C46-9E17-E810-BAA5-FB754BCF4C13}"/>
                  </a:ext>
                </a:extLst>
              </p:cNvPr>
              <p:cNvSpPr txBox="1"/>
              <p:nvPr/>
            </p:nvSpPr>
            <p:spPr>
              <a:xfrm>
                <a:off x="1652954" y="2681653"/>
                <a:ext cx="9108831" cy="2462213"/>
              </a:xfrm>
              <a:prstGeom prst="rect">
                <a:avLst/>
              </a:prstGeom>
              <a:noFill/>
            </p:spPr>
            <p:txBody>
              <a:bodyPr wrap="square" rtlCol="0">
                <a:spAutoFit/>
              </a:bodyPr>
              <a:lstStyle/>
              <a:p>
                <a:pPr algn="ctr"/>
                <a:r>
                  <a:rPr lang="en-US" sz="2200" dirty="0">
                    <a:latin typeface="Times New Roman" panose="02020603050405020304" pitchFamily="18" charset="0"/>
                    <a:cs typeface="Times New Roman" panose="02020603050405020304" pitchFamily="18" charset="0"/>
                  </a:rPr>
                  <a:t>Traditional Systems</a:t>
                </a:r>
              </a:p>
              <a:p>
                <a:pPr marL="342900" indent="-342900" algn="just">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Traditional Systems store a verifier of the form: </a:t>
                </a:r>
                <a14:m>
                  <m:oMath xmlns:m="http://schemas.openxmlformats.org/officeDocument/2006/math">
                    <m:r>
                      <a:rPr lang="en-US" sz="2200" b="0" i="1" smtClean="0">
                        <a:latin typeface="Cambria Math" panose="02040503050406030204" pitchFamily="18" charset="0"/>
                        <a:cs typeface="Times New Roman" panose="02020603050405020304" pitchFamily="18" charset="0"/>
                      </a:rPr>
                      <m:t>𝐻</m:t>
                    </m:r>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𝐻𝑎𝑠h</m:t>
                    </m:r>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𝑃</m:t>
                    </m:r>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𝑠𝑎𝑙𝑡</m:t>
                    </m:r>
                    <m:r>
                      <a:rPr lang="en-US" sz="2200" b="0" i="1" smtClean="0">
                        <a:latin typeface="Cambria Math" panose="02040503050406030204" pitchFamily="18" charset="0"/>
                        <a:cs typeface="Times New Roman" panose="02020603050405020304" pitchFamily="18" charset="0"/>
                      </a:rPr>
                      <m:t>)</m:t>
                    </m:r>
                  </m:oMath>
                </a14:m>
                <a:r>
                  <a:rPr lang="en-US" sz="2200" dirty="0">
                    <a:latin typeface="Times New Roman" panose="02020603050405020304" pitchFamily="18" charset="0"/>
                    <a:cs typeface="Times New Roman" panose="02020603050405020304" pitchFamily="18" charset="0"/>
                  </a:rPr>
                  <a:t>;</a:t>
                </a:r>
              </a:p>
              <a:p>
                <a:pPr marL="342900" indent="-342900" algn="just">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The verifier </a:t>
                </a:r>
                <a14:m>
                  <m:oMath xmlns:m="http://schemas.openxmlformats.org/officeDocument/2006/math">
                    <m:r>
                      <a:rPr lang="en-US" sz="2200" i="1">
                        <a:latin typeface="Cambria Math" panose="02040503050406030204" pitchFamily="18" charset="0"/>
                        <a:cs typeface="Times New Roman" panose="02020603050405020304" pitchFamily="18" charset="0"/>
                      </a:rPr>
                      <m:t>𝐻</m:t>
                    </m:r>
                  </m:oMath>
                </a14:m>
                <a:r>
                  <a:rPr lang="en-US" sz="2200" dirty="0">
                    <a:latin typeface="Times New Roman" panose="02020603050405020304" pitchFamily="18" charset="0"/>
                    <a:cs typeface="Times New Roman" panose="02020603050405020304" pitchFamily="18" charset="0"/>
                  </a:rPr>
                  <a:t> is static, allows for password verification without interacting with a legitimate user;</a:t>
                </a:r>
              </a:p>
              <a:p>
                <a:pPr marL="342900" indent="-342900" algn="just">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A compromised server is the most critical scenario for traditional systems. It allows offline brute-force attacks. </a:t>
                </a:r>
              </a:p>
              <a:p>
                <a:pPr marL="342900" indent="-342900" algn="just">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A leak affects all users simultaneously through credential harvesting attacks.</a:t>
                </a:r>
              </a:p>
            </p:txBody>
          </p:sp>
        </mc:Choice>
        <mc:Fallback xmlns="">
          <p:sp>
            <p:nvSpPr>
              <p:cNvPr id="10" name="TextBox 9">
                <a:extLst>
                  <a:ext uri="{FF2B5EF4-FFF2-40B4-BE49-F238E27FC236}">
                    <a16:creationId xmlns:a16="http://schemas.microsoft.com/office/drawing/2014/main" id="{26BE6C46-9E17-E810-BAA5-FB754BCF4C13}"/>
                  </a:ext>
                </a:extLst>
              </p:cNvPr>
              <p:cNvSpPr txBox="1">
                <a:spLocks noRot="1" noChangeAspect="1" noMove="1" noResize="1" noEditPoints="1" noAdjustHandles="1" noChangeArrowheads="1" noChangeShapeType="1" noTextEdit="1"/>
              </p:cNvSpPr>
              <p:nvPr/>
            </p:nvSpPr>
            <p:spPr>
              <a:xfrm>
                <a:off x="1652954" y="2681653"/>
                <a:ext cx="9108831" cy="2462213"/>
              </a:xfrm>
              <a:prstGeom prst="rect">
                <a:avLst/>
              </a:prstGeom>
              <a:blipFill>
                <a:blip r:embed="rId5"/>
                <a:stretch>
                  <a:fillRect l="-736" t="-1733" r="-870" b="-3960"/>
                </a:stretch>
              </a:blipFill>
            </p:spPr>
            <p:txBody>
              <a:bodyPr/>
              <a:lstStyle/>
              <a:p>
                <a:r>
                  <a:rPr lang="en-US">
                    <a:noFill/>
                  </a:rPr>
                  <a:t> </a:t>
                </a:r>
              </a:p>
            </p:txBody>
          </p:sp>
        </mc:Fallback>
      </mc:AlternateContent>
    </p:spTree>
    <p:extLst>
      <p:ext uri="{BB962C8B-B14F-4D97-AF65-F5344CB8AC3E}">
        <p14:creationId xmlns:p14="http://schemas.microsoft.com/office/powerpoint/2010/main" val="1024781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0BE24-8D95-3956-1730-636B4ADDC2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EDAB6B-08C2-CE50-CB14-A91BBAACEE56}"/>
              </a:ext>
            </a:extLst>
          </p:cNvPr>
          <p:cNvSpPr>
            <a:spLocks noGrp="1"/>
          </p:cNvSpPr>
          <p:nvPr>
            <p:ph type="title"/>
          </p:nvPr>
        </p:nvSpPr>
        <p:spPr>
          <a:xfrm>
            <a:off x="506789" y="964710"/>
            <a:ext cx="10791325" cy="575321"/>
          </a:xfrm>
        </p:spPr>
        <p:txBody>
          <a:bodyPr/>
          <a:lstStyle/>
          <a:p>
            <a:r>
              <a:rPr lang="en-US" dirty="0"/>
              <a:t>3. Comparison  to  classical authentication  methods</a:t>
            </a:r>
          </a:p>
        </p:txBody>
      </p:sp>
      <p:sp>
        <p:nvSpPr>
          <p:cNvPr id="12" name="Footer Placeholder 11">
            <a:extLst>
              <a:ext uri="{FF2B5EF4-FFF2-40B4-BE49-F238E27FC236}">
                <a16:creationId xmlns:a16="http://schemas.microsoft.com/office/drawing/2014/main" id="{A8AF53A2-8D5B-77AD-3BCC-1FA25953F46A}"/>
              </a:ext>
            </a:extLst>
          </p:cNvPr>
          <p:cNvSpPr>
            <a:spLocks noGrp="1"/>
          </p:cNvSpPr>
          <p:nvPr>
            <p:ph type="ftr" sz="quarter" idx="11"/>
          </p:nvPr>
        </p:nvSpPr>
        <p:spPr/>
        <p:txBody>
          <a:bodyPr/>
          <a:lstStyle/>
          <a:p>
            <a:r>
              <a:rPr lang="en-US" dirty="0" err="1"/>
              <a:t>SilentVault</a:t>
            </a:r>
            <a:r>
              <a:rPr lang="en-US" dirty="0"/>
              <a:t> – A Password Based Zero Knowledge File Server</a:t>
            </a:r>
          </a:p>
        </p:txBody>
      </p:sp>
      <p:sp>
        <p:nvSpPr>
          <p:cNvPr id="13" name="Slide Number Placeholder 12">
            <a:extLst>
              <a:ext uri="{FF2B5EF4-FFF2-40B4-BE49-F238E27FC236}">
                <a16:creationId xmlns:a16="http://schemas.microsoft.com/office/drawing/2014/main" id="{A9FC2940-708A-07A0-A83A-2BAA126F748D}"/>
              </a:ext>
            </a:extLst>
          </p:cNvPr>
          <p:cNvSpPr>
            <a:spLocks noGrp="1"/>
          </p:cNvSpPr>
          <p:nvPr>
            <p:ph type="sldNum" sz="quarter" idx="12"/>
          </p:nvPr>
        </p:nvSpPr>
        <p:spPr/>
        <p:txBody>
          <a:bodyPr/>
          <a:lstStyle/>
          <a:p>
            <a:fld id="{5BFCF61C-3B18-4C03-8326-CC3B32D710C9}" type="slidenum">
              <a:rPr lang="en-US" smtClean="0"/>
              <a:pPr/>
              <a:t>7</a:t>
            </a:fld>
            <a:endParaRPr lang="en-US"/>
          </a:p>
        </p:txBody>
      </p:sp>
      <p:pic>
        <p:nvPicPr>
          <p:cNvPr id="4" name="Picture 3">
            <a:extLst>
              <a:ext uri="{FF2B5EF4-FFF2-40B4-BE49-F238E27FC236}">
                <a16:creationId xmlns:a16="http://schemas.microsoft.com/office/drawing/2014/main" id="{B1260B96-C311-7FDF-78DB-5392B2A8433C}"/>
              </a:ext>
            </a:extLst>
          </p:cNvPr>
          <p:cNvPicPr>
            <a:picLocks noChangeAspect="1"/>
          </p:cNvPicPr>
          <p:nvPr/>
        </p:nvPicPr>
        <p:blipFill>
          <a:blip r:embed="rId3"/>
          <a:stretch>
            <a:fillRect/>
          </a:stretch>
        </p:blipFill>
        <p:spPr>
          <a:xfrm>
            <a:off x="2240280" y="-8686"/>
            <a:ext cx="942588" cy="982416"/>
          </a:xfrm>
          <a:prstGeom prst="rect">
            <a:avLst/>
          </a:prstGeom>
        </p:spPr>
      </p:pic>
      <p:pic>
        <p:nvPicPr>
          <p:cNvPr id="7" name="Picture 6">
            <a:extLst>
              <a:ext uri="{FF2B5EF4-FFF2-40B4-BE49-F238E27FC236}">
                <a16:creationId xmlns:a16="http://schemas.microsoft.com/office/drawing/2014/main" id="{6EDEBDD4-4581-41D7-394A-71DE58302BDF}"/>
              </a:ext>
            </a:extLst>
          </p:cNvPr>
          <p:cNvPicPr>
            <a:picLocks noChangeAspect="1"/>
          </p:cNvPicPr>
          <p:nvPr/>
        </p:nvPicPr>
        <p:blipFill>
          <a:blip r:embed="rId4"/>
          <a:stretch>
            <a:fillRect/>
          </a:stretch>
        </p:blipFill>
        <p:spPr>
          <a:xfrm>
            <a:off x="3111358" y="7115"/>
            <a:ext cx="1137914" cy="1137914"/>
          </a:xfrm>
          <a:prstGeom prst="rect">
            <a:avLst/>
          </a:prstGeom>
        </p:spPr>
      </p:pic>
      <p:sp>
        <p:nvSpPr>
          <p:cNvPr id="10" name="TextBox 9">
            <a:extLst>
              <a:ext uri="{FF2B5EF4-FFF2-40B4-BE49-F238E27FC236}">
                <a16:creationId xmlns:a16="http://schemas.microsoft.com/office/drawing/2014/main" id="{4A734326-4671-1AF9-2A48-BE3B8AA5A272}"/>
              </a:ext>
            </a:extLst>
          </p:cNvPr>
          <p:cNvSpPr txBox="1"/>
          <p:nvPr/>
        </p:nvSpPr>
        <p:spPr>
          <a:xfrm>
            <a:off x="1652954" y="2681653"/>
            <a:ext cx="9108831" cy="2462213"/>
          </a:xfrm>
          <a:prstGeom prst="rect">
            <a:avLst/>
          </a:prstGeom>
          <a:noFill/>
        </p:spPr>
        <p:txBody>
          <a:bodyPr wrap="square" rtlCol="0">
            <a:spAutoFit/>
          </a:bodyPr>
          <a:lstStyle/>
          <a:p>
            <a:pPr algn="ctr"/>
            <a:r>
              <a:rPr lang="en-US" sz="2200" dirty="0">
                <a:latin typeface="Times New Roman" panose="02020603050405020304" pitchFamily="18" charset="0"/>
                <a:cs typeface="Times New Roman" panose="02020603050405020304" pitchFamily="18" charset="0"/>
              </a:rPr>
              <a:t>Zero Knowledge Approach</a:t>
            </a:r>
          </a:p>
          <a:p>
            <a:pPr marL="342900" indent="-342900" algn="just">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Only public values are stored – a compromised server reveals data with no practical value for authentication.</a:t>
            </a:r>
          </a:p>
          <a:p>
            <a:pPr marL="342900" indent="-342900" algn="just">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Authentication is achieved using a protocol in which a client proves their knowledge of the secret without revealing it.</a:t>
            </a:r>
          </a:p>
          <a:p>
            <a:pPr marL="342900" indent="-342900" algn="just">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Each authentication is unique and user validation cannot be verified offline.</a:t>
            </a:r>
          </a:p>
          <a:p>
            <a:pPr marL="342900" indent="-342900" algn="just">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Secret data cannot be harvested – reduces the risk of a chain reaction.</a:t>
            </a:r>
          </a:p>
        </p:txBody>
      </p:sp>
    </p:spTree>
    <p:extLst>
      <p:ext uri="{BB962C8B-B14F-4D97-AF65-F5344CB8AC3E}">
        <p14:creationId xmlns:p14="http://schemas.microsoft.com/office/powerpoint/2010/main" val="32145351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1DF19-E224-1FDD-62C4-BFB03F6127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283322-376E-18DB-8CD9-E7E0EA5F4072}"/>
              </a:ext>
            </a:extLst>
          </p:cNvPr>
          <p:cNvSpPr>
            <a:spLocks noGrp="1"/>
          </p:cNvSpPr>
          <p:nvPr>
            <p:ph type="title"/>
          </p:nvPr>
        </p:nvSpPr>
        <p:spPr>
          <a:xfrm>
            <a:off x="506789" y="964710"/>
            <a:ext cx="10791325" cy="575321"/>
          </a:xfrm>
        </p:spPr>
        <p:txBody>
          <a:bodyPr/>
          <a:lstStyle/>
          <a:p>
            <a:r>
              <a:rPr lang="en-US" dirty="0"/>
              <a:t>3. Comparison  to  classical authentication  methods</a:t>
            </a:r>
          </a:p>
        </p:txBody>
      </p:sp>
      <p:sp>
        <p:nvSpPr>
          <p:cNvPr id="12" name="Footer Placeholder 11">
            <a:extLst>
              <a:ext uri="{FF2B5EF4-FFF2-40B4-BE49-F238E27FC236}">
                <a16:creationId xmlns:a16="http://schemas.microsoft.com/office/drawing/2014/main" id="{8AA14CD2-A253-310C-08C7-D3106C77B483}"/>
              </a:ext>
            </a:extLst>
          </p:cNvPr>
          <p:cNvSpPr>
            <a:spLocks noGrp="1"/>
          </p:cNvSpPr>
          <p:nvPr>
            <p:ph type="ftr" sz="quarter" idx="11"/>
          </p:nvPr>
        </p:nvSpPr>
        <p:spPr/>
        <p:txBody>
          <a:bodyPr/>
          <a:lstStyle/>
          <a:p>
            <a:r>
              <a:rPr lang="en-US" dirty="0" err="1"/>
              <a:t>SilentVault</a:t>
            </a:r>
            <a:r>
              <a:rPr lang="en-US" dirty="0"/>
              <a:t> – A Password Based Zero Knowledge File Server</a:t>
            </a:r>
          </a:p>
        </p:txBody>
      </p:sp>
      <p:sp>
        <p:nvSpPr>
          <p:cNvPr id="13" name="Slide Number Placeholder 12">
            <a:extLst>
              <a:ext uri="{FF2B5EF4-FFF2-40B4-BE49-F238E27FC236}">
                <a16:creationId xmlns:a16="http://schemas.microsoft.com/office/drawing/2014/main" id="{079EB77D-B057-2199-69C3-AF1A77795A76}"/>
              </a:ext>
            </a:extLst>
          </p:cNvPr>
          <p:cNvSpPr>
            <a:spLocks noGrp="1"/>
          </p:cNvSpPr>
          <p:nvPr>
            <p:ph type="sldNum" sz="quarter" idx="12"/>
          </p:nvPr>
        </p:nvSpPr>
        <p:spPr/>
        <p:txBody>
          <a:bodyPr/>
          <a:lstStyle/>
          <a:p>
            <a:fld id="{5BFCF61C-3B18-4C03-8326-CC3B32D710C9}" type="slidenum">
              <a:rPr lang="en-US" smtClean="0"/>
              <a:pPr/>
              <a:t>8</a:t>
            </a:fld>
            <a:endParaRPr lang="en-US"/>
          </a:p>
        </p:txBody>
      </p:sp>
      <p:pic>
        <p:nvPicPr>
          <p:cNvPr id="4" name="Picture 3">
            <a:extLst>
              <a:ext uri="{FF2B5EF4-FFF2-40B4-BE49-F238E27FC236}">
                <a16:creationId xmlns:a16="http://schemas.microsoft.com/office/drawing/2014/main" id="{48677790-6BB0-C2DE-90E2-EB9ED73005C7}"/>
              </a:ext>
            </a:extLst>
          </p:cNvPr>
          <p:cNvPicPr>
            <a:picLocks noChangeAspect="1"/>
          </p:cNvPicPr>
          <p:nvPr/>
        </p:nvPicPr>
        <p:blipFill>
          <a:blip r:embed="rId3"/>
          <a:stretch>
            <a:fillRect/>
          </a:stretch>
        </p:blipFill>
        <p:spPr>
          <a:xfrm>
            <a:off x="2240280" y="-8686"/>
            <a:ext cx="942588" cy="982416"/>
          </a:xfrm>
          <a:prstGeom prst="rect">
            <a:avLst/>
          </a:prstGeom>
        </p:spPr>
      </p:pic>
      <p:pic>
        <p:nvPicPr>
          <p:cNvPr id="7" name="Picture 6">
            <a:extLst>
              <a:ext uri="{FF2B5EF4-FFF2-40B4-BE49-F238E27FC236}">
                <a16:creationId xmlns:a16="http://schemas.microsoft.com/office/drawing/2014/main" id="{19F340CF-7AF9-4272-B7B5-11D18DD56375}"/>
              </a:ext>
            </a:extLst>
          </p:cNvPr>
          <p:cNvPicPr>
            <a:picLocks noChangeAspect="1"/>
          </p:cNvPicPr>
          <p:nvPr/>
        </p:nvPicPr>
        <p:blipFill>
          <a:blip r:embed="rId4"/>
          <a:stretch>
            <a:fillRect/>
          </a:stretch>
        </p:blipFill>
        <p:spPr>
          <a:xfrm>
            <a:off x="3111358" y="7115"/>
            <a:ext cx="1137914" cy="1137914"/>
          </a:xfrm>
          <a:prstGeom prst="rect">
            <a:avLst/>
          </a:prstGeom>
        </p:spPr>
      </p:pic>
      <p:graphicFrame>
        <p:nvGraphicFramePr>
          <p:cNvPr id="3" name="Table 2">
            <a:extLst>
              <a:ext uri="{FF2B5EF4-FFF2-40B4-BE49-F238E27FC236}">
                <a16:creationId xmlns:a16="http://schemas.microsoft.com/office/drawing/2014/main" id="{41D06C2E-214C-D1FD-5061-5F8D70F175A7}"/>
              </a:ext>
            </a:extLst>
          </p:cNvPr>
          <p:cNvGraphicFramePr>
            <a:graphicFrameLocks noGrp="1"/>
          </p:cNvGraphicFramePr>
          <p:nvPr>
            <p:extLst>
              <p:ext uri="{D42A27DB-BD31-4B8C-83A1-F6EECF244321}">
                <p14:modId xmlns:p14="http://schemas.microsoft.com/office/powerpoint/2010/main" val="452134802"/>
              </p:ext>
            </p:extLst>
          </p:nvPr>
        </p:nvGraphicFramePr>
        <p:xfrm>
          <a:off x="2143369" y="2277817"/>
          <a:ext cx="8127999" cy="3708400"/>
        </p:xfrm>
        <a:graphic>
          <a:graphicData uri="http://schemas.openxmlformats.org/drawingml/2006/table">
            <a:tbl>
              <a:tblPr firstRow="1" bandRow="1">
                <a:tableStyleId>{7DF18680-E054-41AD-8BC1-D1AEF772440D}</a:tableStyleId>
              </a:tblPr>
              <a:tblGrid>
                <a:gridCol w="2709333">
                  <a:extLst>
                    <a:ext uri="{9D8B030D-6E8A-4147-A177-3AD203B41FA5}">
                      <a16:colId xmlns:a16="http://schemas.microsoft.com/office/drawing/2014/main" val="1859737265"/>
                    </a:ext>
                  </a:extLst>
                </a:gridCol>
                <a:gridCol w="2709333">
                  <a:extLst>
                    <a:ext uri="{9D8B030D-6E8A-4147-A177-3AD203B41FA5}">
                      <a16:colId xmlns:a16="http://schemas.microsoft.com/office/drawing/2014/main" val="726086680"/>
                    </a:ext>
                  </a:extLst>
                </a:gridCol>
                <a:gridCol w="2709333">
                  <a:extLst>
                    <a:ext uri="{9D8B030D-6E8A-4147-A177-3AD203B41FA5}">
                      <a16:colId xmlns:a16="http://schemas.microsoft.com/office/drawing/2014/main" val="788836554"/>
                    </a:ext>
                  </a:extLst>
                </a:gridCol>
              </a:tblGrid>
              <a:tr h="370840">
                <a:tc>
                  <a:txBody>
                    <a:bodyPr/>
                    <a:lstStyle/>
                    <a:p>
                      <a:pPr algn="ctr"/>
                      <a:r>
                        <a:rPr lang="en-US" dirty="0">
                          <a:solidFill>
                            <a:schemeClr val="tx1">
                              <a:lumMod val="65000"/>
                              <a:lumOff val="35000"/>
                            </a:schemeClr>
                          </a:solidFill>
                        </a:rPr>
                        <a:t>Property</a:t>
                      </a:r>
                    </a:p>
                  </a:txBody>
                  <a:tcPr/>
                </a:tc>
                <a:tc>
                  <a:txBody>
                    <a:bodyPr/>
                    <a:lstStyle/>
                    <a:p>
                      <a:pPr algn="ctr"/>
                      <a:r>
                        <a:rPr lang="en-US" dirty="0">
                          <a:solidFill>
                            <a:schemeClr val="tx1">
                              <a:lumMod val="65000"/>
                              <a:lumOff val="35000"/>
                            </a:schemeClr>
                          </a:solidFill>
                        </a:rPr>
                        <a:t>Classical Auth</a:t>
                      </a:r>
                    </a:p>
                  </a:txBody>
                  <a:tcPr/>
                </a:tc>
                <a:tc>
                  <a:txBody>
                    <a:bodyPr/>
                    <a:lstStyle/>
                    <a:p>
                      <a:pPr algn="ctr"/>
                      <a:r>
                        <a:rPr lang="en-US" dirty="0">
                          <a:solidFill>
                            <a:schemeClr val="tx1">
                              <a:lumMod val="65000"/>
                              <a:lumOff val="35000"/>
                            </a:schemeClr>
                          </a:solidFill>
                        </a:rPr>
                        <a:t>Zero Knowledge</a:t>
                      </a:r>
                    </a:p>
                  </a:txBody>
                  <a:tcPr/>
                </a:tc>
                <a:extLst>
                  <a:ext uri="{0D108BD9-81ED-4DB2-BD59-A6C34878D82A}">
                    <a16:rowId xmlns:a16="http://schemas.microsoft.com/office/drawing/2014/main" val="1636253395"/>
                  </a:ext>
                </a:extLst>
              </a:tr>
              <a:tr h="370840">
                <a:tc>
                  <a:txBody>
                    <a:bodyPr/>
                    <a:lstStyle/>
                    <a:p>
                      <a:pPr algn="ctr"/>
                      <a:r>
                        <a:rPr lang="en-US" dirty="0">
                          <a:solidFill>
                            <a:schemeClr val="tx1">
                              <a:lumMod val="65000"/>
                              <a:lumOff val="35000"/>
                            </a:schemeClr>
                          </a:solidFill>
                        </a:rPr>
                        <a:t>Password Exposure</a:t>
                      </a:r>
                    </a:p>
                  </a:txBody>
                  <a:tcPr/>
                </a:tc>
                <a:tc>
                  <a:txBody>
                    <a:bodyPr/>
                    <a:lstStyle/>
                    <a:p>
                      <a:pPr algn="ctr"/>
                      <a:r>
                        <a:rPr lang="en-US" dirty="0">
                          <a:solidFill>
                            <a:schemeClr val="tx1">
                              <a:lumMod val="65000"/>
                              <a:lumOff val="35000"/>
                            </a:schemeClr>
                          </a:solidFill>
                        </a:rPr>
                        <a:t>Indirect</a:t>
                      </a:r>
                    </a:p>
                  </a:txBody>
                  <a:tcPr/>
                </a:tc>
                <a:tc>
                  <a:txBody>
                    <a:bodyPr/>
                    <a:lstStyle/>
                    <a:p>
                      <a:pPr algn="ctr"/>
                      <a:r>
                        <a:rPr lang="en-US" dirty="0">
                          <a:solidFill>
                            <a:schemeClr val="tx1">
                              <a:lumMod val="65000"/>
                              <a:lumOff val="35000"/>
                            </a:schemeClr>
                          </a:solidFill>
                        </a:rPr>
                        <a:t>None</a:t>
                      </a:r>
                    </a:p>
                  </a:txBody>
                  <a:tcPr/>
                </a:tc>
                <a:extLst>
                  <a:ext uri="{0D108BD9-81ED-4DB2-BD59-A6C34878D82A}">
                    <a16:rowId xmlns:a16="http://schemas.microsoft.com/office/drawing/2014/main" val="4007384946"/>
                  </a:ext>
                </a:extLst>
              </a:tr>
              <a:tr h="370840">
                <a:tc>
                  <a:txBody>
                    <a:bodyPr/>
                    <a:lstStyle/>
                    <a:p>
                      <a:pPr algn="ctr"/>
                      <a:r>
                        <a:rPr lang="en-US" dirty="0">
                          <a:solidFill>
                            <a:schemeClr val="tx1">
                              <a:lumMod val="65000"/>
                              <a:lumOff val="35000"/>
                            </a:schemeClr>
                          </a:solidFill>
                        </a:rPr>
                        <a:t>Reusable Verifier</a:t>
                      </a:r>
                    </a:p>
                  </a:txBody>
                  <a:tcPr/>
                </a:tc>
                <a:tc>
                  <a:txBody>
                    <a:bodyPr/>
                    <a:lstStyle/>
                    <a:p>
                      <a:pPr algn="ctr"/>
                      <a:r>
                        <a:rPr lang="en-US" dirty="0">
                          <a:solidFill>
                            <a:schemeClr val="tx1">
                              <a:lumMod val="65000"/>
                              <a:lumOff val="35000"/>
                            </a:schemeClr>
                          </a:solidFill>
                        </a:rPr>
                        <a:t>Yes</a:t>
                      </a:r>
                    </a:p>
                  </a:txBody>
                  <a:tcPr/>
                </a:tc>
                <a:tc>
                  <a:txBody>
                    <a:bodyPr/>
                    <a:lstStyle/>
                    <a:p>
                      <a:pPr algn="ctr"/>
                      <a:r>
                        <a:rPr lang="en-US" dirty="0">
                          <a:solidFill>
                            <a:schemeClr val="tx1">
                              <a:lumMod val="65000"/>
                              <a:lumOff val="35000"/>
                            </a:schemeClr>
                          </a:solidFill>
                        </a:rPr>
                        <a:t>No</a:t>
                      </a:r>
                    </a:p>
                  </a:txBody>
                  <a:tcPr/>
                </a:tc>
                <a:extLst>
                  <a:ext uri="{0D108BD9-81ED-4DB2-BD59-A6C34878D82A}">
                    <a16:rowId xmlns:a16="http://schemas.microsoft.com/office/drawing/2014/main" val="2967508438"/>
                  </a:ext>
                </a:extLst>
              </a:tr>
              <a:tr h="370840">
                <a:tc>
                  <a:txBody>
                    <a:bodyPr/>
                    <a:lstStyle/>
                    <a:p>
                      <a:pPr algn="ctr"/>
                      <a:r>
                        <a:rPr lang="en-US" dirty="0">
                          <a:solidFill>
                            <a:schemeClr val="tx1">
                              <a:lumMod val="65000"/>
                              <a:lumOff val="35000"/>
                            </a:schemeClr>
                          </a:solidFill>
                        </a:rPr>
                        <a:t>Offline Attack</a:t>
                      </a:r>
                    </a:p>
                  </a:txBody>
                  <a:tcPr/>
                </a:tc>
                <a:tc>
                  <a:txBody>
                    <a:bodyPr/>
                    <a:lstStyle/>
                    <a:p>
                      <a:pPr algn="ctr"/>
                      <a:r>
                        <a:rPr lang="en-US" dirty="0">
                          <a:solidFill>
                            <a:schemeClr val="tx1">
                              <a:lumMod val="65000"/>
                              <a:lumOff val="35000"/>
                            </a:schemeClr>
                          </a:solidFill>
                        </a:rPr>
                        <a:t>Yes</a:t>
                      </a:r>
                    </a:p>
                  </a:txBody>
                  <a:tcPr/>
                </a:tc>
                <a:tc>
                  <a:txBody>
                    <a:bodyPr/>
                    <a:lstStyle/>
                    <a:p>
                      <a:pPr algn="ctr"/>
                      <a:r>
                        <a:rPr lang="en-US" dirty="0">
                          <a:solidFill>
                            <a:schemeClr val="tx1">
                              <a:lumMod val="65000"/>
                              <a:lumOff val="35000"/>
                            </a:schemeClr>
                          </a:solidFill>
                        </a:rPr>
                        <a:t>No</a:t>
                      </a:r>
                    </a:p>
                  </a:txBody>
                  <a:tcPr/>
                </a:tc>
                <a:extLst>
                  <a:ext uri="{0D108BD9-81ED-4DB2-BD59-A6C34878D82A}">
                    <a16:rowId xmlns:a16="http://schemas.microsoft.com/office/drawing/2014/main" val="1828901842"/>
                  </a:ext>
                </a:extLst>
              </a:tr>
              <a:tr h="370840">
                <a:tc>
                  <a:txBody>
                    <a:bodyPr/>
                    <a:lstStyle/>
                    <a:p>
                      <a:pPr algn="ctr"/>
                      <a:r>
                        <a:rPr lang="en-US" dirty="0">
                          <a:solidFill>
                            <a:schemeClr val="tx1">
                              <a:lumMod val="65000"/>
                              <a:lumOff val="35000"/>
                            </a:schemeClr>
                          </a:solidFill>
                        </a:rPr>
                        <a:t>Replay Attack</a:t>
                      </a:r>
                    </a:p>
                  </a:txBody>
                  <a:tcPr/>
                </a:tc>
                <a:tc>
                  <a:txBody>
                    <a:bodyPr/>
                    <a:lstStyle/>
                    <a:p>
                      <a:pPr algn="ctr"/>
                      <a:r>
                        <a:rPr lang="en-US" dirty="0">
                          <a:solidFill>
                            <a:schemeClr val="tx1">
                              <a:lumMod val="65000"/>
                              <a:lumOff val="35000"/>
                            </a:schemeClr>
                          </a:solidFill>
                        </a:rPr>
                        <a:t>Possible</a:t>
                      </a:r>
                    </a:p>
                  </a:txBody>
                  <a:tcPr/>
                </a:tc>
                <a:tc>
                  <a:txBody>
                    <a:bodyPr/>
                    <a:lstStyle/>
                    <a:p>
                      <a:pPr algn="ctr"/>
                      <a:r>
                        <a:rPr lang="en-US" dirty="0">
                          <a:solidFill>
                            <a:schemeClr val="tx1">
                              <a:lumMod val="65000"/>
                              <a:lumOff val="35000"/>
                            </a:schemeClr>
                          </a:solidFill>
                        </a:rPr>
                        <a:t>Impossible</a:t>
                      </a:r>
                    </a:p>
                  </a:txBody>
                  <a:tcPr/>
                </a:tc>
                <a:extLst>
                  <a:ext uri="{0D108BD9-81ED-4DB2-BD59-A6C34878D82A}">
                    <a16:rowId xmlns:a16="http://schemas.microsoft.com/office/drawing/2014/main" val="395451704"/>
                  </a:ext>
                </a:extLst>
              </a:tr>
              <a:tr h="370840">
                <a:tc>
                  <a:txBody>
                    <a:bodyPr/>
                    <a:lstStyle/>
                    <a:p>
                      <a:pPr algn="ctr"/>
                      <a:r>
                        <a:rPr lang="en-US" dirty="0">
                          <a:solidFill>
                            <a:schemeClr val="tx1">
                              <a:lumMod val="65000"/>
                              <a:lumOff val="35000"/>
                            </a:schemeClr>
                          </a:solidFill>
                        </a:rPr>
                        <a:t>Server Compromise</a:t>
                      </a:r>
                    </a:p>
                  </a:txBody>
                  <a:tcPr/>
                </a:tc>
                <a:tc>
                  <a:txBody>
                    <a:bodyPr/>
                    <a:lstStyle/>
                    <a:p>
                      <a:pPr algn="ctr"/>
                      <a:r>
                        <a:rPr lang="en-US" dirty="0">
                          <a:solidFill>
                            <a:schemeClr val="tx1">
                              <a:lumMod val="65000"/>
                              <a:lumOff val="35000"/>
                            </a:schemeClr>
                          </a:solidFill>
                        </a:rPr>
                        <a:t>Critical</a:t>
                      </a:r>
                    </a:p>
                  </a:txBody>
                  <a:tcPr/>
                </a:tc>
                <a:tc>
                  <a:txBody>
                    <a:bodyPr/>
                    <a:lstStyle/>
                    <a:p>
                      <a:pPr algn="ctr"/>
                      <a:r>
                        <a:rPr lang="en-US" dirty="0">
                          <a:solidFill>
                            <a:schemeClr val="tx1">
                              <a:lumMod val="65000"/>
                              <a:lumOff val="35000"/>
                            </a:schemeClr>
                          </a:solidFill>
                        </a:rPr>
                        <a:t>Limited</a:t>
                      </a:r>
                    </a:p>
                  </a:txBody>
                  <a:tcPr/>
                </a:tc>
                <a:extLst>
                  <a:ext uri="{0D108BD9-81ED-4DB2-BD59-A6C34878D82A}">
                    <a16:rowId xmlns:a16="http://schemas.microsoft.com/office/drawing/2014/main" val="654753339"/>
                  </a:ext>
                </a:extLst>
              </a:tr>
              <a:tr h="370840">
                <a:tc>
                  <a:txBody>
                    <a:bodyPr/>
                    <a:lstStyle/>
                    <a:p>
                      <a:pPr algn="ctr"/>
                      <a:r>
                        <a:rPr lang="en-US" dirty="0">
                          <a:solidFill>
                            <a:schemeClr val="tx1">
                              <a:lumMod val="65000"/>
                              <a:lumOff val="35000"/>
                            </a:schemeClr>
                          </a:solidFill>
                        </a:rPr>
                        <a:t>TLS Dependency</a:t>
                      </a:r>
                    </a:p>
                  </a:txBody>
                  <a:tcPr/>
                </a:tc>
                <a:tc>
                  <a:txBody>
                    <a:bodyPr/>
                    <a:lstStyle/>
                    <a:p>
                      <a:pPr algn="ctr"/>
                      <a:r>
                        <a:rPr lang="en-US" dirty="0">
                          <a:solidFill>
                            <a:schemeClr val="tx1">
                              <a:lumMod val="65000"/>
                              <a:lumOff val="35000"/>
                            </a:schemeClr>
                          </a:solidFill>
                        </a:rPr>
                        <a:t>Yes</a:t>
                      </a:r>
                    </a:p>
                  </a:txBody>
                  <a:tcPr/>
                </a:tc>
                <a:tc>
                  <a:txBody>
                    <a:bodyPr/>
                    <a:lstStyle/>
                    <a:p>
                      <a:pPr algn="ctr"/>
                      <a:r>
                        <a:rPr lang="en-US" dirty="0">
                          <a:solidFill>
                            <a:schemeClr val="tx1">
                              <a:lumMod val="65000"/>
                              <a:lumOff val="35000"/>
                            </a:schemeClr>
                          </a:solidFill>
                        </a:rPr>
                        <a:t>No</a:t>
                      </a:r>
                    </a:p>
                  </a:txBody>
                  <a:tcPr/>
                </a:tc>
                <a:extLst>
                  <a:ext uri="{0D108BD9-81ED-4DB2-BD59-A6C34878D82A}">
                    <a16:rowId xmlns:a16="http://schemas.microsoft.com/office/drawing/2014/main" val="2971546771"/>
                  </a:ext>
                </a:extLst>
              </a:tr>
              <a:tr h="370840">
                <a:tc>
                  <a:txBody>
                    <a:bodyPr/>
                    <a:lstStyle/>
                    <a:p>
                      <a:pPr algn="ctr"/>
                      <a:r>
                        <a:rPr lang="en-US" dirty="0">
                          <a:solidFill>
                            <a:schemeClr val="tx1">
                              <a:lumMod val="65000"/>
                              <a:lumOff val="35000"/>
                            </a:schemeClr>
                          </a:solidFill>
                        </a:rPr>
                        <a:t>Complexity</a:t>
                      </a:r>
                    </a:p>
                  </a:txBody>
                  <a:tcPr/>
                </a:tc>
                <a:tc>
                  <a:txBody>
                    <a:bodyPr/>
                    <a:lstStyle/>
                    <a:p>
                      <a:pPr algn="ctr"/>
                      <a:r>
                        <a:rPr lang="en-US" dirty="0">
                          <a:solidFill>
                            <a:schemeClr val="tx1">
                              <a:lumMod val="65000"/>
                              <a:lumOff val="35000"/>
                            </a:schemeClr>
                          </a:solidFill>
                        </a:rPr>
                        <a:t>Low</a:t>
                      </a:r>
                    </a:p>
                  </a:txBody>
                  <a:tcPr/>
                </a:tc>
                <a:tc>
                  <a:txBody>
                    <a:bodyPr/>
                    <a:lstStyle/>
                    <a:p>
                      <a:pPr algn="ctr"/>
                      <a:r>
                        <a:rPr lang="en-US" dirty="0">
                          <a:solidFill>
                            <a:schemeClr val="tx1">
                              <a:lumMod val="65000"/>
                              <a:lumOff val="35000"/>
                            </a:schemeClr>
                          </a:solidFill>
                        </a:rPr>
                        <a:t>High</a:t>
                      </a:r>
                    </a:p>
                  </a:txBody>
                  <a:tcPr/>
                </a:tc>
                <a:extLst>
                  <a:ext uri="{0D108BD9-81ED-4DB2-BD59-A6C34878D82A}">
                    <a16:rowId xmlns:a16="http://schemas.microsoft.com/office/drawing/2014/main" val="425510132"/>
                  </a:ext>
                </a:extLst>
              </a:tr>
              <a:tr h="370840">
                <a:tc>
                  <a:txBody>
                    <a:bodyPr/>
                    <a:lstStyle/>
                    <a:p>
                      <a:pPr algn="ctr"/>
                      <a:r>
                        <a:rPr lang="en-US" dirty="0">
                          <a:solidFill>
                            <a:schemeClr val="tx1">
                              <a:lumMod val="65000"/>
                              <a:lumOff val="35000"/>
                            </a:schemeClr>
                          </a:solidFill>
                        </a:rPr>
                        <a:t>Message Count</a:t>
                      </a:r>
                    </a:p>
                  </a:txBody>
                  <a:tcPr/>
                </a:tc>
                <a:tc>
                  <a:txBody>
                    <a:bodyPr/>
                    <a:lstStyle/>
                    <a:p>
                      <a:pPr algn="ctr"/>
                      <a:r>
                        <a:rPr lang="en-US" dirty="0">
                          <a:solidFill>
                            <a:schemeClr val="tx1">
                              <a:lumMod val="65000"/>
                              <a:lumOff val="35000"/>
                            </a:schemeClr>
                          </a:solidFill>
                        </a:rPr>
                        <a:t>Low</a:t>
                      </a:r>
                    </a:p>
                  </a:txBody>
                  <a:tcPr/>
                </a:tc>
                <a:tc>
                  <a:txBody>
                    <a:bodyPr/>
                    <a:lstStyle/>
                    <a:p>
                      <a:pPr algn="ctr"/>
                      <a:r>
                        <a:rPr lang="en-US" dirty="0">
                          <a:solidFill>
                            <a:schemeClr val="tx1">
                              <a:lumMod val="65000"/>
                              <a:lumOff val="35000"/>
                            </a:schemeClr>
                          </a:solidFill>
                        </a:rPr>
                        <a:t>High (interactive)</a:t>
                      </a:r>
                    </a:p>
                  </a:txBody>
                  <a:tcPr/>
                </a:tc>
                <a:extLst>
                  <a:ext uri="{0D108BD9-81ED-4DB2-BD59-A6C34878D82A}">
                    <a16:rowId xmlns:a16="http://schemas.microsoft.com/office/drawing/2014/main" val="720460173"/>
                  </a:ext>
                </a:extLst>
              </a:tr>
              <a:tr h="370840">
                <a:tc>
                  <a:txBody>
                    <a:bodyPr/>
                    <a:lstStyle/>
                    <a:p>
                      <a:pPr algn="ctr"/>
                      <a:r>
                        <a:rPr lang="en-US" dirty="0">
                          <a:solidFill>
                            <a:schemeClr val="tx1">
                              <a:lumMod val="65000"/>
                              <a:lumOff val="35000"/>
                            </a:schemeClr>
                          </a:solidFill>
                        </a:rPr>
                        <a:t>Computational Cost</a:t>
                      </a:r>
                    </a:p>
                  </a:txBody>
                  <a:tcPr/>
                </a:tc>
                <a:tc>
                  <a:txBody>
                    <a:bodyPr/>
                    <a:lstStyle/>
                    <a:p>
                      <a:pPr algn="ctr"/>
                      <a:r>
                        <a:rPr lang="en-US" dirty="0">
                          <a:solidFill>
                            <a:schemeClr val="tx1">
                              <a:lumMod val="65000"/>
                              <a:lumOff val="35000"/>
                            </a:schemeClr>
                          </a:solidFill>
                        </a:rPr>
                        <a:t>Low</a:t>
                      </a:r>
                    </a:p>
                  </a:txBody>
                  <a:tcPr/>
                </a:tc>
                <a:tc>
                  <a:txBody>
                    <a:bodyPr/>
                    <a:lstStyle/>
                    <a:p>
                      <a:pPr algn="ctr"/>
                      <a:r>
                        <a:rPr lang="en-US" dirty="0">
                          <a:solidFill>
                            <a:schemeClr val="tx1">
                              <a:lumMod val="65000"/>
                              <a:lumOff val="35000"/>
                            </a:schemeClr>
                          </a:solidFill>
                        </a:rPr>
                        <a:t>High</a:t>
                      </a:r>
                    </a:p>
                  </a:txBody>
                  <a:tcPr/>
                </a:tc>
                <a:extLst>
                  <a:ext uri="{0D108BD9-81ED-4DB2-BD59-A6C34878D82A}">
                    <a16:rowId xmlns:a16="http://schemas.microsoft.com/office/drawing/2014/main" val="741395490"/>
                  </a:ext>
                </a:extLst>
              </a:tr>
            </a:tbl>
          </a:graphicData>
        </a:graphic>
      </p:graphicFrame>
    </p:spTree>
    <p:extLst>
      <p:ext uri="{BB962C8B-B14F-4D97-AF65-F5344CB8AC3E}">
        <p14:creationId xmlns:p14="http://schemas.microsoft.com/office/powerpoint/2010/main" val="35629912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393CE-9363-72CB-FD40-73A65C0DCC57}"/>
              </a:ext>
            </a:extLst>
          </p:cNvPr>
          <p:cNvSpPr>
            <a:spLocks noGrp="1"/>
          </p:cNvSpPr>
          <p:nvPr>
            <p:ph type="title"/>
          </p:nvPr>
        </p:nvSpPr>
        <p:spPr>
          <a:xfrm>
            <a:off x="87923" y="1252728"/>
            <a:ext cx="5794131" cy="1682749"/>
          </a:xfrm>
        </p:spPr>
        <p:txBody>
          <a:bodyPr/>
          <a:lstStyle/>
          <a:p>
            <a:r>
              <a:rPr lang="en-US" dirty="0"/>
              <a:t>4. The math behind</a:t>
            </a:r>
          </a:p>
        </p:txBody>
      </p:sp>
      <p:sp>
        <p:nvSpPr>
          <p:cNvPr id="12" name="Footer Placeholder 11">
            <a:extLst>
              <a:ext uri="{FF2B5EF4-FFF2-40B4-BE49-F238E27FC236}">
                <a16:creationId xmlns:a16="http://schemas.microsoft.com/office/drawing/2014/main" id="{0D74F0DD-9277-50B0-68E1-220BA8344883}"/>
              </a:ext>
            </a:extLst>
          </p:cNvPr>
          <p:cNvSpPr>
            <a:spLocks noGrp="1"/>
          </p:cNvSpPr>
          <p:nvPr>
            <p:ph type="ftr" sz="quarter" idx="11"/>
          </p:nvPr>
        </p:nvSpPr>
        <p:spPr/>
        <p:txBody>
          <a:bodyPr/>
          <a:lstStyle/>
          <a:p>
            <a:r>
              <a:rPr lang="en-US" dirty="0" err="1"/>
              <a:t>SilentVault</a:t>
            </a:r>
            <a:r>
              <a:rPr lang="en-US" dirty="0"/>
              <a:t> – A Password Based Zero Knowledge File Server</a:t>
            </a:r>
          </a:p>
        </p:txBody>
      </p:sp>
      <p:sp>
        <p:nvSpPr>
          <p:cNvPr id="13" name="Slide Number Placeholder 12">
            <a:extLst>
              <a:ext uri="{FF2B5EF4-FFF2-40B4-BE49-F238E27FC236}">
                <a16:creationId xmlns:a16="http://schemas.microsoft.com/office/drawing/2014/main" id="{CB0BAE21-4E4A-BE6E-EE84-D535446B94CD}"/>
              </a:ext>
            </a:extLst>
          </p:cNvPr>
          <p:cNvSpPr>
            <a:spLocks noGrp="1"/>
          </p:cNvSpPr>
          <p:nvPr>
            <p:ph type="sldNum" sz="quarter" idx="12"/>
          </p:nvPr>
        </p:nvSpPr>
        <p:spPr/>
        <p:txBody>
          <a:bodyPr/>
          <a:lstStyle/>
          <a:p>
            <a:fld id="{5BFCF61C-3B18-4C03-8326-CC3B32D710C9}" type="slidenum">
              <a:rPr lang="en-US" smtClean="0"/>
              <a:pPr/>
              <a:t>9</a:t>
            </a:fld>
            <a:endParaRPr lang="en-US"/>
          </a:p>
        </p:txBody>
      </p:sp>
      <p:pic>
        <p:nvPicPr>
          <p:cNvPr id="7" name="Picture 6">
            <a:extLst>
              <a:ext uri="{FF2B5EF4-FFF2-40B4-BE49-F238E27FC236}">
                <a16:creationId xmlns:a16="http://schemas.microsoft.com/office/drawing/2014/main" id="{2198D4AF-9FAB-81B3-A51B-7975EDA56060}"/>
              </a:ext>
            </a:extLst>
          </p:cNvPr>
          <p:cNvPicPr>
            <a:picLocks noChangeAspect="1"/>
          </p:cNvPicPr>
          <p:nvPr/>
        </p:nvPicPr>
        <p:blipFill>
          <a:blip r:embed="rId2"/>
          <a:stretch>
            <a:fillRect/>
          </a:stretch>
        </p:blipFill>
        <p:spPr>
          <a:xfrm>
            <a:off x="2240280" y="-8686"/>
            <a:ext cx="942588" cy="982416"/>
          </a:xfrm>
          <a:prstGeom prst="rect">
            <a:avLst/>
          </a:prstGeom>
        </p:spPr>
      </p:pic>
      <p:pic>
        <p:nvPicPr>
          <p:cNvPr id="8" name="Picture 7">
            <a:extLst>
              <a:ext uri="{FF2B5EF4-FFF2-40B4-BE49-F238E27FC236}">
                <a16:creationId xmlns:a16="http://schemas.microsoft.com/office/drawing/2014/main" id="{AFE155B2-1CB3-5084-B458-71948308B21A}"/>
              </a:ext>
            </a:extLst>
          </p:cNvPr>
          <p:cNvPicPr>
            <a:picLocks noChangeAspect="1"/>
          </p:cNvPicPr>
          <p:nvPr/>
        </p:nvPicPr>
        <p:blipFill>
          <a:blip r:embed="rId3"/>
          <a:stretch>
            <a:fillRect/>
          </a:stretch>
        </p:blipFill>
        <p:spPr>
          <a:xfrm>
            <a:off x="3111358" y="7115"/>
            <a:ext cx="1137914" cy="1137914"/>
          </a:xfrm>
          <a:prstGeom prst="rect">
            <a:avLst/>
          </a:prstGeom>
        </p:spPr>
      </p:pic>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4366C4AE-C56E-60E1-FC6C-B49326438CFA}"/>
                  </a:ext>
                </a:extLst>
              </p:cNvPr>
              <p:cNvSpPr txBox="1"/>
              <p:nvPr/>
            </p:nvSpPr>
            <p:spPr>
              <a:xfrm>
                <a:off x="4249272" y="560340"/>
                <a:ext cx="7315200" cy="2375137"/>
              </a:xfrm>
              <a:prstGeom prst="rect">
                <a:avLst/>
              </a:prstGeom>
              <a:noFill/>
            </p:spPr>
            <p:txBody>
              <a:bodyPr wrap="square" rtlCol="0">
                <a:spAutoFit/>
              </a:bodyPr>
              <a:lstStyle/>
              <a:p>
                <a:pPr marL="285750" indent="-285750"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The Implemented ZKP is derived from Schnorr’s identification and is implemented over a cryptographic group of elliptic curves.</a:t>
                </a:r>
              </a:p>
              <a:p>
                <a:pPr marL="285750" indent="-285750"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An element </a:t>
                </a:r>
                <a14:m>
                  <m:oMath xmlns:m="http://schemas.openxmlformats.org/officeDocument/2006/math">
                    <m:r>
                      <a:rPr lang="en-US" b="0" i="1" smtClean="0">
                        <a:latin typeface="Cambria Math" panose="02040503050406030204" pitchFamily="18" charset="0"/>
                        <a:cs typeface="Times New Roman" panose="02020603050405020304" pitchFamily="18" charset="0"/>
                      </a:rPr>
                      <m:t>𝑔</m:t>
                    </m:r>
                  </m:oMath>
                </a14:m>
                <a:r>
                  <a:rPr lang="en-US" dirty="0">
                    <a:latin typeface="Times New Roman" panose="02020603050405020304" pitchFamily="18" charset="0"/>
                    <a:cs typeface="Times New Roman" panose="02020603050405020304" pitchFamily="18" charset="0"/>
                  </a:rPr>
                  <a:t> is used to generate a cyclic group </a:t>
                </a:r>
                <a14:m>
                  <m:oMath xmlns:m="http://schemas.openxmlformats.org/officeDocument/2006/math">
                    <m:r>
                      <a:rPr lang="en-US" b="0" i="1" smtClean="0">
                        <a:latin typeface="Cambria Math" panose="02040503050406030204" pitchFamily="18" charset="0"/>
                        <a:cs typeface="Times New Roman" panose="02020603050405020304" pitchFamily="18" charset="0"/>
                      </a:rPr>
                      <m:t>𝐺</m:t>
                    </m:r>
                  </m:oMath>
                </a14:m>
                <a:r>
                  <a:rPr lang="en-US" dirty="0">
                    <a:latin typeface="Times New Roman" panose="02020603050405020304" pitchFamily="18" charset="0"/>
                    <a:cs typeface="Times New Roman" panose="02020603050405020304" pitchFamily="18" charset="0"/>
                  </a:rPr>
                  <a:t> of prime order </a:t>
                </a:r>
                <a14:m>
                  <m:oMath xmlns:m="http://schemas.openxmlformats.org/officeDocument/2006/math">
                    <m:r>
                      <a:rPr lang="en-US" b="0" i="1" smtClean="0">
                        <a:latin typeface="Cambria Math" panose="02040503050406030204" pitchFamily="18" charset="0"/>
                        <a:cs typeface="Times New Roman" panose="02020603050405020304" pitchFamily="18" charset="0"/>
                      </a:rPr>
                      <m:t>𝑞</m:t>
                    </m:r>
                  </m:oMath>
                </a14:m>
                <a:r>
                  <a:rPr lang="en-US" dirty="0">
                    <a:latin typeface="Times New Roman" panose="02020603050405020304" pitchFamily="18" charset="0"/>
                    <a:cs typeface="Times New Roman" panose="02020603050405020304" pitchFamily="18" charset="0"/>
                  </a:rPr>
                  <a:t>. In reality, </a:t>
                </a:r>
                <a14:m>
                  <m:oMath xmlns:m="http://schemas.openxmlformats.org/officeDocument/2006/math">
                    <m:r>
                      <a:rPr lang="en-US" b="0" i="1" smtClean="0">
                        <a:latin typeface="Cambria Math" panose="02040503050406030204" pitchFamily="18" charset="0"/>
                        <a:cs typeface="Times New Roman" panose="02020603050405020304" pitchFamily="18" charset="0"/>
                      </a:rPr>
                      <m:t>𝐺</m:t>
                    </m:r>
                  </m:oMath>
                </a14:m>
                <a:r>
                  <a:rPr lang="en-US" dirty="0">
                    <a:latin typeface="Times New Roman" panose="02020603050405020304" pitchFamily="18" charset="0"/>
                    <a:cs typeface="Times New Roman" panose="02020603050405020304" pitchFamily="18" charset="0"/>
                  </a:rPr>
                  <a:t> is instantiated using the NIST standardized P-256 curve.</a:t>
                </a:r>
              </a:p>
              <a:p>
                <a:pPr marL="285750" indent="-285750"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A user password </a:t>
                </a:r>
                <a14:m>
                  <m:oMath xmlns:m="http://schemas.openxmlformats.org/officeDocument/2006/math">
                    <m:r>
                      <a:rPr lang="en-US" b="0" i="1" smtClean="0">
                        <a:latin typeface="Cambria Math" panose="02040503050406030204" pitchFamily="18" charset="0"/>
                        <a:cs typeface="Times New Roman" panose="02020603050405020304" pitchFamily="18" charset="0"/>
                      </a:rPr>
                      <m:t>𝑃</m:t>
                    </m:r>
                  </m:oMath>
                </a14:m>
                <a:r>
                  <a:rPr lang="en-US" dirty="0">
                    <a:latin typeface="Times New Roman" panose="02020603050405020304" pitchFamily="18" charset="0"/>
                    <a:cs typeface="Times New Roman" panose="02020603050405020304" pitchFamily="18" charset="0"/>
                  </a:rPr>
                  <a:t> is transformed into a secret scalar</a:t>
                </a:r>
              </a:p>
              <a:p>
                <a:pPr algn="just"/>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cs typeface="Times New Roman" panose="02020603050405020304" pitchFamily="18" charset="0"/>
                        </a:rPr>
                        <m:t>𝑥</m:t>
                      </m:r>
                      <m:r>
                        <a:rPr lang="en-US" i="1">
                          <a:latin typeface="Cambria Math" panose="02040503050406030204" pitchFamily="18" charset="0"/>
                          <a:cs typeface="Times New Roman" panose="02020603050405020304" pitchFamily="18" charset="0"/>
                        </a:rPr>
                        <m:t>=</m:t>
                      </m:r>
                      <m:r>
                        <a:rPr lang="en-US" i="1">
                          <a:latin typeface="Cambria Math" panose="02040503050406030204" pitchFamily="18" charset="0"/>
                          <a:cs typeface="Times New Roman" panose="02020603050405020304" pitchFamily="18" charset="0"/>
                        </a:rPr>
                        <m:t>𝐾𝐷𝐹</m:t>
                      </m:r>
                      <m:d>
                        <m:dPr>
                          <m:ctrlPr>
                            <a:rPr lang="en-US" i="1">
                              <a:latin typeface="Cambria Math" panose="02040503050406030204" pitchFamily="18" charset="0"/>
                              <a:cs typeface="Times New Roman" panose="02020603050405020304" pitchFamily="18" charset="0"/>
                            </a:rPr>
                          </m:ctrlPr>
                        </m:dPr>
                        <m:e>
                          <m:r>
                            <a:rPr lang="en-US" i="1">
                              <a:latin typeface="Cambria Math" panose="02040503050406030204" pitchFamily="18" charset="0"/>
                              <a:cs typeface="Times New Roman" panose="02020603050405020304" pitchFamily="18" charset="0"/>
                            </a:rPr>
                            <m:t>𝑃</m:t>
                          </m:r>
                          <m:r>
                            <a:rPr lang="en-US" i="1">
                              <a:latin typeface="Cambria Math" panose="02040503050406030204" pitchFamily="18" charset="0"/>
                              <a:cs typeface="Times New Roman" panose="02020603050405020304" pitchFamily="18" charset="0"/>
                            </a:rPr>
                            <m:t>, </m:t>
                          </m:r>
                          <m:r>
                            <a:rPr lang="en-US" i="1">
                              <a:latin typeface="Cambria Math" panose="02040503050406030204" pitchFamily="18" charset="0"/>
                              <a:cs typeface="Times New Roman" panose="02020603050405020304" pitchFamily="18" charset="0"/>
                            </a:rPr>
                            <m:t>𝑠𝑎𝑙𝑡</m:t>
                          </m:r>
                        </m:e>
                      </m:d>
                      <m:r>
                        <a:rPr lang="en-US" i="1">
                          <a:latin typeface="Cambria Math" panose="02040503050406030204" pitchFamily="18" charset="0"/>
                          <a:cs typeface="Times New Roman" panose="02020603050405020304" pitchFamily="18" charset="0"/>
                        </a:rPr>
                        <m:t> </m:t>
                      </m:r>
                      <m:r>
                        <a:rPr lang="en-US" i="1">
                          <a:latin typeface="Cambria Math" panose="02040503050406030204" pitchFamily="18" charset="0"/>
                          <a:cs typeface="Times New Roman" panose="02020603050405020304" pitchFamily="18" charset="0"/>
                        </a:rPr>
                        <m:t>𝑚𝑜𝑑</m:t>
                      </m:r>
                      <m:r>
                        <a:rPr lang="en-US" i="1">
                          <a:latin typeface="Cambria Math" panose="02040503050406030204" pitchFamily="18" charset="0"/>
                          <a:cs typeface="Times New Roman" panose="02020603050405020304" pitchFamily="18" charset="0"/>
                        </a:rPr>
                        <m:t> </m:t>
                      </m:r>
                      <m:r>
                        <a:rPr lang="en-US" i="1">
                          <a:latin typeface="Cambria Math" panose="02040503050406030204" pitchFamily="18" charset="0"/>
                          <a:cs typeface="Times New Roman" panose="02020603050405020304" pitchFamily="18" charset="0"/>
                        </a:rPr>
                        <m:t>𝑞</m:t>
                      </m:r>
                    </m:oMath>
                  </m:oMathPara>
                </a14:m>
                <a:endParaRPr lang="en-US" dirty="0">
                  <a:latin typeface="Times New Roman" panose="02020603050405020304" pitchFamily="18" charset="0"/>
                  <a:cs typeface="Times New Roman" panose="02020603050405020304" pitchFamily="18" charset="0"/>
                </a:endParaRPr>
              </a:p>
              <a:p>
                <a:pPr marL="285750" indent="-285750"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The corresponding public value is</a:t>
                </a:r>
                <a:r>
                  <a:rPr lang="en-US" dirty="0">
                    <a:cs typeface="Times New Roman" panose="02020603050405020304" pitchFamily="18" charset="0"/>
                  </a:rPr>
                  <a:t> </a:t>
                </a:r>
                <a14:m>
                  <m:oMath xmlns:m="http://schemas.openxmlformats.org/officeDocument/2006/math">
                    <m:r>
                      <a:rPr lang="en-US" b="0" i="1" smtClean="0">
                        <a:latin typeface="Cambria Math" panose="02040503050406030204" pitchFamily="18" charset="0"/>
                        <a:cs typeface="Times New Roman" panose="02020603050405020304" pitchFamily="18" charset="0"/>
                      </a:rPr>
                      <m:t>𝑌</m:t>
                    </m:r>
                    <m:r>
                      <a:rPr lang="en-US" b="0" i="1" smtClean="0">
                        <a:latin typeface="Cambria Math" panose="02040503050406030204" pitchFamily="18" charset="0"/>
                        <a:cs typeface="Times New Roman" panose="02020603050405020304" pitchFamily="18" charset="0"/>
                      </a:rPr>
                      <m:t>= </m:t>
                    </m:r>
                    <m:sSup>
                      <m:sSupPr>
                        <m:ctrlPr>
                          <a:rPr lang="en-US" b="0" i="1" smtClean="0">
                            <a:latin typeface="Cambria Math" panose="02040503050406030204" pitchFamily="18" charset="0"/>
                            <a:cs typeface="Times New Roman" panose="02020603050405020304" pitchFamily="18" charset="0"/>
                          </a:rPr>
                        </m:ctrlPr>
                      </m:sSupPr>
                      <m:e>
                        <m:r>
                          <a:rPr lang="en-US" b="0" i="1" smtClean="0">
                            <a:latin typeface="Cambria Math" panose="02040503050406030204" pitchFamily="18" charset="0"/>
                            <a:cs typeface="Times New Roman" panose="02020603050405020304" pitchFamily="18" charset="0"/>
                          </a:rPr>
                          <m:t>𝑔</m:t>
                        </m:r>
                      </m:e>
                      <m:sup>
                        <m:r>
                          <a:rPr lang="en-US" b="0" i="1" smtClean="0">
                            <a:latin typeface="Cambria Math" panose="02040503050406030204" pitchFamily="18" charset="0"/>
                            <a:cs typeface="Times New Roman" panose="02020603050405020304" pitchFamily="18" charset="0"/>
                          </a:rPr>
                          <m:t>𝑥</m:t>
                        </m:r>
                      </m:sup>
                    </m:sSup>
                  </m:oMath>
                </a14:m>
                <a:endParaRPr lang="en-US" dirty="0">
                  <a:cs typeface="Times New Roman" panose="02020603050405020304" pitchFamily="18" charset="0"/>
                </a:endParaRPr>
              </a:p>
              <a:p>
                <a:pPr lvl="1" algn="ctr"/>
                <a:r>
                  <a:rPr lang="en-US" dirty="0">
                    <a:latin typeface="Times New Roman" panose="02020603050405020304" pitchFamily="18" charset="0"/>
                    <a:cs typeface="Times New Roman" panose="02020603050405020304" pitchFamily="18" charset="0"/>
                  </a:rPr>
                  <a:t>	</a:t>
                </a:r>
              </a:p>
            </p:txBody>
          </p:sp>
        </mc:Choice>
        <mc:Fallback xmlns="">
          <p:sp>
            <p:nvSpPr>
              <p:cNvPr id="17" name="TextBox 16">
                <a:extLst>
                  <a:ext uri="{FF2B5EF4-FFF2-40B4-BE49-F238E27FC236}">
                    <a16:creationId xmlns:a16="http://schemas.microsoft.com/office/drawing/2014/main" id="{4366C4AE-C56E-60E1-FC6C-B49326438CFA}"/>
                  </a:ext>
                </a:extLst>
              </p:cNvPr>
              <p:cNvSpPr txBox="1">
                <a:spLocks noRot="1" noChangeAspect="1" noMove="1" noResize="1" noEditPoints="1" noAdjustHandles="1" noChangeArrowheads="1" noChangeShapeType="1" noTextEdit="1"/>
              </p:cNvSpPr>
              <p:nvPr/>
            </p:nvSpPr>
            <p:spPr>
              <a:xfrm>
                <a:off x="4249272" y="560340"/>
                <a:ext cx="7315200" cy="2375137"/>
              </a:xfrm>
              <a:prstGeom prst="rect">
                <a:avLst/>
              </a:prstGeom>
              <a:blipFill>
                <a:blip r:embed="rId4"/>
                <a:stretch>
                  <a:fillRect l="-500" t="-1538" r="-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746A573-4EC6-90AC-6749-6CFD50F10EAD}"/>
                  </a:ext>
                </a:extLst>
              </p:cNvPr>
              <p:cNvSpPr txBox="1"/>
              <p:nvPr/>
            </p:nvSpPr>
            <p:spPr>
              <a:xfrm>
                <a:off x="4249272" y="2647522"/>
                <a:ext cx="7315200" cy="3736151"/>
              </a:xfrm>
              <a:prstGeom prst="rect">
                <a:avLst/>
              </a:prstGeom>
              <a:noFill/>
            </p:spPr>
            <p:txBody>
              <a:bodyPr wrap="square" rtlCol="0">
                <a:spAutoFit/>
              </a:bodyPr>
              <a:lstStyle/>
              <a:p>
                <a:pPr algn="just"/>
                <a:r>
                  <a:rPr lang="en-US" dirty="0">
                    <a:latin typeface="Times New Roman" panose="02020603050405020304" pitchFamily="18" charset="0"/>
                    <a:cs typeface="Times New Roman" panose="02020603050405020304" pitchFamily="18" charset="0"/>
                  </a:rPr>
                  <a:t>Registration flow:</a:t>
                </a:r>
              </a:p>
              <a:p>
                <a:pPr marL="285750" indent="-285750"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Public Key &amp; Salt Derivation: Using the EC and the user’s password, a public key is generated. The salt is randomly generated.</a:t>
                </a:r>
              </a:p>
              <a:p>
                <a:pPr marL="285750" indent="-285750"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Public Key Exchange: The Public Key and the Salt are sent to the server. The key will be used for future validations by the server, while the client will always generate it locally. After registration, only the salt is being requested by the client.</a:t>
                </a:r>
              </a:p>
              <a:p>
                <a:pPr algn="just"/>
                <a:r>
                  <a:rPr lang="en-US" dirty="0">
                    <a:latin typeface="Times New Roman" panose="02020603050405020304" pitchFamily="18" charset="0"/>
                    <a:cs typeface="Times New Roman" panose="02020603050405020304" pitchFamily="18" charset="0"/>
                  </a:rPr>
                  <a:t>Authentication flow:</a:t>
                </a:r>
              </a:p>
              <a:p>
                <a:pPr marL="285750" indent="-285750"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Commitment: Client selects random </a:t>
                </a:r>
                <a14:m>
                  <m:oMath xmlns:m="http://schemas.openxmlformats.org/officeDocument/2006/math">
                    <m:r>
                      <a:rPr lang="en-US" b="0" i="1" smtClean="0">
                        <a:latin typeface="Cambria Math" panose="02040503050406030204" pitchFamily="18" charset="0"/>
                        <a:cs typeface="Times New Roman" panose="02020603050405020304" pitchFamily="18" charset="0"/>
                      </a:rPr>
                      <m:t>𝑟</m:t>
                    </m:r>
                    <m:r>
                      <a:rPr lang="en-US" b="0" i="1" smtClean="0">
                        <a:latin typeface="Cambria Math" panose="02040503050406030204" pitchFamily="18" charset="0"/>
                        <a:cs typeface="Times New Roman" panose="02020603050405020304" pitchFamily="18" charset="0"/>
                      </a:rPr>
                      <m:t> ∈ </m:t>
                    </m:r>
                    <m:sSub>
                      <m:sSubPr>
                        <m:ctrlPr>
                          <a:rPr lang="en-US" b="0" i="1" smtClean="0">
                            <a:latin typeface="Cambria Math" panose="02040503050406030204" pitchFamily="18" charset="0"/>
                            <a:ea typeface="Cambria Math" panose="02040503050406030204" pitchFamily="18" charset="0"/>
                            <a:cs typeface="Times New Roman" panose="02020603050405020304" pitchFamily="18" charset="0"/>
                          </a:rPr>
                        </m:ctrlPr>
                      </m:sSubPr>
                      <m:e>
                        <m:r>
                          <a:rPr lang="en-US" b="0" i="1" smtClean="0">
                            <a:latin typeface="Cambria Math" panose="02040503050406030204" pitchFamily="18" charset="0"/>
                            <a:ea typeface="Cambria Math" panose="02040503050406030204" pitchFamily="18" charset="0"/>
                            <a:cs typeface="Times New Roman" panose="02020603050405020304" pitchFamily="18" charset="0"/>
                          </a:rPr>
                          <m:t>ℤ</m:t>
                        </m:r>
                      </m:e>
                      <m:sub>
                        <m:r>
                          <a:rPr lang="en-US" b="0" i="1" smtClean="0">
                            <a:latin typeface="Cambria Math" panose="02040503050406030204" pitchFamily="18" charset="0"/>
                            <a:ea typeface="Cambria Math" panose="02040503050406030204" pitchFamily="18" charset="0"/>
                            <a:cs typeface="Times New Roman" panose="02020603050405020304" pitchFamily="18" charset="0"/>
                          </a:rPr>
                          <m:t>𝑞</m:t>
                        </m:r>
                      </m:sub>
                    </m:sSub>
                  </m:oMath>
                </a14:m>
                <a:r>
                  <a:rPr lang="en-US" dirty="0">
                    <a:latin typeface="Times New Roman" panose="02020603050405020304" pitchFamily="18" charset="0"/>
                    <a:cs typeface="Times New Roman" panose="02020603050405020304" pitchFamily="18" charset="0"/>
                  </a:rPr>
                  <a:t>, computes </a:t>
                </a:r>
                <a14:m>
                  <m:oMath xmlns:m="http://schemas.openxmlformats.org/officeDocument/2006/math">
                    <m:r>
                      <a:rPr lang="en-US" b="0" i="1" smtClean="0">
                        <a:latin typeface="Cambria Math" panose="02040503050406030204" pitchFamily="18" charset="0"/>
                        <a:cs typeface="Times New Roman" panose="02020603050405020304" pitchFamily="18" charset="0"/>
                      </a:rPr>
                      <m:t>𝑅</m:t>
                    </m:r>
                    <m:r>
                      <a:rPr lang="en-US" b="0" i="1" smtClean="0">
                        <a:latin typeface="Cambria Math" panose="02040503050406030204" pitchFamily="18" charset="0"/>
                        <a:cs typeface="Times New Roman" panose="02020603050405020304" pitchFamily="18" charset="0"/>
                      </a:rPr>
                      <m:t>= </m:t>
                    </m:r>
                    <m:sSup>
                      <m:sSupPr>
                        <m:ctrlPr>
                          <a:rPr lang="en-US" b="0" i="1" smtClean="0">
                            <a:latin typeface="Cambria Math" panose="02040503050406030204" pitchFamily="18" charset="0"/>
                            <a:cs typeface="Times New Roman" panose="02020603050405020304" pitchFamily="18" charset="0"/>
                          </a:rPr>
                        </m:ctrlPr>
                      </m:sSupPr>
                      <m:e>
                        <m:r>
                          <a:rPr lang="en-US" b="0" i="1" smtClean="0">
                            <a:latin typeface="Cambria Math" panose="02040503050406030204" pitchFamily="18" charset="0"/>
                            <a:cs typeface="Times New Roman" panose="02020603050405020304" pitchFamily="18" charset="0"/>
                          </a:rPr>
                          <m:t>𝑔</m:t>
                        </m:r>
                      </m:e>
                      <m:sup>
                        <m:r>
                          <a:rPr lang="en-US" b="0" i="1" smtClean="0">
                            <a:latin typeface="Cambria Math" panose="02040503050406030204" pitchFamily="18" charset="0"/>
                            <a:cs typeface="Times New Roman" panose="02020603050405020304" pitchFamily="18" charset="0"/>
                          </a:rPr>
                          <m:t>𝑟</m:t>
                        </m:r>
                      </m:sup>
                    </m:sSup>
                  </m:oMath>
                </a14:m>
                <a:r>
                  <a:rPr lang="en-US" dirty="0">
                    <a:latin typeface="Times New Roman" panose="02020603050405020304" pitchFamily="18" charset="0"/>
                    <a:cs typeface="Times New Roman" panose="02020603050405020304" pitchFamily="18" charset="0"/>
                  </a:rPr>
                  <a:t>, sends </a:t>
                </a:r>
                <a14:m>
                  <m:oMath xmlns:m="http://schemas.openxmlformats.org/officeDocument/2006/math">
                    <m:r>
                      <a:rPr lang="en-US" b="0" i="1" smtClean="0">
                        <a:latin typeface="Cambria Math" panose="02040503050406030204" pitchFamily="18" charset="0"/>
                        <a:cs typeface="Times New Roman" panose="02020603050405020304" pitchFamily="18" charset="0"/>
                      </a:rPr>
                      <m:t>𝑅</m:t>
                    </m:r>
                  </m:oMath>
                </a14:m>
                <a:r>
                  <a:rPr lang="en-US" dirty="0">
                    <a:latin typeface="Times New Roman" panose="02020603050405020304" pitchFamily="18" charset="0"/>
                    <a:cs typeface="Times New Roman" panose="02020603050405020304" pitchFamily="18" charset="0"/>
                  </a:rPr>
                  <a:t> to server.</a:t>
                </a:r>
              </a:p>
              <a:p>
                <a:pPr marL="285750" indent="-285750"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Challenge: Server generates random </a:t>
                </a:r>
                <a14:m>
                  <m:oMath xmlns:m="http://schemas.openxmlformats.org/officeDocument/2006/math">
                    <m:r>
                      <a:rPr lang="en-US" b="0" i="1" smtClean="0">
                        <a:latin typeface="Cambria Math" panose="02040503050406030204" pitchFamily="18" charset="0"/>
                        <a:cs typeface="Times New Roman" panose="02020603050405020304" pitchFamily="18" charset="0"/>
                      </a:rPr>
                      <m:t>𝑐</m:t>
                    </m:r>
                    <m:r>
                      <a:rPr lang="en-US" i="1">
                        <a:latin typeface="Cambria Math" panose="02040503050406030204" pitchFamily="18" charset="0"/>
                        <a:ea typeface="Cambria Math" panose="02040503050406030204" pitchFamily="18" charset="0"/>
                        <a:cs typeface="Times New Roman" panose="02020603050405020304" pitchFamily="18" charset="0"/>
                      </a:rPr>
                      <m:t>∈ </m:t>
                    </m:r>
                    <m:sSub>
                      <m:sSubPr>
                        <m:ctrlPr>
                          <a:rPr lang="en-US" i="1">
                            <a:latin typeface="Cambria Math" panose="02040503050406030204" pitchFamily="18" charset="0"/>
                            <a:ea typeface="Cambria Math" panose="02040503050406030204" pitchFamily="18" charset="0"/>
                            <a:cs typeface="Times New Roman" panose="02020603050405020304" pitchFamily="18" charset="0"/>
                          </a:rPr>
                        </m:ctrlPr>
                      </m:sSubPr>
                      <m:e>
                        <m:r>
                          <a:rPr lang="en-US" i="1">
                            <a:latin typeface="Cambria Math" panose="02040503050406030204" pitchFamily="18" charset="0"/>
                            <a:ea typeface="Cambria Math" panose="02040503050406030204" pitchFamily="18" charset="0"/>
                            <a:cs typeface="Times New Roman" panose="02020603050405020304" pitchFamily="18" charset="0"/>
                          </a:rPr>
                          <m:t>ℤ</m:t>
                        </m:r>
                      </m:e>
                      <m:sub>
                        <m:r>
                          <a:rPr lang="en-US" i="1">
                            <a:latin typeface="Cambria Math" panose="02040503050406030204" pitchFamily="18" charset="0"/>
                            <a:ea typeface="Cambria Math" panose="02040503050406030204" pitchFamily="18" charset="0"/>
                            <a:cs typeface="Times New Roman" panose="02020603050405020304" pitchFamily="18" charset="0"/>
                          </a:rPr>
                          <m:t>𝑞</m:t>
                        </m:r>
                      </m:sub>
                    </m:sSub>
                  </m:oMath>
                </a14:m>
                <a:r>
                  <a:rPr lang="en-US" dirty="0">
                    <a:latin typeface="Times New Roman" panose="02020603050405020304" pitchFamily="18" charset="0"/>
                    <a:cs typeface="Times New Roman" panose="02020603050405020304" pitchFamily="18" charset="0"/>
                  </a:rPr>
                  <a:t>, sends </a:t>
                </a:r>
                <a14:m>
                  <m:oMath xmlns:m="http://schemas.openxmlformats.org/officeDocument/2006/math">
                    <m:r>
                      <a:rPr lang="en-US" i="1">
                        <a:latin typeface="Cambria Math" panose="02040503050406030204" pitchFamily="18" charset="0"/>
                        <a:cs typeface="Times New Roman" panose="02020603050405020304" pitchFamily="18" charset="0"/>
                      </a:rPr>
                      <m:t>𝑐</m:t>
                    </m:r>
                  </m:oMath>
                </a14:m>
                <a:r>
                  <a:rPr lang="en-US" dirty="0">
                    <a:latin typeface="Times New Roman" panose="02020603050405020304" pitchFamily="18" charset="0"/>
                    <a:cs typeface="Times New Roman" panose="02020603050405020304" pitchFamily="18" charset="0"/>
                  </a:rPr>
                  <a:t> to client.</a:t>
                </a:r>
              </a:p>
              <a:p>
                <a:pPr marL="285750" indent="-285750"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Response: Client calculates </a:t>
                </a:r>
                <a14:m>
                  <m:oMath xmlns:m="http://schemas.openxmlformats.org/officeDocument/2006/math">
                    <m:r>
                      <a:rPr lang="en-US" b="0" i="1" smtClean="0">
                        <a:latin typeface="Cambria Math" panose="02040503050406030204" pitchFamily="18" charset="0"/>
                        <a:cs typeface="Times New Roman" panose="02020603050405020304" pitchFamily="18" charset="0"/>
                      </a:rPr>
                      <m:t>𝑠</m:t>
                    </m:r>
                    <m:r>
                      <a:rPr lang="en-US" b="0" i="1" smtClean="0">
                        <a:latin typeface="Cambria Math" panose="02040503050406030204" pitchFamily="18" charset="0"/>
                        <a:cs typeface="Times New Roman" panose="02020603050405020304" pitchFamily="18" charset="0"/>
                      </a:rPr>
                      <m:t>=</m:t>
                    </m:r>
                    <m:r>
                      <a:rPr lang="en-US" b="0" i="1" smtClean="0">
                        <a:latin typeface="Cambria Math" panose="02040503050406030204" pitchFamily="18" charset="0"/>
                        <a:cs typeface="Times New Roman" panose="02020603050405020304" pitchFamily="18" charset="0"/>
                      </a:rPr>
                      <m:t>𝑟</m:t>
                    </m:r>
                    <m:r>
                      <a:rPr lang="en-US" b="0" i="1" smtClean="0">
                        <a:latin typeface="Cambria Math" panose="02040503050406030204" pitchFamily="18" charset="0"/>
                        <a:cs typeface="Times New Roman" panose="02020603050405020304" pitchFamily="18" charset="0"/>
                      </a:rPr>
                      <m:t>+</m:t>
                    </m:r>
                    <m:r>
                      <a:rPr lang="en-US" b="0" i="1" smtClean="0">
                        <a:latin typeface="Cambria Math" panose="02040503050406030204" pitchFamily="18" charset="0"/>
                        <a:cs typeface="Times New Roman" panose="02020603050405020304" pitchFamily="18" charset="0"/>
                      </a:rPr>
                      <m:t>𝑐𝑥</m:t>
                    </m:r>
                    <m:r>
                      <a:rPr lang="en-US" b="0" i="1" smtClean="0">
                        <a:latin typeface="Cambria Math" panose="02040503050406030204" pitchFamily="18" charset="0"/>
                        <a:cs typeface="Times New Roman" panose="02020603050405020304" pitchFamily="18" charset="0"/>
                      </a:rPr>
                      <m:t> </m:t>
                    </m:r>
                    <m:r>
                      <a:rPr lang="en-US" b="0" i="1" smtClean="0">
                        <a:latin typeface="Cambria Math" panose="02040503050406030204" pitchFamily="18" charset="0"/>
                        <a:cs typeface="Times New Roman" panose="02020603050405020304" pitchFamily="18" charset="0"/>
                      </a:rPr>
                      <m:t>𝑚𝑜𝑑</m:t>
                    </m:r>
                    <m:r>
                      <a:rPr lang="en-US" b="0" i="1" smtClean="0">
                        <a:latin typeface="Cambria Math" panose="02040503050406030204" pitchFamily="18" charset="0"/>
                        <a:cs typeface="Times New Roman" panose="02020603050405020304" pitchFamily="18" charset="0"/>
                      </a:rPr>
                      <m:t> </m:t>
                    </m:r>
                    <m:r>
                      <a:rPr lang="en-US" b="0" i="1" smtClean="0">
                        <a:latin typeface="Cambria Math" panose="02040503050406030204" pitchFamily="18" charset="0"/>
                        <a:cs typeface="Times New Roman" panose="02020603050405020304" pitchFamily="18" charset="0"/>
                      </a:rPr>
                      <m:t>𝑞</m:t>
                    </m:r>
                  </m:oMath>
                </a14:m>
                <a:r>
                  <a:rPr lang="en-US" dirty="0">
                    <a:latin typeface="Times New Roman" panose="02020603050405020304" pitchFamily="18" charset="0"/>
                    <a:cs typeface="Times New Roman" panose="02020603050405020304" pitchFamily="18" charset="0"/>
                  </a:rPr>
                  <a:t>, sends </a:t>
                </a:r>
                <a14:m>
                  <m:oMath xmlns:m="http://schemas.openxmlformats.org/officeDocument/2006/math">
                    <m:r>
                      <a:rPr lang="en-US" b="0" i="1" smtClean="0">
                        <a:latin typeface="Cambria Math" panose="02040503050406030204" pitchFamily="18" charset="0"/>
                        <a:cs typeface="Times New Roman" panose="02020603050405020304" pitchFamily="18" charset="0"/>
                      </a:rPr>
                      <m:t>𝑠</m:t>
                    </m:r>
                  </m:oMath>
                </a14:m>
                <a:r>
                  <a:rPr lang="en-US" dirty="0">
                    <a:latin typeface="Times New Roman" panose="02020603050405020304" pitchFamily="18" charset="0"/>
                    <a:cs typeface="Times New Roman" panose="02020603050405020304" pitchFamily="18" charset="0"/>
                  </a:rPr>
                  <a:t> to server.</a:t>
                </a:r>
              </a:p>
              <a:p>
                <a:pPr marL="285750" indent="-285750"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Verification: Server verifies </a:t>
                </a:r>
                <a14:m>
                  <m:oMath xmlns:m="http://schemas.openxmlformats.org/officeDocument/2006/math">
                    <m:sSup>
                      <m:sSupPr>
                        <m:ctrlPr>
                          <a:rPr lang="en-US" i="1" smtClean="0">
                            <a:latin typeface="Cambria Math" panose="02040503050406030204" pitchFamily="18" charset="0"/>
                            <a:cs typeface="Times New Roman" panose="02020603050405020304" pitchFamily="18" charset="0"/>
                          </a:rPr>
                        </m:ctrlPr>
                      </m:sSupPr>
                      <m:e>
                        <m:r>
                          <a:rPr lang="en-US" b="0" i="1" smtClean="0">
                            <a:latin typeface="Cambria Math" panose="02040503050406030204" pitchFamily="18" charset="0"/>
                            <a:cs typeface="Times New Roman" panose="02020603050405020304" pitchFamily="18" charset="0"/>
                          </a:rPr>
                          <m:t>𝑔</m:t>
                        </m:r>
                      </m:e>
                      <m:sup>
                        <m:r>
                          <a:rPr lang="en-US" b="0" i="1" smtClean="0">
                            <a:latin typeface="Cambria Math" panose="02040503050406030204" pitchFamily="18" charset="0"/>
                            <a:cs typeface="Times New Roman" panose="02020603050405020304" pitchFamily="18" charset="0"/>
                          </a:rPr>
                          <m:t>𝑠</m:t>
                        </m:r>
                      </m:sup>
                    </m:sSup>
                    <m:r>
                      <a:rPr lang="en-US" i="1" smtClean="0">
                        <a:latin typeface="Cambria Math" panose="02040503050406030204" pitchFamily="18" charset="0"/>
                        <a:cs typeface="Times New Roman" panose="02020603050405020304" pitchFamily="18" charset="0"/>
                      </a:rPr>
                      <m:t>≟</m:t>
                    </m:r>
                    <m:r>
                      <a:rPr lang="en-US" i="1">
                        <a:latin typeface="Cambria Math" panose="02040503050406030204" pitchFamily="18" charset="0"/>
                        <a:cs typeface="Times New Roman" panose="02020603050405020304" pitchFamily="18" charset="0"/>
                      </a:rPr>
                      <m:t>𝑅</m:t>
                    </m:r>
                    <m:r>
                      <a:rPr lang="en-US" b="0" i="1" smtClean="0">
                        <a:latin typeface="Cambria Math" panose="02040503050406030204" pitchFamily="18" charset="0"/>
                        <a:ea typeface="Cambria Math" panose="02040503050406030204" pitchFamily="18" charset="0"/>
                        <a:cs typeface="Times New Roman" panose="02020603050405020304" pitchFamily="18" charset="0"/>
                      </a:rPr>
                      <m:t>×</m:t>
                    </m:r>
                    <m:sSup>
                      <m:sSupPr>
                        <m:ctrlPr>
                          <a:rPr lang="en-US" b="0" i="1" smtClean="0">
                            <a:latin typeface="Cambria Math" panose="02040503050406030204" pitchFamily="18" charset="0"/>
                            <a:ea typeface="Cambria Math" panose="02040503050406030204" pitchFamily="18" charset="0"/>
                            <a:cs typeface="Times New Roman" panose="02020603050405020304" pitchFamily="18" charset="0"/>
                          </a:rPr>
                        </m:ctrlPr>
                      </m:sSupPr>
                      <m:e>
                        <m:r>
                          <a:rPr lang="en-US" i="1">
                            <a:latin typeface="Cambria Math" panose="02040503050406030204" pitchFamily="18" charset="0"/>
                            <a:cs typeface="Times New Roman" panose="02020603050405020304" pitchFamily="18" charset="0"/>
                          </a:rPr>
                          <m:t>𝑌</m:t>
                        </m:r>
                      </m:e>
                      <m:sup>
                        <m:r>
                          <a:rPr lang="en-US" i="1">
                            <a:latin typeface="Cambria Math" panose="02040503050406030204" pitchFamily="18" charset="0"/>
                            <a:cs typeface="Times New Roman" panose="02020603050405020304" pitchFamily="18" charset="0"/>
                          </a:rPr>
                          <m:t>𝑐</m:t>
                        </m:r>
                      </m:sup>
                    </m:sSup>
                  </m:oMath>
                </a14:m>
                <a:r>
                  <a:rPr lang="en-US" dirty="0">
                    <a:latin typeface="Times New Roman" panose="02020603050405020304" pitchFamily="18" charset="0"/>
                    <a:cs typeface="Times New Roman" panose="02020603050405020304" pitchFamily="18" charset="0"/>
                  </a:rPr>
                  <a:t>	</a:t>
                </a:r>
              </a:p>
            </p:txBody>
          </p:sp>
        </mc:Choice>
        <mc:Fallback xmlns="">
          <p:sp>
            <p:nvSpPr>
              <p:cNvPr id="3" name="TextBox 2">
                <a:extLst>
                  <a:ext uri="{FF2B5EF4-FFF2-40B4-BE49-F238E27FC236}">
                    <a16:creationId xmlns:a16="http://schemas.microsoft.com/office/drawing/2014/main" id="{F746A573-4EC6-90AC-6749-6CFD50F10EAD}"/>
                  </a:ext>
                </a:extLst>
              </p:cNvPr>
              <p:cNvSpPr txBox="1">
                <a:spLocks noRot="1" noChangeAspect="1" noMove="1" noResize="1" noEditPoints="1" noAdjustHandles="1" noChangeArrowheads="1" noChangeShapeType="1" noTextEdit="1"/>
              </p:cNvSpPr>
              <p:nvPr/>
            </p:nvSpPr>
            <p:spPr>
              <a:xfrm>
                <a:off x="4249272" y="2647522"/>
                <a:ext cx="7315200" cy="3736151"/>
              </a:xfrm>
              <a:prstGeom prst="rect">
                <a:avLst/>
              </a:prstGeom>
              <a:blipFill>
                <a:blip r:embed="rId5"/>
                <a:stretch>
                  <a:fillRect l="-667" t="-816" r="-750" b="-1631"/>
                </a:stretch>
              </a:blipFill>
            </p:spPr>
            <p:txBody>
              <a:bodyPr/>
              <a:lstStyle/>
              <a:p>
                <a:r>
                  <a:rPr lang="en-US">
                    <a:noFill/>
                  </a:rPr>
                  <a:t> </a:t>
                </a:r>
              </a:p>
            </p:txBody>
          </p:sp>
        </mc:Fallback>
      </mc:AlternateContent>
    </p:spTree>
    <p:extLst>
      <p:ext uri="{BB962C8B-B14F-4D97-AF65-F5344CB8AC3E}">
        <p14:creationId xmlns:p14="http://schemas.microsoft.com/office/powerpoint/2010/main" val="41223962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109B8-52BC-88CB-F0D8-520D32A65F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685416-9A68-C789-2ADE-0989137224BB}"/>
              </a:ext>
            </a:extLst>
          </p:cNvPr>
          <p:cNvSpPr>
            <a:spLocks noGrp="1"/>
          </p:cNvSpPr>
          <p:nvPr>
            <p:ph type="title"/>
          </p:nvPr>
        </p:nvSpPr>
        <p:spPr>
          <a:xfrm>
            <a:off x="87923" y="1252728"/>
            <a:ext cx="5794131" cy="1682749"/>
          </a:xfrm>
        </p:spPr>
        <p:txBody>
          <a:bodyPr/>
          <a:lstStyle/>
          <a:p>
            <a:r>
              <a:rPr lang="en-US" dirty="0"/>
              <a:t>4. The math behind</a:t>
            </a:r>
          </a:p>
        </p:txBody>
      </p:sp>
      <p:sp>
        <p:nvSpPr>
          <p:cNvPr id="12" name="Footer Placeholder 11">
            <a:extLst>
              <a:ext uri="{FF2B5EF4-FFF2-40B4-BE49-F238E27FC236}">
                <a16:creationId xmlns:a16="http://schemas.microsoft.com/office/drawing/2014/main" id="{4A5C3F64-967D-6C4A-A950-107AFB0DB7C2}"/>
              </a:ext>
            </a:extLst>
          </p:cNvPr>
          <p:cNvSpPr>
            <a:spLocks noGrp="1"/>
          </p:cNvSpPr>
          <p:nvPr>
            <p:ph type="ftr" sz="quarter" idx="11"/>
          </p:nvPr>
        </p:nvSpPr>
        <p:spPr/>
        <p:txBody>
          <a:bodyPr/>
          <a:lstStyle/>
          <a:p>
            <a:r>
              <a:rPr lang="en-US" dirty="0" err="1"/>
              <a:t>SilentVault</a:t>
            </a:r>
            <a:r>
              <a:rPr lang="en-US" dirty="0"/>
              <a:t> – A Password Based Zero Knowledge File Server</a:t>
            </a:r>
          </a:p>
        </p:txBody>
      </p:sp>
      <p:sp>
        <p:nvSpPr>
          <p:cNvPr id="13" name="Slide Number Placeholder 12">
            <a:extLst>
              <a:ext uri="{FF2B5EF4-FFF2-40B4-BE49-F238E27FC236}">
                <a16:creationId xmlns:a16="http://schemas.microsoft.com/office/drawing/2014/main" id="{105EFF16-C667-5730-626E-CC08F2EDA981}"/>
              </a:ext>
            </a:extLst>
          </p:cNvPr>
          <p:cNvSpPr>
            <a:spLocks noGrp="1"/>
          </p:cNvSpPr>
          <p:nvPr>
            <p:ph type="sldNum" sz="quarter" idx="12"/>
          </p:nvPr>
        </p:nvSpPr>
        <p:spPr/>
        <p:txBody>
          <a:bodyPr/>
          <a:lstStyle/>
          <a:p>
            <a:fld id="{5BFCF61C-3B18-4C03-8326-CC3B32D710C9}" type="slidenum">
              <a:rPr lang="en-US" smtClean="0"/>
              <a:pPr/>
              <a:t>10</a:t>
            </a:fld>
            <a:endParaRPr lang="en-US"/>
          </a:p>
        </p:txBody>
      </p:sp>
      <p:pic>
        <p:nvPicPr>
          <p:cNvPr id="7" name="Picture 6">
            <a:extLst>
              <a:ext uri="{FF2B5EF4-FFF2-40B4-BE49-F238E27FC236}">
                <a16:creationId xmlns:a16="http://schemas.microsoft.com/office/drawing/2014/main" id="{AD0CA70D-BD7A-4C44-DC1B-A50BAC8979F0}"/>
              </a:ext>
            </a:extLst>
          </p:cNvPr>
          <p:cNvPicPr>
            <a:picLocks noChangeAspect="1"/>
          </p:cNvPicPr>
          <p:nvPr/>
        </p:nvPicPr>
        <p:blipFill>
          <a:blip r:embed="rId2"/>
          <a:stretch>
            <a:fillRect/>
          </a:stretch>
        </p:blipFill>
        <p:spPr>
          <a:xfrm>
            <a:off x="2240280" y="-8686"/>
            <a:ext cx="942588" cy="982416"/>
          </a:xfrm>
          <a:prstGeom prst="rect">
            <a:avLst/>
          </a:prstGeom>
        </p:spPr>
      </p:pic>
      <p:pic>
        <p:nvPicPr>
          <p:cNvPr id="8" name="Picture 7">
            <a:extLst>
              <a:ext uri="{FF2B5EF4-FFF2-40B4-BE49-F238E27FC236}">
                <a16:creationId xmlns:a16="http://schemas.microsoft.com/office/drawing/2014/main" id="{C4451EB5-6247-1F17-99BC-A19124283DF2}"/>
              </a:ext>
            </a:extLst>
          </p:cNvPr>
          <p:cNvPicPr>
            <a:picLocks noChangeAspect="1"/>
          </p:cNvPicPr>
          <p:nvPr/>
        </p:nvPicPr>
        <p:blipFill>
          <a:blip r:embed="rId3"/>
          <a:stretch>
            <a:fillRect/>
          </a:stretch>
        </p:blipFill>
        <p:spPr>
          <a:xfrm>
            <a:off x="3111358" y="7115"/>
            <a:ext cx="1137914" cy="1137914"/>
          </a:xfrm>
          <a:prstGeom prst="rect">
            <a:avLst/>
          </a:prstGeom>
        </p:spPr>
      </p:pic>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65C36A9-E4F1-895E-3FFA-EA238951C45B}"/>
                  </a:ext>
                </a:extLst>
              </p:cNvPr>
              <p:cNvSpPr txBox="1"/>
              <p:nvPr/>
            </p:nvSpPr>
            <p:spPr>
              <a:xfrm>
                <a:off x="4249272" y="1488474"/>
                <a:ext cx="7315200" cy="4247317"/>
              </a:xfrm>
              <a:prstGeom prst="rect">
                <a:avLst/>
              </a:prstGeom>
              <a:noFill/>
            </p:spPr>
            <p:txBody>
              <a:bodyPr wrap="square" rtlCol="0">
                <a:spAutoFit/>
              </a:bodyPr>
              <a:lstStyle/>
              <a:p>
                <a:pPr marL="285750" indent="-285750"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Completeness: Honest clients are always accepted. The equation</a:t>
                </a:r>
              </a:p>
              <a:p>
                <a:pPr algn="ctr"/>
                <a:r>
                  <a:rPr lang="en-US" dirty="0">
                    <a:latin typeface="Times New Roman" panose="02020603050405020304" pitchFamily="18" charset="0"/>
                    <a:cs typeface="Times New Roman" panose="02020603050405020304" pitchFamily="18" charset="0"/>
                  </a:rPr>
                  <a:t> </a:t>
                </a:r>
                <a14:m>
                  <m:oMath xmlns:m="http://schemas.openxmlformats.org/officeDocument/2006/math">
                    <m:sSup>
                      <m:sSupPr>
                        <m:ctrlPr>
                          <a:rPr lang="en-US" i="1" smtClean="0">
                            <a:latin typeface="Cambria Math" panose="02040503050406030204" pitchFamily="18" charset="0"/>
                            <a:cs typeface="Times New Roman" panose="02020603050405020304" pitchFamily="18" charset="0"/>
                          </a:rPr>
                        </m:ctrlPr>
                      </m:sSupPr>
                      <m:e>
                        <m:r>
                          <a:rPr lang="en-US" b="0" i="1" smtClean="0">
                            <a:latin typeface="Cambria Math" panose="02040503050406030204" pitchFamily="18" charset="0"/>
                            <a:cs typeface="Times New Roman" panose="02020603050405020304" pitchFamily="18" charset="0"/>
                          </a:rPr>
                          <m:t>𝑔</m:t>
                        </m:r>
                      </m:e>
                      <m:sup>
                        <m:r>
                          <a:rPr lang="en-US" b="0" i="1" smtClean="0">
                            <a:latin typeface="Cambria Math" panose="02040503050406030204" pitchFamily="18" charset="0"/>
                            <a:cs typeface="Times New Roman" panose="02020603050405020304" pitchFamily="18" charset="0"/>
                          </a:rPr>
                          <m:t>𝑠</m:t>
                        </m:r>
                      </m:sup>
                    </m:sSup>
                    <m:r>
                      <a:rPr lang="en-US" b="0" i="1" smtClean="0">
                        <a:latin typeface="Cambria Math" panose="02040503050406030204" pitchFamily="18" charset="0"/>
                        <a:cs typeface="Times New Roman" panose="02020603050405020304" pitchFamily="18" charset="0"/>
                      </a:rPr>
                      <m:t>=</m:t>
                    </m:r>
                    <m:sSup>
                      <m:sSupPr>
                        <m:ctrlPr>
                          <a:rPr lang="en-US" b="0" i="1" smtClean="0">
                            <a:latin typeface="Cambria Math" panose="02040503050406030204" pitchFamily="18" charset="0"/>
                            <a:cs typeface="Times New Roman" panose="02020603050405020304" pitchFamily="18" charset="0"/>
                          </a:rPr>
                        </m:ctrlPr>
                      </m:sSupPr>
                      <m:e>
                        <m:r>
                          <a:rPr lang="en-US" b="0" i="1" smtClean="0">
                            <a:latin typeface="Cambria Math" panose="02040503050406030204" pitchFamily="18" charset="0"/>
                            <a:cs typeface="Times New Roman" panose="02020603050405020304" pitchFamily="18" charset="0"/>
                          </a:rPr>
                          <m:t>𝑔</m:t>
                        </m:r>
                      </m:e>
                      <m:sup>
                        <m:r>
                          <a:rPr lang="en-US" b="0" i="1" smtClean="0">
                            <a:latin typeface="Cambria Math" panose="02040503050406030204" pitchFamily="18" charset="0"/>
                            <a:cs typeface="Times New Roman" panose="02020603050405020304" pitchFamily="18" charset="0"/>
                          </a:rPr>
                          <m:t>𝑟</m:t>
                        </m:r>
                        <m:r>
                          <a:rPr lang="en-US" b="0" i="1" smtClean="0">
                            <a:latin typeface="Cambria Math" panose="02040503050406030204" pitchFamily="18" charset="0"/>
                            <a:cs typeface="Times New Roman" panose="02020603050405020304" pitchFamily="18" charset="0"/>
                          </a:rPr>
                          <m:t>+</m:t>
                        </m:r>
                        <m:r>
                          <a:rPr lang="en-US" b="0" i="1" smtClean="0">
                            <a:latin typeface="Cambria Math" panose="02040503050406030204" pitchFamily="18" charset="0"/>
                            <a:cs typeface="Times New Roman" panose="02020603050405020304" pitchFamily="18" charset="0"/>
                          </a:rPr>
                          <m:t>𝑐𝑥</m:t>
                        </m:r>
                      </m:sup>
                    </m:sSup>
                    <m:r>
                      <a:rPr lang="en-US" b="0" i="1" smtClean="0">
                        <a:latin typeface="Cambria Math" panose="02040503050406030204" pitchFamily="18" charset="0"/>
                        <a:cs typeface="Times New Roman" panose="02020603050405020304" pitchFamily="18" charset="0"/>
                      </a:rPr>
                      <m:t>=</m:t>
                    </m:r>
                    <m:sSup>
                      <m:sSupPr>
                        <m:ctrlPr>
                          <a:rPr lang="en-US" b="0" i="1" smtClean="0">
                            <a:latin typeface="Cambria Math" panose="02040503050406030204" pitchFamily="18" charset="0"/>
                            <a:cs typeface="Times New Roman" panose="02020603050405020304" pitchFamily="18" charset="0"/>
                          </a:rPr>
                        </m:ctrlPr>
                      </m:sSupPr>
                      <m:e>
                        <m:r>
                          <a:rPr lang="en-US" b="0" i="1" smtClean="0">
                            <a:latin typeface="Cambria Math" panose="02040503050406030204" pitchFamily="18" charset="0"/>
                            <a:cs typeface="Times New Roman" panose="02020603050405020304" pitchFamily="18" charset="0"/>
                          </a:rPr>
                          <m:t>𝑔</m:t>
                        </m:r>
                      </m:e>
                      <m:sup>
                        <m:r>
                          <a:rPr lang="en-US" b="0" i="1" smtClean="0">
                            <a:latin typeface="Cambria Math" panose="02040503050406030204" pitchFamily="18" charset="0"/>
                            <a:cs typeface="Times New Roman" panose="02020603050405020304" pitchFamily="18" charset="0"/>
                          </a:rPr>
                          <m:t>𝑟</m:t>
                        </m:r>
                      </m:sup>
                    </m:sSup>
                    <m:r>
                      <a:rPr lang="en-US" b="0" i="1" smtClean="0">
                        <a:latin typeface="Cambria Math" panose="02040503050406030204" pitchFamily="18" charset="0"/>
                        <a:ea typeface="Cambria Math" panose="02040503050406030204" pitchFamily="18" charset="0"/>
                        <a:cs typeface="Times New Roman" panose="02020603050405020304" pitchFamily="18" charset="0"/>
                      </a:rPr>
                      <m:t>×</m:t>
                    </m:r>
                    <m:sSup>
                      <m:sSupPr>
                        <m:ctrlPr>
                          <a:rPr lang="en-US" b="0" i="1" smtClean="0">
                            <a:latin typeface="Cambria Math" panose="02040503050406030204" pitchFamily="18" charset="0"/>
                            <a:ea typeface="Cambria Math" panose="02040503050406030204" pitchFamily="18" charset="0"/>
                            <a:cs typeface="Times New Roman" panose="02020603050405020304" pitchFamily="18" charset="0"/>
                          </a:rPr>
                        </m:ctrlPr>
                      </m:sSupPr>
                      <m:e>
                        <m:r>
                          <a:rPr lang="en-US" b="0" i="1" smtClean="0">
                            <a:latin typeface="Cambria Math" panose="02040503050406030204" pitchFamily="18" charset="0"/>
                            <a:ea typeface="Cambria Math" panose="02040503050406030204" pitchFamily="18" charset="0"/>
                            <a:cs typeface="Times New Roman" panose="02020603050405020304" pitchFamily="18" charset="0"/>
                          </a:rPr>
                          <m:t>(</m:t>
                        </m:r>
                        <m:sSup>
                          <m:sSupPr>
                            <m:ctrlPr>
                              <a:rPr lang="en-US" b="0" i="1" smtClean="0">
                                <a:latin typeface="Cambria Math" panose="02040503050406030204" pitchFamily="18" charset="0"/>
                                <a:ea typeface="Cambria Math" panose="02040503050406030204" pitchFamily="18" charset="0"/>
                                <a:cs typeface="Times New Roman" panose="02020603050405020304" pitchFamily="18" charset="0"/>
                              </a:rPr>
                            </m:ctrlPr>
                          </m:sSupPr>
                          <m:e>
                            <m:r>
                              <a:rPr lang="en-US" b="0" i="1" smtClean="0">
                                <a:latin typeface="Cambria Math" panose="02040503050406030204" pitchFamily="18" charset="0"/>
                                <a:ea typeface="Cambria Math" panose="02040503050406030204" pitchFamily="18" charset="0"/>
                                <a:cs typeface="Times New Roman" panose="02020603050405020304" pitchFamily="18" charset="0"/>
                              </a:rPr>
                              <m:t>𝑔</m:t>
                            </m:r>
                          </m:e>
                          <m:sup>
                            <m:r>
                              <a:rPr lang="en-US" b="0" i="1" smtClean="0">
                                <a:latin typeface="Cambria Math" panose="02040503050406030204" pitchFamily="18" charset="0"/>
                                <a:ea typeface="Cambria Math" panose="02040503050406030204" pitchFamily="18" charset="0"/>
                                <a:cs typeface="Times New Roman" panose="02020603050405020304" pitchFamily="18" charset="0"/>
                              </a:rPr>
                              <m:t>𝑥</m:t>
                            </m:r>
                          </m:sup>
                        </m:sSup>
                        <m:r>
                          <a:rPr lang="en-US" b="0" i="1" smtClean="0">
                            <a:latin typeface="Cambria Math" panose="02040503050406030204" pitchFamily="18" charset="0"/>
                            <a:ea typeface="Cambria Math" panose="02040503050406030204" pitchFamily="18" charset="0"/>
                            <a:cs typeface="Times New Roman" panose="02020603050405020304" pitchFamily="18" charset="0"/>
                          </a:rPr>
                          <m:t>)</m:t>
                        </m:r>
                      </m:e>
                      <m:sup>
                        <m:r>
                          <a:rPr lang="en-US" b="0" i="1" smtClean="0">
                            <a:latin typeface="Cambria Math" panose="02040503050406030204" pitchFamily="18" charset="0"/>
                            <a:ea typeface="Cambria Math" panose="02040503050406030204" pitchFamily="18" charset="0"/>
                            <a:cs typeface="Times New Roman" panose="02020603050405020304" pitchFamily="18" charset="0"/>
                          </a:rPr>
                          <m:t>𝑐</m:t>
                        </m:r>
                      </m:sup>
                    </m:sSup>
                    <m:r>
                      <a:rPr lang="en-US" b="0" i="1" smtClean="0">
                        <a:latin typeface="Cambria Math" panose="02040503050406030204" pitchFamily="18" charset="0"/>
                        <a:ea typeface="Cambria Math" panose="02040503050406030204" pitchFamily="18" charset="0"/>
                        <a:cs typeface="Times New Roman" panose="02020603050405020304" pitchFamily="18" charset="0"/>
                      </a:rPr>
                      <m:t>=</m:t>
                    </m:r>
                    <m:r>
                      <a:rPr lang="en-US" b="0" i="1" smtClean="0">
                        <a:latin typeface="Cambria Math" panose="02040503050406030204" pitchFamily="18" charset="0"/>
                        <a:ea typeface="Cambria Math" panose="02040503050406030204" pitchFamily="18" charset="0"/>
                        <a:cs typeface="Times New Roman" panose="02020603050405020304" pitchFamily="18" charset="0"/>
                      </a:rPr>
                      <m:t>𝑅</m:t>
                    </m:r>
                    <m:r>
                      <a:rPr lang="en-US" b="0" i="1" smtClean="0">
                        <a:latin typeface="Cambria Math" panose="02040503050406030204" pitchFamily="18" charset="0"/>
                        <a:ea typeface="Cambria Math" panose="02040503050406030204" pitchFamily="18" charset="0"/>
                        <a:cs typeface="Times New Roman" panose="02020603050405020304" pitchFamily="18" charset="0"/>
                      </a:rPr>
                      <m:t>×</m:t>
                    </m:r>
                    <m:sSup>
                      <m:sSupPr>
                        <m:ctrlPr>
                          <a:rPr lang="en-US" b="0" i="1" smtClean="0">
                            <a:latin typeface="Cambria Math" panose="02040503050406030204" pitchFamily="18" charset="0"/>
                            <a:ea typeface="Cambria Math" panose="02040503050406030204" pitchFamily="18" charset="0"/>
                            <a:cs typeface="Times New Roman" panose="02020603050405020304" pitchFamily="18" charset="0"/>
                          </a:rPr>
                        </m:ctrlPr>
                      </m:sSupPr>
                      <m:e>
                        <m:r>
                          <a:rPr lang="en-US" b="0" i="1" smtClean="0">
                            <a:latin typeface="Cambria Math" panose="02040503050406030204" pitchFamily="18" charset="0"/>
                            <a:ea typeface="Cambria Math" panose="02040503050406030204" pitchFamily="18" charset="0"/>
                            <a:cs typeface="Times New Roman" panose="02020603050405020304" pitchFamily="18" charset="0"/>
                          </a:rPr>
                          <m:t>𝑌</m:t>
                        </m:r>
                      </m:e>
                      <m:sup>
                        <m:r>
                          <a:rPr lang="en-US" b="0" i="1" smtClean="0">
                            <a:latin typeface="Cambria Math" panose="02040503050406030204" pitchFamily="18" charset="0"/>
                            <a:ea typeface="Cambria Math" panose="02040503050406030204" pitchFamily="18" charset="0"/>
                            <a:cs typeface="Times New Roman" panose="02020603050405020304" pitchFamily="18" charset="0"/>
                          </a:rPr>
                          <m:t>𝑐</m:t>
                        </m:r>
                      </m:sup>
                    </m:sSup>
                  </m:oMath>
                </a14:m>
                <a:r>
                  <a:rPr lang="en-US" dirty="0">
                    <a:cs typeface="Times New Roman" panose="02020603050405020304" pitchFamily="18" charset="0"/>
                  </a:rPr>
                  <a:t> </a:t>
                </a:r>
              </a:p>
              <a:p>
                <a:pPr algn="just"/>
                <a:r>
                  <a:rPr lang="en-US" dirty="0">
                    <a:latin typeface="Times New Roman" panose="02020603050405020304" pitchFamily="18" charset="0"/>
                    <a:cs typeface="Times New Roman" panose="02020603050405020304" pitchFamily="18" charset="0"/>
                  </a:rPr>
                  <a:t>     will always be true.</a:t>
                </a:r>
              </a:p>
              <a:p>
                <a:pPr algn="just"/>
                <a:endParaRPr lang="en-US" dirty="0">
                  <a:cs typeface="Times New Roman" panose="02020603050405020304" pitchFamily="18" charset="0"/>
                </a:endParaRPr>
              </a:p>
              <a:p>
                <a:pPr marL="285750" indent="-285750"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Soundness: Attackers cannot generate a valid </a:t>
                </a:r>
                <a14:m>
                  <m:oMath xmlns:m="http://schemas.openxmlformats.org/officeDocument/2006/math">
                    <m:r>
                      <a:rPr lang="en-US" b="0" i="1" smtClean="0">
                        <a:latin typeface="Cambria Math" panose="02040503050406030204" pitchFamily="18" charset="0"/>
                        <a:ea typeface="Cambria Math" panose="02040503050406030204" pitchFamily="18" charset="0"/>
                        <a:cs typeface="Times New Roman" panose="02020603050405020304" pitchFamily="18" charset="0"/>
                      </a:rPr>
                      <m:t>𝑠</m:t>
                    </m:r>
                  </m:oMath>
                </a14:m>
                <a:r>
                  <a:rPr lang="en-US" dirty="0">
                    <a:latin typeface="Times New Roman" panose="02020603050405020304" pitchFamily="18" charset="0"/>
                    <a:cs typeface="Times New Roman" panose="02020603050405020304" pitchFamily="18" charset="0"/>
                  </a:rPr>
                  <a:t> for a random challenge </a:t>
                </a:r>
                <a14:m>
                  <m:oMath xmlns:m="http://schemas.openxmlformats.org/officeDocument/2006/math">
                    <m:r>
                      <a:rPr lang="en-US" i="1" smtClean="0">
                        <a:latin typeface="Cambria Math" panose="02040503050406030204" pitchFamily="18" charset="0"/>
                        <a:cs typeface="Times New Roman" panose="02020603050405020304" pitchFamily="18" charset="0"/>
                      </a:rPr>
                      <m:t>𝑐</m:t>
                    </m:r>
                  </m:oMath>
                </a14:m>
                <a:r>
                  <a:rPr lang="en-US" dirty="0">
                    <a:latin typeface="Times New Roman" panose="02020603050405020304" pitchFamily="18" charset="0"/>
                    <a:cs typeface="Times New Roman" panose="02020603050405020304" pitchFamily="18" charset="0"/>
                  </a:rPr>
                  <a:t> without knowing the secret </a:t>
                </a:r>
                <a14:m>
                  <m:oMath xmlns:m="http://schemas.openxmlformats.org/officeDocument/2006/math">
                    <m:r>
                      <a:rPr lang="en-US" i="1" smtClean="0">
                        <a:latin typeface="Cambria Math" panose="02040503050406030204" pitchFamily="18" charset="0"/>
                        <a:cs typeface="Times New Roman" panose="02020603050405020304" pitchFamily="18" charset="0"/>
                      </a:rPr>
                      <m:t>𝑥</m:t>
                    </m:r>
                  </m:oMath>
                </a14:m>
                <a:r>
                  <a:rPr lang="en-US" dirty="0">
                    <a:latin typeface="Times New Roman" panose="02020603050405020304" pitchFamily="18" charset="0"/>
                    <a:cs typeface="Times New Roman" panose="02020603050405020304" pitchFamily="18" charset="0"/>
                  </a:rPr>
                  <a:t>. Being able to do that would imply solving the discrete logarithm problem in the EC group, which is considered computationally impossible.</a:t>
                </a:r>
              </a:p>
              <a:p>
                <a:pPr marL="285750" indent="-285750" algn="just">
                  <a:buFont typeface="Wingdings" panose="05000000000000000000" pitchFamily="2" charset="2"/>
                  <a:buChar char="Ø"/>
                </a:pPr>
                <a:endParaRPr lang="en-US" dirty="0">
                  <a:latin typeface="Times New Roman" panose="02020603050405020304" pitchFamily="18" charset="0"/>
                  <a:cs typeface="Times New Roman" panose="02020603050405020304" pitchFamily="18" charset="0"/>
                </a:endParaRPr>
              </a:p>
              <a:p>
                <a:pPr marL="285750" indent="-285750"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Zero Knowledge: The protocol never reveals any information about the secret </a:t>
                </a:r>
                <a14:m>
                  <m:oMath xmlns:m="http://schemas.openxmlformats.org/officeDocument/2006/math">
                    <m:r>
                      <a:rPr lang="en-US" i="1">
                        <a:latin typeface="Cambria Math" panose="02040503050406030204" pitchFamily="18" charset="0"/>
                        <a:cs typeface="Times New Roman" panose="02020603050405020304" pitchFamily="18" charset="0"/>
                      </a:rPr>
                      <m:t>𝑥</m:t>
                    </m:r>
                  </m:oMath>
                </a14:m>
                <a:r>
                  <a:rPr lang="en-US" dirty="0">
                    <a:latin typeface="Times New Roman" panose="02020603050405020304" pitchFamily="18" charset="0"/>
                    <a:cs typeface="Times New Roman" panose="02020603050405020304" pitchFamily="18" charset="0"/>
                  </a:rPr>
                  <a:t>. For every valid transcript </a:t>
                </a:r>
                <a14:m>
                  <m:oMath xmlns:m="http://schemas.openxmlformats.org/officeDocument/2006/math">
                    <m:r>
                      <a:rPr lang="en-US" b="0" i="1" smtClean="0">
                        <a:latin typeface="Cambria Math" panose="02040503050406030204" pitchFamily="18" charset="0"/>
                        <a:cs typeface="Times New Roman" panose="02020603050405020304" pitchFamily="18" charset="0"/>
                      </a:rPr>
                      <m:t>(</m:t>
                    </m:r>
                    <m:r>
                      <a:rPr lang="en-US" i="1">
                        <a:latin typeface="Cambria Math" panose="02040503050406030204" pitchFamily="18" charset="0"/>
                        <a:cs typeface="Times New Roman" panose="02020603050405020304" pitchFamily="18" charset="0"/>
                      </a:rPr>
                      <m:t>𝑅</m:t>
                    </m:r>
                    <m:r>
                      <a:rPr lang="en-US" b="0" i="1" smtClean="0">
                        <a:latin typeface="Cambria Math" panose="02040503050406030204" pitchFamily="18" charset="0"/>
                        <a:cs typeface="Times New Roman" panose="02020603050405020304" pitchFamily="18" charset="0"/>
                      </a:rPr>
                      <m:t>,  </m:t>
                    </m:r>
                    <m:r>
                      <a:rPr lang="en-US" i="1">
                        <a:latin typeface="Cambria Math" panose="02040503050406030204" pitchFamily="18" charset="0"/>
                        <a:cs typeface="Times New Roman" panose="02020603050405020304" pitchFamily="18" charset="0"/>
                      </a:rPr>
                      <m:t>𝑐</m:t>
                    </m:r>
                    <m:r>
                      <a:rPr lang="en-US" b="0" i="1" smtClean="0">
                        <a:latin typeface="Cambria Math" panose="02040503050406030204" pitchFamily="18" charset="0"/>
                        <a:cs typeface="Times New Roman" panose="02020603050405020304" pitchFamily="18" charset="0"/>
                      </a:rPr>
                      <m:t>,  </m:t>
                    </m:r>
                    <m:r>
                      <a:rPr lang="en-US" i="1">
                        <a:latin typeface="Cambria Math" panose="02040503050406030204" pitchFamily="18" charset="0"/>
                        <a:cs typeface="Times New Roman" panose="02020603050405020304" pitchFamily="18" charset="0"/>
                      </a:rPr>
                      <m:t>𝑠</m:t>
                    </m:r>
                    <m:r>
                      <a:rPr lang="en-US" b="0" i="1" smtClean="0">
                        <a:latin typeface="Cambria Math" panose="02040503050406030204" pitchFamily="18" charset="0"/>
                        <a:cs typeface="Times New Roman" panose="02020603050405020304" pitchFamily="18" charset="0"/>
                      </a:rPr>
                      <m:t>)</m:t>
                    </m:r>
                  </m:oMath>
                </a14:m>
                <a:r>
                  <a:rPr lang="en-US" dirty="0">
                    <a:latin typeface="Times New Roman" panose="02020603050405020304" pitchFamily="18" charset="0"/>
                    <a:cs typeface="Times New Roman" panose="02020603050405020304" pitchFamily="18" charset="0"/>
                  </a:rPr>
                  <a:t> there is a simulator capable of generating an identical transcript without ever needing to know the secret. Consequentially, not even a completely compromised server can extract any useful information about the user’s password.</a:t>
                </a:r>
              </a:p>
              <a:p>
                <a:pPr lvl="1" algn="ctr"/>
                <a:r>
                  <a:rPr lang="en-US" dirty="0">
                    <a:latin typeface="Times New Roman" panose="02020603050405020304" pitchFamily="18" charset="0"/>
                    <a:cs typeface="Times New Roman" panose="02020603050405020304" pitchFamily="18" charset="0"/>
                  </a:rPr>
                  <a:t>	</a:t>
                </a:r>
              </a:p>
            </p:txBody>
          </p:sp>
        </mc:Choice>
        <mc:Fallback xmlns="">
          <p:sp>
            <p:nvSpPr>
              <p:cNvPr id="17" name="TextBox 16">
                <a:extLst>
                  <a:ext uri="{FF2B5EF4-FFF2-40B4-BE49-F238E27FC236}">
                    <a16:creationId xmlns:a16="http://schemas.microsoft.com/office/drawing/2014/main" id="{965C36A9-E4F1-895E-3FFA-EA238951C45B}"/>
                  </a:ext>
                </a:extLst>
              </p:cNvPr>
              <p:cNvSpPr txBox="1">
                <a:spLocks noRot="1" noChangeAspect="1" noMove="1" noResize="1" noEditPoints="1" noAdjustHandles="1" noChangeArrowheads="1" noChangeShapeType="1" noTextEdit="1"/>
              </p:cNvSpPr>
              <p:nvPr/>
            </p:nvSpPr>
            <p:spPr>
              <a:xfrm>
                <a:off x="4249272" y="1488474"/>
                <a:ext cx="7315200" cy="4247317"/>
              </a:xfrm>
              <a:prstGeom prst="rect">
                <a:avLst/>
              </a:prstGeom>
              <a:blipFill>
                <a:blip r:embed="rId4"/>
                <a:stretch>
                  <a:fillRect l="-500" t="-717" r="-750"/>
                </a:stretch>
              </a:blipFill>
            </p:spPr>
            <p:txBody>
              <a:bodyPr/>
              <a:lstStyle/>
              <a:p>
                <a:r>
                  <a:rPr lang="en-US">
                    <a:noFill/>
                  </a:rPr>
                  <a:t> </a:t>
                </a:r>
              </a:p>
            </p:txBody>
          </p:sp>
        </mc:Fallback>
      </mc:AlternateContent>
      <p:sp>
        <p:nvSpPr>
          <p:cNvPr id="4" name="Title 1">
            <a:extLst>
              <a:ext uri="{FF2B5EF4-FFF2-40B4-BE49-F238E27FC236}">
                <a16:creationId xmlns:a16="http://schemas.microsoft.com/office/drawing/2014/main" id="{663219A1-EE04-D10E-5C33-C6ABC7CBB1C6}"/>
              </a:ext>
            </a:extLst>
          </p:cNvPr>
          <p:cNvSpPr txBox="1">
            <a:spLocks/>
          </p:cNvSpPr>
          <p:nvPr/>
        </p:nvSpPr>
        <p:spPr>
          <a:xfrm>
            <a:off x="87923" y="3232211"/>
            <a:ext cx="4035670" cy="1682749"/>
          </a:xfrm>
          <a:prstGeom prst="rect">
            <a:avLst/>
          </a:prstGeom>
        </p:spPr>
        <p:txBody>
          <a:bodyPr vert="horz" lIns="91440" tIns="45720" rIns="91440" bIns="45720" rtlCol="0" anchor="t">
            <a:noAutofit/>
          </a:bodyPr>
          <a:lstStyle>
            <a:lvl1pPr algn="l" defTabSz="914400" rtl="0" eaLnBrk="1" latinLnBrk="0" hangingPunct="1">
              <a:lnSpc>
                <a:spcPct val="80000"/>
              </a:lnSpc>
              <a:spcBef>
                <a:spcPct val="0"/>
              </a:spcBef>
              <a:buNone/>
              <a:defRPr sz="5000" kern="1200" cap="all" baseline="0">
                <a:solidFill>
                  <a:schemeClr val="tx2"/>
                </a:solidFill>
                <a:latin typeface="+mj-lt"/>
                <a:ea typeface="+mj-ea"/>
                <a:cs typeface="+mj-cs"/>
              </a:defRPr>
            </a:lvl1pPr>
          </a:lstStyle>
          <a:p>
            <a:r>
              <a:rPr lang="en-US" sz="3500" dirty="0"/>
              <a:t>Security properties</a:t>
            </a:r>
          </a:p>
        </p:txBody>
      </p:sp>
    </p:spTree>
    <p:extLst>
      <p:ext uri="{BB962C8B-B14F-4D97-AF65-F5344CB8AC3E}">
        <p14:creationId xmlns:p14="http://schemas.microsoft.com/office/powerpoint/2010/main" val="24551303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262C4D-3F97-1652-3A4A-C989986D9B65}"/>
              </a:ext>
            </a:extLst>
          </p:cNvPr>
          <p:cNvSpPr>
            <a:spLocks noGrp="1"/>
          </p:cNvSpPr>
          <p:nvPr>
            <p:ph type="title"/>
          </p:nvPr>
        </p:nvSpPr>
        <p:spPr>
          <a:xfrm>
            <a:off x="87221" y="1346290"/>
            <a:ext cx="4846320" cy="1682749"/>
          </a:xfrm>
        </p:spPr>
        <p:txBody>
          <a:bodyPr/>
          <a:lstStyle/>
          <a:p>
            <a:r>
              <a:rPr lang="en-US" dirty="0">
                <a:solidFill>
                  <a:schemeClr val="accent5">
                    <a:lumMod val="50000"/>
                  </a:schemeClr>
                </a:solidFill>
              </a:rPr>
              <a:t>5. Wireshark captured traffic</a:t>
            </a:r>
          </a:p>
        </p:txBody>
      </p:sp>
      <p:sp>
        <p:nvSpPr>
          <p:cNvPr id="12" name="Footer Placeholder 11">
            <a:extLst>
              <a:ext uri="{FF2B5EF4-FFF2-40B4-BE49-F238E27FC236}">
                <a16:creationId xmlns:a16="http://schemas.microsoft.com/office/drawing/2014/main" id="{BEC1259C-0A50-37A0-081E-E36D391D7A08}"/>
              </a:ext>
            </a:extLst>
          </p:cNvPr>
          <p:cNvSpPr>
            <a:spLocks noGrp="1"/>
          </p:cNvSpPr>
          <p:nvPr>
            <p:ph type="ftr" sz="quarter" idx="11"/>
          </p:nvPr>
        </p:nvSpPr>
        <p:spPr/>
        <p:txBody>
          <a:bodyPr/>
          <a:lstStyle/>
          <a:p>
            <a:r>
              <a:rPr lang="en-US" dirty="0" err="1"/>
              <a:t>SilentVault</a:t>
            </a:r>
            <a:r>
              <a:rPr lang="en-US" dirty="0"/>
              <a:t> – A Password Based Zero Knowledge File Server</a:t>
            </a:r>
          </a:p>
        </p:txBody>
      </p:sp>
      <p:sp>
        <p:nvSpPr>
          <p:cNvPr id="13" name="Slide Number Placeholder 12">
            <a:extLst>
              <a:ext uri="{FF2B5EF4-FFF2-40B4-BE49-F238E27FC236}">
                <a16:creationId xmlns:a16="http://schemas.microsoft.com/office/drawing/2014/main" id="{208378E4-1369-B8BE-D097-D0A68C992F75}"/>
              </a:ext>
            </a:extLst>
          </p:cNvPr>
          <p:cNvSpPr>
            <a:spLocks noGrp="1"/>
          </p:cNvSpPr>
          <p:nvPr>
            <p:ph type="sldNum" sz="quarter" idx="12"/>
          </p:nvPr>
        </p:nvSpPr>
        <p:spPr/>
        <p:txBody>
          <a:bodyPr/>
          <a:lstStyle/>
          <a:p>
            <a:fld id="{5BFCF61C-3B18-4C03-8326-CC3B32D710C9}" type="slidenum">
              <a:rPr lang="en-US" smtClean="0"/>
              <a:pPr/>
              <a:t>11</a:t>
            </a:fld>
            <a:endParaRPr lang="en-US"/>
          </a:p>
        </p:txBody>
      </p:sp>
      <p:pic>
        <p:nvPicPr>
          <p:cNvPr id="3" name="Picture 2">
            <a:extLst>
              <a:ext uri="{FF2B5EF4-FFF2-40B4-BE49-F238E27FC236}">
                <a16:creationId xmlns:a16="http://schemas.microsoft.com/office/drawing/2014/main" id="{F17C7DC5-917B-9792-EE9A-DB58CDE77495}"/>
              </a:ext>
            </a:extLst>
          </p:cNvPr>
          <p:cNvPicPr>
            <a:picLocks noChangeAspect="1"/>
          </p:cNvPicPr>
          <p:nvPr/>
        </p:nvPicPr>
        <p:blipFill>
          <a:blip r:embed="rId2"/>
          <a:stretch>
            <a:fillRect/>
          </a:stretch>
        </p:blipFill>
        <p:spPr>
          <a:xfrm>
            <a:off x="2240280" y="-8686"/>
            <a:ext cx="942588" cy="982416"/>
          </a:xfrm>
          <a:prstGeom prst="rect">
            <a:avLst/>
          </a:prstGeom>
        </p:spPr>
      </p:pic>
      <p:pic>
        <p:nvPicPr>
          <p:cNvPr id="4" name="Picture 3">
            <a:extLst>
              <a:ext uri="{FF2B5EF4-FFF2-40B4-BE49-F238E27FC236}">
                <a16:creationId xmlns:a16="http://schemas.microsoft.com/office/drawing/2014/main" id="{D5EFF67E-4637-3727-7571-762A49861957}"/>
              </a:ext>
            </a:extLst>
          </p:cNvPr>
          <p:cNvPicPr>
            <a:picLocks noChangeAspect="1"/>
          </p:cNvPicPr>
          <p:nvPr/>
        </p:nvPicPr>
        <p:blipFill>
          <a:blip r:embed="rId3"/>
          <a:stretch>
            <a:fillRect/>
          </a:stretch>
        </p:blipFill>
        <p:spPr>
          <a:xfrm>
            <a:off x="3111358" y="7115"/>
            <a:ext cx="1137914" cy="1137914"/>
          </a:xfrm>
          <a:prstGeom prst="rect">
            <a:avLst/>
          </a:prstGeom>
        </p:spPr>
      </p:pic>
      <p:pic>
        <p:nvPicPr>
          <p:cNvPr id="6" name="Picture 5">
            <a:extLst>
              <a:ext uri="{FF2B5EF4-FFF2-40B4-BE49-F238E27FC236}">
                <a16:creationId xmlns:a16="http://schemas.microsoft.com/office/drawing/2014/main" id="{509E1E83-86D4-B612-8D52-4CFC596D13DE}"/>
              </a:ext>
            </a:extLst>
          </p:cNvPr>
          <p:cNvPicPr>
            <a:picLocks noChangeAspect="1"/>
          </p:cNvPicPr>
          <p:nvPr/>
        </p:nvPicPr>
        <p:blipFill>
          <a:blip r:embed="rId4"/>
          <a:stretch>
            <a:fillRect/>
          </a:stretch>
        </p:blipFill>
        <p:spPr>
          <a:xfrm>
            <a:off x="4848958" y="576072"/>
            <a:ext cx="6362700" cy="5915025"/>
          </a:xfrm>
          <a:prstGeom prst="rect">
            <a:avLst/>
          </a:prstGeom>
        </p:spPr>
      </p:pic>
      <p:pic>
        <p:nvPicPr>
          <p:cNvPr id="10" name="Picture 9">
            <a:extLst>
              <a:ext uri="{FF2B5EF4-FFF2-40B4-BE49-F238E27FC236}">
                <a16:creationId xmlns:a16="http://schemas.microsoft.com/office/drawing/2014/main" id="{4BBAAD57-A694-9BAE-DB5D-245217087633}"/>
              </a:ext>
            </a:extLst>
          </p:cNvPr>
          <p:cNvPicPr>
            <a:picLocks noChangeAspect="1"/>
          </p:cNvPicPr>
          <p:nvPr/>
        </p:nvPicPr>
        <p:blipFill>
          <a:blip r:embed="rId5"/>
          <a:stretch>
            <a:fillRect/>
          </a:stretch>
        </p:blipFill>
        <p:spPr>
          <a:xfrm>
            <a:off x="690952" y="3446585"/>
            <a:ext cx="2572109" cy="2800741"/>
          </a:xfrm>
          <a:prstGeom prst="rect">
            <a:avLst/>
          </a:prstGeom>
        </p:spPr>
      </p:pic>
    </p:spTree>
    <p:extLst>
      <p:ext uri="{BB962C8B-B14F-4D97-AF65-F5344CB8AC3E}">
        <p14:creationId xmlns:p14="http://schemas.microsoft.com/office/powerpoint/2010/main" val="6163551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AB582-298F-5ADA-C3CF-F72CE8A01C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795EAC-8F8B-16F8-7D41-FF375144D78B}"/>
              </a:ext>
            </a:extLst>
          </p:cNvPr>
          <p:cNvSpPr>
            <a:spLocks noGrp="1"/>
          </p:cNvSpPr>
          <p:nvPr>
            <p:ph type="title"/>
          </p:nvPr>
        </p:nvSpPr>
        <p:spPr>
          <a:xfrm>
            <a:off x="87221" y="1346290"/>
            <a:ext cx="4846320" cy="1682749"/>
          </a:xfrm>
        </p:spPr>
        <p:txBody>
          <a:bodyPr/>
          <a:lstStyle/>
          <a:p>
            <a:r>
              <a:rPr lang="en-US" dirty="0">
                <a:solidFill>
                  <a:schemeClr val="accent5">
                    <a:lumMod val="50000"/>
                  </a:schemeClr>
                </a:solidFill>
              </a:rPr>
              <a:t>5. Wireshark captured traffic</a:t>
            </a:r>
          </a:p>
        </p:txBody>
      </p:sp>
      <p:sp>
        <p:nvSpPr>
          <p:cNvPr id="12" name="Footer Placeholder 11">
            <a:extLst>
              <a:ext uri="{FF2B5EF4-FFF2-40B4-BE49-F238E27FC236}">
                <a16:creationId xmlns:a16="http://schemas.microsoft.com/office/drawing/2014/main" id="{6E403722-A823-D7A8-FD05-283C660A5F9E}"/>
              </a:ext>
            </a:extLst>
          </p:cNvPr>
          <p:cNvSpPr>
            <a:spLocks noGrp="1"/>
          </p:cNvSpPr>
          <p:nvPr>
            <p:ph type="ftr" sz="quarter" idx="11"/>
          </p:nvPr>
        </p:nvSpPr>
        <p:spPr/>
        <p:txBody>
          <a:bodyPr/>
          <a:lstStyle/>
          <a:p>
            <a:r>
              <a:rPr lang="en-US" dirty="0" err="1"/>
              <a:t>SilentVault</a:t>
            </a:r>
            <a:r>
              <a:rPr lang="en-US" dirty="0"/>
              <a:t> – A Password Based Zero Knowledge File Server</a:t>
            </a:r>
          </a:p>
        </p:txBody>
      </p:sp>
      <p:sp>
        <p:nvSpPr>
          <p:cNvPr id="13" name="Slide Number Placeholder 12">
            <a:extLst>
              <a:ext uri="{FF2B5EF4-FFF2-40B4-BE49-F238E27FC236}">
                <a16:creationId xmlns:a16="http://schemas.microsoft.com/office/drawing/2014/main" id="{673ECE2D-7598-F4EE-770E-FDFA78D1CB4C}"/>
              </a:ext>
            </a:extLst>
          </p:cNvPr>
          <p:cNvSpPr>
            <a:spLocks noGrp="1"/>
          </p:cNvSpPr>
          <p:nvPr>
            <p:ph type="sldNum" sz="quarter" idx="12"/>
          </p:nvPr>
        </p:nvSpPr>
        <p:spPr/>
        <p:txBody>
          <a:bodyPr/>
          <a:lstStyle/>
          <a:p>
            <a:fld id="{5BFCF61C-3B18-4C03-8326-CC3B32D710C9}" type="slidenum">
              <a:rPr lang="en-US" smtClean="0"/>
              <a:pPr/>
              <a:t>12</a:t>
            </a:fld>
            <a:endParaRPr lang="en-US"/>
          </a:p>
        </p:txBody>
      </p:sp>
      <p:pic>
        <p:nvPicPr>
          <p:cNvPr id="3" name="Picture 2">
            <a:extLst>
              <a:ext uri="{FF2B5EF4-FFF2-40B4-BE49-F238E27FC236}">
                <a16:creationId xmlns:a16="http://schemas.microsoft.com/office/drawing/2014/main" id="{B888399E-598D-AE35-DAE0-18E2807CFEA2}"/>
              </a:ext>
            </a:extLst>
          </p:cNvPr>
          <p:cNvPicPr>
            <a:picLocks noChangeAspect="1"/>
          </p:cNvPicPr>
          <p:nvPr/>
        </p:nvPicPr>
        <p:blipFill>
          <a:blip r:embed="rId2"/>
          <a:stretch>
            <a:fillRect/>
          </a:stretch>
        </p:blipFill>
        <p:spPr>
          <a:xfrm>
            <a:off x="2240280" y="-8686"/>
            <a:ext cx="942588" cy="982416"/>
          </a:xfrm>
          <a:prstGeom prst="rect">
            <a:avLst/>
          </a:prstGeom>
        </p:spPr>
      </p:pic>
      <p:pic>
        <p:nvPicPr>
          <p:cNvPr id="4" name="Picture 3">
            <a:extLst>
              <a:ext uri="{FF2B5EF4-FFF2-40B4-BE49-F238E27FC236}">
                <a16:creationId xmlns:a16="http://schemas.microsoft.com/office/drawing/2014/main" id="{258FAA4D-3DDD-0AFA-EFCD-1187D3257FEF}"/>
              </a:ext>
            </a:extLst>
          </p:cNvPr>
          <p:cNvPicPr>
            <a:picLocks noChangeAspect="1"/>
          </p:cNvPicPr>
          <p:nvPr/>
        </p:nvPicPr>
        <p:blipFill>
          <a:blip r:embed="rId3"/>
          <a:stretch>
            <a:fillRect/>
          </a:stretch>
        </p:blipFill>
        <p:spPr>
          <a:xfrm>
            <a:off x="3111358" y="7115"/>
            <a:ext cx="1137914" cy="1137914"/>
          </a:xfrm>
          <a:prstGeom prst="rect">
            <a:avLst/>
          </a:prstGeom>
        </p:spPr>
      </p:pic>
      <p:pic>
        <p:nvPicPr>
          <p:cNvPr id="10" name="Picture 9">
            <a:extLst>
              <a:ext uri="{FF2B5EF4-FFF2-40B4-BE49-F238E27FC236}">
                <a16:creationId xmlns:a16="http://schemas.microsoft.com/office/drawing/2014/main" id="{E10A7163-EED4-06BD-5D7B-543E2A6FAEAE}"/>
              </a:ext>
            </a:extLst>
          </p:cNvPr>
          <p:cNvPicPr>
            <a:picLocks noChangeAspect="1"/>
          </p:cNvPicPr>
          <p:nvPr/>
        </p:nvPicPr>
        <p:blipFill>
          <a:blip r:embed="rId4"/>
          <a:stretch>
            <a:fillRect/>
          </a:stretch>
        </p:blipFill>
        <p:spPr>
          <a:xfrm>
            <a:off x="690952" y="3446585"/>
            <a:ext cx="2572109" cy="2800741"/>
          </a:xfrm>
          <a:prstGeom prst="rect">
            <a:avLst/>
          </a:prstGeom>
        </p:spPr>
      </p:pic>
      <p:pic>
        <p:nvPicPr>
          <p:cNvPr id="7" name="Picture 6">
            <a:extLst>
              <a:ext uri="{FF2B5EF4-FFF2-40B4-BE49-F238E27FC236}">
                <a16:creationId xmlns:a16="http://schemas.microsoft.com/office/drawing/2014/main" id="{24022472-B4D7-0204-1D86-007A27D66DF2}"/>
              </a:ext>
            </a:extLst>
          </p:cNvPr>
          <p:cNvPicPr>
            <a:picLocks noChangeAspect="1"/>
          </p:cNvPicPr>
          <p:nvPr/>
        </p:nvPicPr>
        <p:blipFill>
          <a:blip r:embed="rId5"/>
          <a:stretch>
            <a:fillRect/>
          </a:stretch>
        </p:blipFill>
        <p:spPr>
          <a:xfrm>
            <a:off x="4655422" y="916669"/>
            <a:ext cx="6429375" cy="4495800"/>
          </a:xfrm>
          <a:prstGeom prst="rect">
            <a:avLst/>
          </a:prstGeom>
        </p:spPr>
      </p:pic>
    </p:spTree>
    <p:extLst>
      <p:ext uri="{BB962C8B-B14F-4D97-AF65-F5344CB8AC3E}">
        <p14:creationId xmlns:p14="http://schemas.microsoft.com/office/powerpoint/2010/main" val="23742455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6CC968-1462-11C2-B939-72766C56BD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79AD73-8298-BD6B-0C3C-5E1244873D14}"/>
              </a:ext>
            </a:extLst>
          </p:cNvPr>
          <p:cNvSpPr>
            <a:spLocks noGrp="1"/>
          </p:cNvSpPr>
          <p:nvPr>
            <p:ph type="title"/>
          </p:nvPr>
        </p:nvSpPr>
        <p:spPr>
          <a:xfrm>
            <a:off x="87221" y="1346290"/>
            <a:ext cx="4846320" cy="1682749"/>
          </a:xfrm>
        </p:spPr>
        <p:txBody>
          <a:bodyPr/>
          <a:lstStyle/>
          <a:p>
            <a:r>
              <a:rPr lang="en-US" dirty="0">
                <a:solidFill>
                  <a:schemeClr val="accent5">
                    <a:lumMod val="50000"/>
                  </a:schemeClr>
                </a:solidFill>
              </a:rPr>
              <a:t>5. Wireshark captured traffic</a:t>
            </a:r>
          </a:p>
        </p:txBody>
      </p:sp>
      <p:sp>
        <p:nvSpPr>
          <p:cNvPr id="12" name="Footer Placeholder 11">
            <a:extLst>
              <a:ext uri="{FF2B5EF4-FFF2-40B4-BE49-F238E27FC236}">
                <a16:creationId xmlns:a16="http://schemas.microsoft.com/office/drawing/2014/main" id="{A27854E8-F6CA-808F-C433-26384524FDCA}"/>
              </a:ext>
            </a:extLst>
          </p:cNvPr>
          <p:cNvSpPr>
            <a:spLocks noGrp="1"/>
          </p:cNvSpPr>
          <p:nvPr>
            <p:ph type="ftr" sz="quarter" idx="11"/>
          </p:nvPr>
        </p:nvSpPr>
        <p:spPr/>
        <p:txBody>
          <a:bodyPr/>
          <a:lstStyle/>
          <a:p>
            <a:r>
              <a:rPr lang="en-US" dirty="0" err="1"/>
              <a:t>SilentVault</a:t>
            </a:r>
            <a:r>
              <a:rPr lang="en-US" dirty="0"/>
              <a:t> – A Password Based Zero Knowledge File Server</a:t>
            </a:r>
          </a:p>
        </p:txBody>
      </p:sp>
      <p:sp>
        <p:nvSpPr>
          <p:cNvPr id="13" name="Slide Number Placeholder 12">
            <a:extLst>
              <a:ext uri="{FF2B5EF4-FFF2-40B4-BE49-F238E27FC236}">
                <a16:creationId xmlns:a16="http://schemas.microsoft.com/office/drawing/2014/main" id="{BB6658BE-9B61-384B-3AD3-7DC47A6A0713}"/>
              </a:ext>
            </a:extLst>
          </p:cNvPr>
          <p:cNvSpPr>
            <a:spLocks noGrp="1"/>
          </p:cNvSpPr>
          <p:nvPr>
            <p:ph type="sldNum" sz="quarter" idx="12"/>
          </p:nvPr>
        </p:nvSpPr>
        <p:spPr/>
        <p:txBody>
          <a:bodyPr/>
          <a:lstStyle/>
          <a:p>
            <a:fld id="{5BFCF61C-3B18-4C03-8326-CC3B32D710C9}" type="slidenum">
              <a:rPr lang="en-US" smtClean="0"/>
              <a:pPr/>
              <a:t>13</a:t>
            </a:fld>
            <a:endParaRPr lang="en-US"/>
          </a:p>
        </p:txBody>
      </p:sp>
      <p:pic>
        <p:nvPicPr>
          <p:cNvPr id="3" name="Picture 2">
            <a:extLst>
              <a:ext uri="{FF2B5EF4-FFF2-40B4-BE49-F238E27FC236}">
                <a16:creationId xmlns:a16="http://schemas.microsoft.com/office/drawing/2014/main" id="{76CFE75F-D72E-CCE7-4A5B-8D58170D44B6}"/>
              </a:ext>
            </a:extLst>
          </p:cNvPr>
          <p:cNvPicPr>
            <a:picLocks noChangeAspect="1"/>
          </p:cNvPicPr>
          <p:nvPr/>
        </p:nvPicPr>
        <p:blipFill>
          <a:blip r:embed="rId2"/>
          <a:stretch>
            <a:fillRect/>
          </a:stretch>
        </p:blipFill>
        <p:spPr>
          <a:xfrm>
            <a:off x="2240280" y="-8686"/>
            <a:ext cx="942588" cy="982416"/>
          </a:xfrm>
          <a:prstGeom prst="rect">
            <a:avLst/>
          </a:prstGeom>
        </p:spPr>
      </p:pic>
      <p:pic>
        <p:nvPicPr>
          <p:cNvPr id="4" name="Picture 3">
            <a:extLst>
              <a:ext uri="{FF2B5EF4-FFF2-40B4-BE49-F238E27FC236}">
                <a16:creationId xmlns:a16="http://schemas.microsoft.com/office/drawing/2014/main" id="{666A6652-F8CC-D8C4-DF12-45B8BCF1E60B}"/>
              </a:ext>
            </a:extLst>
          </p:cNvPr>
          <p:cNvPicPr>
            <a:picLocks noChangeAspect="1"/>
          </p:cNvPicPr>
          <p:nvPr/>
        </p:nvPicPr>
        <p:blipFill>
          <a:blip r:embed="rId3"/>
          <a:stretch>
            <a:fillRect/>
          </a:stretch>
        </p:blipFill>
        <p:spPr>
          <a:xfrm>
            <a:off x="3111358" y="7115"/>
            <a:ext cx="1137914" cy="1137914"/>
          </a:xfrm>
          <a:prstGeom prst="rect">
            <a:avLst/>
          </a:prstGeom>
        </p:spPr>
      </p:pic>
      <p:pic>
        <p:nvPicPr>
          <p:cNvPr id="10" name="Picture 9">
            <a:extLst>
              <a:ext uri="{FF2B5EF4-FFF2-40B4-BE49-F238E27FC236}">
                <a16:creationId xmlns:a16="http://schemas.microsoft.com/office/drawing/2014/main" id="{5DCF9970-A706-C9D1-B567-19DED35B8853}"/>
              </a:ext>
            </a:extLst>
          </p:cNvPr>
          <p:cNvPicPr>
            <a:picLocks noChangeAspect="1"/>
          </p:cNvPicPr>
          <p:nvPr/>
        </p:nvPicPr>
        <p:blipFill>
          <a:blip r:embed="rId4"/>
          <a:stretch>
            <a:fillRect/>
          </a:stretch>
        </p:blipFill>
        <p:spPr>
          <a:xfrm>
            <a:off x="690952" y="3446585"/>
            <a:ext cx="2572109" cy="2800741"/>
          </a:xfrm>
          <a:prstGeom prst="rect">
            <a:avLst/>
          </a:prstGeom>
        </p:spPr>
      </p:pic>
      <p:pic>
        <p:nvPicPr>
          <p:cNvPr id="15" name="Picture 14">
            <a:extLst>
              <a:ext uri="{FF2B5EF4-FFF2-40B4-BE49-F238E27FC236}">
                <a16:creationId xmlns:a16="http://schemas.microsoft.com/office/drawing/2014/main" id="{3FC59990-C947-E61E-3F4F-6053EB153420}"/>
              </a:ext>
            </a:extLst>
          </p:cNvPr>
          <p:cNvPicPr>
            <a:picLocks noChangeAspect="1"/>
          </p:cNvPicPr>
          <p:nvPr/>
        </p:nvPicPr>
        <p:blipFill>
          <a:blip r:embed="rId5"/>
          <a:stretch>
            <a:fillRect/>
          </a:stretch>
        </p:blipFill>
        <p:spPr>
          <a:xfrm>
            <a:off x="5550408" y="1854473"/>
            <a:ext cx="4572000" cy="2762250"/>
          </a:xfrm>
          <a:prstGeom prst="rect">
            <a:avLst/>
          </a:prstGeom>
        </p:spPr>
      </p:pic>
      <p:sp>
        <p:nvSpPr>
          <p:cNvPr id="20" name="TextBox 19">
            <a:extLst>
              <a:ext uri="{FF2B5EF4-FFF2-40B4-BE49-F238E27FC236}">
                <a16:creationId xmlns:a16="http://schemas.microsoft.com/office/drawing/2014/main" id="{F2106EDE-17D1-2F73-EAF3-35C1B68CB747}"/>
              </a:ext>
            </a:extLst>
          </p:cNvPr>
          <p:cNvSpPr txBox="1"/>
          <p:nvPr/>
        </p:nvSpPr>
        <p:spPr>
          <a:xfrm>
            <a:off x="6162287" y="1145029"/>
            <a:ext cx="3560886" cy="646331"/>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Payload Header for sending salt and public to server</a:t>
            </a:r>
          </a:p>
        </p:txBody>
      </p:sp>
    </p:spTree>
    <p:extLst>
      <p:ext uri="{BB962C8B-B14F-4D97-AF65-F5344CB8AC3E}">
        <p14:creationId xmlns:p14="http://schemas.microsoft.com/office/powerpoint/2010/main" val="8874876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1CC21-54C9-8317-A312-F5F527A038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1BF566-A9A6-2289-1381-7C69D2D38FEB}"/>
              </a:ext>
            </a:extLst>
          </p:cNvPr>
          <p:cNvSpPr>
            <a:spLocks noGrp="1"/>
          </p:cNvSpPr>
          <p:nvPr>
            <p:ph type="title"/>
          </p:nvPr>
        </p:nvSpPr>
        <p:spPr>
          <a:xfrm>
            <a:off x="87221" y="1346290"/>
            <a:ext cx="4846320" cy="1682749"/>
          </a:xfrm>
        </p:spPr>
        <p:txBody>
          <a:bodyPr/>
          <a:lstStyle/>
          <a:p>
            <a:r>
              <a:rPr lang="en-US" dirty="0">
                <a:solidFill>
                  <a:schemeClr val="accent5">
                    <a:lumMod val="50000"/>
                  </a:schemeClr>
                </a:solidFill>
              </a:rPr>
              <a:t>5. Wireshark captured traffic</a:t>
            </a:r>
          </a:p>
        </p:txBody>
      </p:sp>
      <p:sp>
        <p:nvSpPr>
          <p:cNvPr id="12" name="Footer Placeholder 11">
            <a:extLst>
              <a:ext uri="{FF2B5EF4-FFF2-40B4-BE49-F238E27FC236}">
                <a16:creationId xmlns:a16="http://schemas.microsoft.com/office/drawing/2014/main" id="{7046927A-77C3-03DB-5C13-0E1B3AD0E0F2}"/>
              </a:ext>
            </a:extLst>
          </p:cNvPr>
          <p:cNvSpPr>
            <a:spLocks noGrp="1"/>
          </p:cNvSpPr>
          <p:nvPr>
            <p:ph type="ftr" sz="quarter" idx="11"/>
          </p:nvPr>
        </p:nvSpPr>
        <p:spPr/>
        <p:txBody>
          <a:bodyPr/>
          <a:lstStyle/>
          <a:p>
            <a:r>
              <a:rPr lang="en-US" dirty="0" err="1"/>
              <a:t>SilentVault</a:t>
            </a:r>
            <a:r>
              <a:rPr lang="en-US" dirty="0"/>
              <a:t> – A Password Based Zero Knowledge File Server</a:t>
            </a:r>
          </a:p>
        </p:txBody>
      </p:sp>
      <p:sp>
        <p:nvSpPr>
          <p:cNvPr id="13" name="Slide Number Placeholder 12">
            <a:extLst>
              <a:ext uri="{FF2B5EF4-FFF2-40B4-BE49-F238E27FC236}">
                <a16:creationId xmlns:a16="http://schemas.microsoft.com/office/drawing/2014/main" id="{060861FC-11A5-4CB1-5CA8-D435850ADF0E}"/>
              </a:ext>
            </a:extLst>
          </p:cNvPr>
          <p:cNvSpPr>
            <a:spLocks noGrp="1"/>
          </p:cNvSpPr>
          <p:nvPr>
            <p:ph type="sldNum" sz="quarter" idx="12"/>
          </p:nvPr>
        </p:nvSpPr>
        <p:spPr/>
        <p:txBody>
          <a:bodyPr/>
          <a:lstStyle/>
          <a:p>
            <a:fld id="{5BFCF61C-3B18-4C03-8326-CC3B32D710C9}" type="slidenum">
              <a:rPr lang="en-US" smtClean="0"/>
              <a:pPr/>
              <a:t>14</a:t>
            </a:fld>
            <a:endParaRPr lang="en-US"/>
          </a:p>
        </p:txBody>
      </p:sp>
      <p:pic>
        <p:nvPicPr>
          <p:cNvPr id="3" name="Picture 2">
            <a:extLst>
              <a:ext uri="{FF2B5EF4-FFF2-40B4-BE49-F238E27FC236}">
                <a16:creationId xmlns:a16="http://schemas.microsoft.com/office/drawing/2014/main" id="{11749265-64F8-2FAA-AFD3-F32CC44926F3}"/>
              </a:ext>
            </a:extLst>
          </p:cNvPr>
          <p:cNvPicPr>
            <a:picLocks noChangeAspect="1"/>
          </p:cNvPicPr>
          <p:nvPr/>
        </p:nvPicPr>
        <p:blipFill>
          <a:blip r:embed="rId2"/>
          <a:stretch>
            <a:fillRect/>
          </a:stretch>
        </p:blipFill>
        <p:spPr>
          <a:xfrm>
            <a:off x="2240280" y="-8686"/>
            <a:ext cx="942588" cy="982416"/>
          </a:xfrm>
          <a:prstGeom prst="rect">
            <a:avLst/>
          </a:prstGeom>
        </p:spPr>
      </p:pic>
      <p:pic>
        <p:nvPicPr>
          <p:cNvPr id="4" name="Picture 3">
            <a:extLst>
              <a:ext uri="{FF2B5EF4-FFF2-40B4-BE49-F238E27FC236}">
                <a16:creationId xmlns:a16="http://schemas.microsoft.com/office/drawing/2014/main" id="{2ACAE58E-3508-2BF2-BB9B-85A174375A54}"/>
              </a:ext>
            </a:extLst>
          </p:cNvPr>
          <p:cNvPicPr>
            <a:picLocks noChangeAspect="1"/>
          </p:cNvPicPr>
          <p:nvPr/>
        </p:nvPicPr>
        <p:blipFill>
          <a:blip r:embed="rId3"/>
          <a:stretch>
            <a:fillRect/>
          </a:stretch>
        </p:blipFill>
        <p:spPr>
          <a:xfrm>
            <a:off x="3111358" y="7115"/>
            <a:ext cx="1137914" cy="1137914"/>
          </a:xfrm>
          <a:prstGeom prst="rect">
            <a:avLst/>
          </a:prstGeom>
        </p:spPr>
      </p:pic>
      <p:pic>
        <p:nvPicPr>
          <p:cNvPr id="10" name="Picture 9">
            <a:extLst>
              <a:ext uri="{FF2B5EF4-FFF2-40B4-BE49-F238E27FC236}">
                <a16:creationId xmlns:a16="http://schemas.microsoft.com/office/drawing/2014/main" id="{348A5080-1E0E-437B-3851-3A4FE66CF608}"/>
              </a:ext>
            </a:extLst>
          </p:cNvPr>
          <p:cNvPicPr>
            <a:picLocks noChangeAspect="1"/>
          </p:cNvPicPr>
          <p:nvPr/>
        </p:nvPicPr>
        <p:blipFill>
          <a:blip r:embed="rId4"/>
          <a:stretch>
            <a:fillRect/>
          </a:stretch>
        </p:blipFill>
        <p:spPr>
          <a:xfrm>
            <a:off x="690952" y="3446585"/>
            <a:ext cx="2572109" cy="2800741"/>
          </a:xfrm>
          <a:prstGeom prst="rect">
            <a:avLst/>
          </a:prstGeom>
        </p:spPr>
      </p:pic>
      <p:pic>
        <p:nvPicPr>
          <p:cNvPr id="19" name="Picture 18">
            <a:extLst>
              <a:ext uri="{FF2B5EF4-FFF2-40B4-BE49-F238E27FC236}">
                <a16:creationId xmlns:a16="http://schemas.microsoft.com/office/drawing/2014/main" id="{1A0AE2D5-CD0C-13B0-4DE7-FBC4920ECD6F}"/>
              </a:ext>
            </a:extLst>
          </p:cNvPr>
          <p:cNvPicPr>
            <a:picLocks noChangeAspect="1"/>
          </p:cNvPicPr>
          <p:nvPr/>
        </p:nvPicPr>
        <p:blipFill>
          <a:blip r:embed="rId5"/>
          <a:stretch>
            <a:fillRect/>
          </a:stretch>
        </p:blipFill>
        <p:spPr>
          <a:xfrm>
            <a:off x="5797407" y="2220791"/>
            <a:ext cx="4572000" cy="2000250"/>
          </a:xfrm>
          <a:prstGeom prst="rect">
            <a:avLst/>
          </a:prstGeom>
        </p:spPr>
      </p:pic>
      <p:sp>
        <p:nvSpPr>
          <p:cNvPr id="6" name="TextBox 5">
            <a:extLst>
              <a:ext uri="{FF2B5EF4-FFF2-40B4-BE49-F238E27FC236}">
                <a16:creationId xmlns:a16="http://schemas.microsoft.com/office/drawing/2014/main" id="{710BEBB8-01A4-999C-9286-F2443F8DF77F}"/>
              </a:ext>
            </a:extLst>
          </p:cNvPr>
          <p:cNvSpPr txBox="1"/>
          <p:nvPr/>
        </p:nvSpPr>
        <p:spPr>
          <a:xfrm>
            <a:off x="6365630" y="1346290"/>
            <a:ext cx="3560886" cy="646331"/>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Payload Header for getting a challenge from the server</a:t>
            </a:r>
          </a:p>
        </p:txBody>
      </p:sp>
    </p:spTree>
    <p:extLst>
      <p:ext uri="{BB962C8B-B14F-4D97-AF65-F5344CB8AC3E}">
        <p14:creationId xmlns:p14="http://schemas.microsoft.com/office/powerpoint/2010/main" val="4337747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CD70B-A661-C50D-6729-52C4D3FCD5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AFB104-08DE-20E8-B1E3-400321038180}"/>
              </a:ext>
            </a:extLst>
          </p:cNvPr>
          <p:cNvSpPr>
            <a:spLocks noGrp="1"/>
          </p:cNvSpPr>
          <p:nvPr>
            <p:ph type="title"/>
          </p:nvPr>
        </p:nvSpPr>
        <p:spPr>
          <a:xfrm>
            <a:off x="87221" y="1346290"/>
            <a:ext cx="4846320" cy="1682749"/>
          </a:xfrm>
        </p:spPr>
        <p:txBody>
          <a:bodyPr/>
          <a:lstStyle/>
          <a:p>
            <a:r>
              <a:rPr lang="en-US" dirty="0">
                <a:solidFill>
                  <a:schemeClr val="accent5">
                    <a:lumMod val="50000"/>
                  </a:schemeClr>
                </a:solidFill>
              </a:rPr>
              <a:t>5. Wireshark captured traffic</a:t>
            </a:r>
          </a:p>
        </p:txBody>
      </p:sp>
      <p:sp>
        <p:nvSpPr>
          <p:cNvPr id="12" name="Footer Placeholder 11">
            <a:extLst>
              <a:ext uri="{FF2B5EF4-FFF2-40B4-BE49-F238E27FC236}">
                <a16:creationId xmlns:a16="http://schemas.microsoft.com/office/drawing/2014/main" id="{38F18EBE-7A0C-5BB9-79A6-748A5E6E6E02}"/>
              </a:ext>
            </a:extLst>
          </p:cNvPr>
          <p:cNvSpPr>
            <a:spLocks noGrp="1"/>
          </p:cNvSpPr>
          <p:nvPr>
            <p:ph type="ftr" sz="quarter" idx="11"/>
          </p:nvPr>
        </p:nvSpPr>
        <p:spPr/>
        <p:txBody>
          <a:bodyPr/>
          <a:lstStyle/>
          <a:p>
            <a:r>
              <a:rPr lang="en-US" dirty="0" err="1"/>
              <a:t>SilentVault</a:t>
            </a:r>
            <a:r>
              <a:rPr lang="en-US" dirty="0"/>
              <a:t> – A Password Based Zero Knowledge File Server</a:t>
            </a:r>
          </a:p>
        </p:txBody>
      </p:sp>
      <p:sp>
        <p:nvSpPr>
          <p:cNvPr id="13" name="Slide Number Placeholder 12">
            <a:extLst>
              <a:ext uri="{FF2B5EF4-FFF2-40B4-BE49-F238E27FC236}">
                <a16:creationId xmlns:a16="http://schemas.microsoft.com/office/drawing/2014/main" id="{A9C1DEE9-35B5-92CB-0E25-73D21428DBA9}"/>
              </a:ext>
            </a:extLst>
          </p:cNvPr>
          <p:cNvSpPr>
            <a:spLocks noGrp="1"/>
          </p:cNvSpPr>
          <p:nvPr>
            <p:ph type="sldNum" sz="quarter" idx="12"/>
          </p:nvPr>
        </p:nvSpPr>
        <p:spPr/>
        <p:txBody>
          <a:bodyPr/>
          <a:lstStyle/>
          <a:p>
            <a:fld id="{5BFCF61C-3B18-4C03-8326-CC3B32D710C9}" type="slidenum">
              <a:rPr lang="en-US" smtClean="0"/>
              <a:pPr/>
              <a:t>15</a:t>
            </a:fld>
            <a:endParaRPr lang="en-US"/>
          </a:p>
        </p:txBody>
      </p:sp>
      <p:pic>
        <p:nvPicPr>
          <p:cNvPr id="3" name="Picture 2">
            <a:extLst>
              <a:ext uri="{FF2B5EF4-FFF2-40B4-BE49-F238E27FC236}">
                <a16:creationId xmlns:a16="http://schemas.microsoft.com/office/drawing/2014/main" id="{46F37781-C3B0-A245-A24E-77A7FEE1778D}"/>
              </a:ext>
            </a:extLst>
          </p:cNvPr>
          <p:cNvPicPr>
            <a:picLocks noChangeAspect="1"/>
          </p:cNvPicPr>
          <p:nvPr/>
        </p:nvPicPr>
        <p:blipFill>
          <a:blip r:embed="rId2"/>
          <a:stretch>
            <a:fillRect/>
          </a:stretch>
        </p:blipFill>
        <p:spPr>
          <a:xfrm>
            <a:off x="2240280" y="-8686"/>
            <a:ext cx="942588" cy="982416"/>
          </a:xfrm>
          <a:prstGeom prst="rect">
            <a:avLst/>
          </a:prstGeom>
        </p:spPr>
      </p:pic>
      <p:pic>
        <p:nvPicPr>
          <p:cNvPr id="4" name="Picture 3">
            <a:extLst>
              <a:ext uri="{FF2B5EF4-FFF2-40B4-BE49-F238E27FC236}">
                <a16:creationId xmlns:a16="http://schemas.microsoft.com/office/drawing/2014/main" id="{294D6E21-95FC-8EBF-FF1D-F7EB874D45E7}"/>
              </a:ext>
            </a:extLst>
          </p:cNvPr>
          <p:cNvPicPr>
            <a:picLocks noChangeAspect="1"/>
          </p:cNvPicPr>
          <p:nvPr/>
        </p:nvPicPr>
        <p:blipFill>
          <a:blip r:embed="rId3"/>
          <a:stretch>
            <a:fillRect/>
          </a:stretch>
        </p:blipFill>
        <p:spPr>
          <a:xfrm>
            <a:off x="3111358" y="7115"/>
            <a:ext cx="1137914" cy="1137914"/>
          </a:xfrm>
          <a:prstGeom prst="rect">
            <a:avLst/>
          </a:prstGeom>
        </p:spPr>
      </p:pic>
      <p:pic>
        <p:nvPicPr>
          <p:cNvPr id="10" name="Picture 9">
            <a:extLst>
              <a:ext uri="{FF2B5EF4-FFF2-40B4-BE49-F238E27FC236}">
                <a16:creationId xmlns:a16="http://schemas.microsoft.com/office/drawing/2014/main" id="{EA9A7778-2CF6-AF73-199C-5688DA3B0271}"/>
              </a:ext>
            </a:extLst>
          </p:cNvPr>
          <p:cNvPicPr>
            <a:picLocks noChangeAspect="1"/>
          </p:cNvPicPr>
          <p:nvPr/>
        </p:nvPicPr>
        <p:blipFill>
          <a:blip r:embed="rId4"/>
          <a:stretch>
            <a:fillRect/>
          </a:stretch>
        </p:blipFill>
        <p:spPr>
          <a:xfrm>
            <a:off x="690952" y="3446585"/>
            <a:ext cx="2572109" cy="2800741"/>
          </a:xfrm>
          <a:prstGeom prst="rect">
            <a:avLst/>
          </a:prstGeom>
        </p:spPr>
      </p:pic>
      <p:sp>
        <p:nvSpPr>
          <p:cNvPr id="6" name="TextBox 5">
            <a:extLst>
              <a:ext uri="{FF2B5EF4-FFF2-40B4-BE49-F238E27FC236}">
                <a16:creationId xmlns:a16="http://schemas.microsoft.com/office/drawing/2014/main" id="{2E21C045-EF01-4A3B-5D57-53FD5258EAF7}"/>
              </a:ext>
            </a:extLst>
          </p:cNvPr>
          <p:cNvSpPr txBox="1"/>
          <p:nvPr/>
        </p:nvSpPr>
        <p:spPr>
          <a:xfrm>
            <a:off x="6179527" y="498698"/>
            <a:ext cx="3560886" cy="646331"/>
          </a:xfrm>
          <a:prstGeom prst="rect">
            <a:avLst/>
          </a:prstGeom>
          <a:noFill/>
        </p:spPr>
        <p:txBody>
          <a:bodyPr wrap="square" rtlCol="0">
            <a:spAutoFit/>
          </a:bodyPr>
          <a:lstStyle/>
          <a:p>
            <a:r>
              <a:rPr lang="en-US" dirty="0">
                <a:solidFill>
                  <a:schemeClr val="bg1"/>
                </a:solidFill>
                <a:latin typeface="Times New Roman" panose="02020603050405020304" pitchFamily="18" charset="0"/>
                <a:cs typeface="Times New Roman" panose="02020603050405020304" pitchFamily="18" charset="0"/>
              </a:rPr>
              <a:t>Payload Header for sending the challenge response to the server</a:t>
            </a:r>
          </a:p>
        </p:txBody>
      </p:sp>
      <p:pic>
        <p:nvPicPr>
          <p:cNvPr id="7" name="Picture 6">
            <a:extLst>
              <a:ext uri="{FF2B5EF4-FFF2-40B4-BE49-F238E27FC236}">
                <a16:creationId xmlns:a16="http://schemas.microsoft.com/office/drawing/2014/main" id="{10605B9A-890C-D5BA-090E-D2688B357C38}"/>
              </a:ext>
            </a:extLst>
          </p:cNvPr>
          <p:cNvPicPr>
            <a:picLocks noChangeAspect="1"/>
          </p:cNvPicPr>
          <p:nvPr/>
        </p:nvPicPr>
        <p:blipFill>
          <a:blip r:embed="rId5"/>
          <a:stretch>
            <a:fillRect/>
          </a:stretch>
        </p:blipFill>
        <p:spPr>
          <a:xfrm>
            <a:off x="5626345" y="1271113"/>
            <a:ext cx="4667250" cy="4476750"/>
          </a:xfrm>
          <a:prstGeom prst="rect">
            <a:avLst/>
          </a:prstGeom>
        </p:spPr>
      </p:pic>
    </p:spTree>
    <p:extLst>
      <p:ext uri="{BB962C8B-B14F-4D97-AF65-F5344CB8AC3E}">
        <p14:creationId xmlns:p14="http://schemas.microsoft.com/office/powerpoint/2010/main" val="24177778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83529-3BCE-374D-3772-A2E24BF8B8FF}"/>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EB969FB2-7BD4-6B9B-1136-5CFE6C4358DA}"/>
              </a:ext>
            </a:extLst>
          </p:cNvPr>
          <p:cNvPicPr>
            <a:picLocks noChangeAspect="1"/>
          </p:cNvPicPr>
          <p:nvPr/>
        </p:nvPicPr>
        <p:blipFill>
          <a:blip r:embed="rId3"/>
          <a:stretch>
            <a:fillRect/>
          </a:stretch>
        </p:blipFill>
        <p:spPr>
          <a:xfrm>
            <a:off x="9590941" y="75164"/>
            <a:ext cx="1979735" cy="2063386"/>
          </a:xfrm>
          <a:prstGeom prst="rect">
            <a:avLst/>
          </a:prstGeom>
        </p:spPr>
      </p:pic>
      <p:pic>
        <p:nvPicPr>
          <p:cNvPr id="7" name="Picture 6">
            <a:extLst>
              <a:ext uri="{FF2B5EF4-FFF2-40B4-BE49-F238E27FC236}">
                <a16:creationId xmlns:a16="http://schemas.microsoft.com/office/drawing/2014/main" id="{C4F8877D-7F76-FE26-4C1A-060854A89B1C}"/>
              </a:ext>
            </a:extLst>
          </p:cNvPr>
          <p:cNvPicPr>
            <a:picLocks noChangeAspect="1"/>
          </p:cNvPicPr>
          <p:nvPr/>
        </p:nvPicPr>
        <p:blipFill>
          <a:blip r:embed="rId4"/>
          <a:stretch>
            <a:fillRect/>
          </a:stretch>
        </p:blipFill>
        <p:spPr>
          <a:xfrm>
            <a:off x="197827" y="75164"/>
            <a:ext cx="2307981" cy="2307981"/>
          </a:xfrm>
          <a:prstGeom prst="rect">
            <a:avLst/>
          </a:prstGeom>
        </p:spPr>
      </p:pic>
      <p:sp>
        <p:nvSpPr>
          <p:cNvPr id="5" name="TextBox 4">
            <a:extLst>
              <a:ext uri="{FF2B5EF4-FFF2-40B4-BE49-F238E27FC236}">
                <a16:creationId xmlns:a16="http://schemas.microsoft.com/office/drawing/2014/main" id="{16324C5A-452A-E3A6-B3B2-8921BD057330}"/>
              </a:ext>
            </a:extLst>
          </p:cNvPr>
          <p:cNvSpPr txBox="1"/>
          <p:nvPr/>
        </p:nvSpPr>
        <p:spPr>
          <a:xfrm>
            <a:off x="2209801" y="4775564"/>
            <a:ext cx="9056076" cy="584775"/>
          </a:xfrm>
          <a:prstGeom prst="rect">
            <a:avLst/>
          </a:prstGeom>
          <a:noFill/>
        </p:spPr>
        <p:txBody>
          <a:bodyPr wrap="square" rtlCol="0">
            <a:spAutoFit/>
          </a:bodyPr>
          <a:lstStyle/>
          <a:p>
            <a:r>
              <a:rPr lang="en-US" sz="3200" dirty="0">
                <a:solidFill>
                  <a:schemeClr val="bg1"/>
                </a:solidFill>
                <a:latin typeface="Times New Roman" panose="02020603050405020304" pitchFamily="18" charset="0"/>
                <a:cs typeface="Times New Roman" panose="02020603050405020304" pitchFamily="18" charset="0"/>
              </a:rPr>
              <a:t>https://www.github.com/RexGloriae/SilentVault</a:t>
            </a:r>
          </a:p>
        </p:txBody>
      </p:sp>
      <p:pic>
        <p:nvPicPr>
          <p:cNvPr id="6" name="Picture 5">
            <a:extLst>
              <a:ext uri="{FF2B5EF4-FFF2-40B4-BE49-F238E27FC236}">
                <a16:creationId xmlns:a16="http://schemas.microsoft.com/office/drawing/2014/main" id="{CF07CFB6-A9E8-2D75-ADFC-A400FC78B65B}"/>
              </a:ext>
            </a:extLst>
          </p:cNvPr>
          <p:cNvPicPr>
            <a:picLocks noChangeAspect="1"/>
          </p:cNvPicPr>
          <p:nvPr/>
        </p:nvPicPr>
        <p:blipFill>
          <a:blip r:embed="rId5"/>
          <a:stretch>
            <a:fillRect/>
          </a:stretch>
        </p:blipFill>
        <p:spPr>
          <a:xfrm>
            <a:off x="2324527" y="324493"/>
            <a:ext cx="3399265" cy="3399265"/>
          </a:xfrm>
          <a:prstGeom prst="rect">
            <a:avLst/>
          </a:prstGeom>
        </p:spPr>
      </p:pic>
      <p:sp>
        <p:nvSpPr>
          <p:cNvPr id="2" name="Title 23">
            <a:extLst>
              <a:ext uri="{FF2B5EF4-FFF2-40B4-BE49-F238E27FC236}">
                <a16:creationId xmlns:a16="http://schemas.microsoft.com/office/drawing/2014/main" id="{CE520D54-9009-08D8-759F-BD5BB7492230}"/>
              </a:ext>
            </a:extLst>
          </p:cNvPr>
          <p:cNvSpPr>
            <a:spLocks noGrp="1"/>
          </p:cNvSpPr>
          <p:nvPr>
            <p:ph type="ctrTitle"/>
          </p:nvPr>
        </p:nvSpPr>
        <p:spPr>
          <a:xfrm>
            <a:off x="5841375" y="1889184"/>
            <a:ext cx="5808433" cy="2886380"/>
          </a:xfrm>
        </p:spPr>
        <p:txBody>
          <a:bodyPr>
            <a:noAutofit/>
          </a:bodyPr>
          <a:lstStyle/>
          <a:p>
            <a:r>
              <a:rPr lang="en-US" sz="3600" dirty="0" err="1">
                <a:latin typeface="Times New Roman" panose="02020603050405020304" pitchFamily="18" charset="0"/>
                <a:cs typeface="Times New Roman" panose="02020603050405020304" pitchFamily="18" charset="0"/>
              </a:rPr>
              <a:t>Silentvault</a:t>
            </a:r>
            <a:r>
              <a:rPr lang="en-US" sz="3600" dirty="0">
                <a:latin typeface="Times New Roman" panose="02020603050405020304" pitchFamily="18" charset="0"/>
                <a:cs typeface="Times New Roman" panose="02020603050405020304" pitchFamily="18" charset="0"/>
              </a:rPr>
              <a:t> – </a:t>
            </a:r>
            <a:br>
              <a:rPr lang="en-US" sz="3600" dirty="0">
                <a:latin typeface="Times New Roman" panose="02020603050405020304" pitchFamily="18" charset="0"/>
                <a:cs typeface="Times New Roman" panose="02020603050405020304" pitchFamily="18" charset="0"/>
              </a:rPr>
            </a:br>
            <a:r>
              <a:rPr lang="en-US" sz="3600" dirty="0">
                <a:latin typeface="Times New Roman" panose="02020603050405020304" pitchFamily="18" charset="0"/>
                <a:cs typeface="Times New Roman" panose="02020603050405020304" pitchFamily="18" charset="0"/>
              </a:rPr>
              <a:t>a password  based</a:t>
            </a:r>
            <a:br>
              <a:rPr lang="en-US" sz="3600" dirty="0">
                <a:latin typeface="Times New Roman" panose="02020603050405020304" pitchFamily="18" charset="0"/>
                <a:cs typeface="Times New Roman" panose="02020603050405020304" pitchFamily="18" charset="0"/>
              </a:rPr>
            </a:br>
            <a:r>
              <a:rPr lang="en-US" sz="3600" dirty="0">
                <a:latin typeface="Times New Roman" panose="02020603050405020304" pitchFamily="18" charset="0"/>
                <a:cs typeface="Times New Roman" panose="02020603050405020304" pitchFamily="18" charset="0"/>
              </a:rPr>
              <a:t>zero  knowledge</a:t>
            </a:r>
            <a:br>
              <a:rPr lang="en-US" sz="3600" dirty="0">
                <a:latin typeface="Times New Roman" panose="02020603050405020304" pitchFamily="18" charset="0"/>
                <a:cs typeface="Times New Roman" panose="02020603050405020304" pitchFamily="18" charset="0"/>
              </a:rPr>
            </a:br>
            <a:r>
              <a:rPr lang="en-US" sz="3600" dirty="0">
                <a:latin typeface="Times New Roman" panose="02020603050405020304" pitchFamily="18" charset="0"/>
                <a:cs typeface="Times New Roman" panose="02020603050405020304" pitchFamily="18" charset="0"/>
              </a:rPr>
              <a:t>file  server</a:t>
            </a:r>
          </a:p>
        </p:txBody>
      </p:sp>
    </p:spTree>
    <p:extLst>
      <p:ext uri="{BB962C8B-B14F-4D97-AF65-F5344CB8AC3E}">
        <p14:creationId xmlns:p14="http://schemas.microsoft.com/office/powerpoint/2010/main" val="2730045819"/>
      </p:ext>
    </p:extLst>
  </p:cSld>
  <p:clrMapOvr>
    <a:masterClrMapping/>
  </p:clrMapOvr>
</p:sld>
</file>

<file path=ppt/theme/theme1.xml><?xml version="1.0" encoding="utf-8"?>
<a:theme xmlns:a="http://schemas.openxmlformats.org/drawingml/2006/main" name="Office Theme">
  <a:themeElements>
    <a:clrScheme name="Custom 10">
      <a:dk1>
        <a:srgbClr val="000000"/>
      </a:dk1>
      <a:lt1>
        <a:srgbClr val="FFFFFF"/>
      </a:lt1>
      <a:dk2>
        <a:srgbClr val="3B4546"/>
      </a:dk2>
      <a:lt2>
        <a:srgbClr val="E7E6E6"/>
      </a:lt2>
      <a:accent1>
        <a:srgbClr val="753F2C"/>
      </a:accent1>
      <a:accent2>
        <a:srgbClr val="637376"/>
      </a:accent2>
      <a:accent3>
        <a:srgbClr val="BE937E"/>
      </a:accent3>
      <a:accent4>
        <a:srgbClr val="576853"/>
      </a:accent4>
      <a:accent5>
        <a:srgbClr val="EDE9E6"/>
      </a:accent5>
      <a:accent6>
        <a:srgbClr val="D0CDC5"/>
      </a:accent6>
      <a:hlink>
        <a:srgbClr val="4F4F4F"/>
      </a:hlink>
      <a:folHlink>
        <a:srgbClr val="BE937E"/>
      </a:folHlink>
    </a:clrScheme>
    <a:fontScheme name="Custom 13">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oject_Status_Report_Win32_jx_v12" id="{5D6FBA16-B4D1-4307-B1D7-61285FA0D9C0}" vid="{1DA9E459-46CB-4408-AA4C-63950E2E548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4" ma:contentTypeDescription="Create a new document." ma:contentTypeScope="" ma:versionID="2d714a3296df14eba7a100bb665443ca">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49549bf45bfbbfb6cffed527380e77e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783CE7D-BFC6-4030-A335-E7F88DB664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11F98F7-6576-47F1-AD63-56E26C339747}">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25B4CAA5-BE7A-46AB-97ED-63B24C46A3A8}">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251</TotalTime>
  <Words>1085</Words>
  <Application>Microsoft Office PowerPoint</Application>
  <PresentationFormat>Widescreen</PresentationFormat>
  <Paragraphs>144</Paragraphs>
  <Slides>16</Slides>
  <Notes>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Arial</vt:lpstr>
      <vt:lpstr>Calibri</vt:lpstr>
      <vt:lpstr>Cambria Math</vt:lpstr>
      <vt:lpstr>Times New Roman</vt:lpstr>
      <vt:lpstr>Wingdings</vt:lpstr>
      <vt:lpstr>Office Theme</vt:lpstr>
      <vt:lpstr>Silentvault – a password  based zero  knowledge file  server</vt:lpstr>
      <vt:lpstr>Table of contents</vt:lpstr>
      <vt:lpstr>1. Introduction</vt:lpstr>
      <vt:lpstr>2. Silentvault’s architecture</vt:lpstr>
      <vt:lpstr>2. Silentvault’s architecture</vt:lpstr>
      <vt:lpstr>3. Comparison  to  classical authentication  methods</vt:lpstr>
      <vt:lpstr>3. Comparison  to  classical authentication  methods</vt:lpstr>
      <vt:lpstr>3. Comparison  to  classical authentication  methods</vt:lpstr>
      <vt:lpstr>4. The math behind</vt:lpstr>
      <vt:lpstr>4. The math behind</vt:lpstr>
      <vt:lpstr>5. Wireshark captured traffic</vt:lpstr>
      <vt:lpstr>5. Wireshark captured traffic</vt:lpstr>
      <vt:lpstr>5. Wireshark captured traffic</vt:lpstr>
      <vt:lpstr>5. Wireshark captured traffic</vt:lpstr>
      <vt:lpstr>5. Wireshark captured traffic</vt:lpstr>
      <vt:lpstr>Silentvault –  a password  based zero  knowledge file  server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Andrei Daniel</dc:creator>
  <cp:lastModifiedBy>Andrei Daniel</cp:lastModifiedBy>
  <cp:revision>20</cp:revision>
  <dcterms:created xsi:type="dcterms:W3CDTF">2022-06-28T06:29:45Z</dcterms:created>
  <dcterms:modified xsi:type="dcterms:W3CDTF">2026-04-08T18:07:16Z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